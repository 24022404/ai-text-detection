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21.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66" r:id="rId4"/>
    <p:sldId id="287" r:id="rId5"/>
    <p:sldId id="288" r:id="rId6"/>
    <p:sldId id="292" r:id="rId7"/>
    <p:sldId id="306" r:id="rId8"/>
    <p:sldId id="295" r:id="rId9"/>
    <p:sldId id="311" r:id="rId10"/>
    <p:sldId id="296" r:id="rId11"/>
    <p:sldId id="297" r:id="rId12"/>
    <p:sldId id="298" r:id="rId13"/>
    <p:sldId id="309" r:id="rId14"/>
    <p:sldId id="304" r:id="rId15"/>
    <p:sldId id="305" r:id="rId16"/>
    <p:sldId id="310" r:id="rId17"/>
    <p:sldId id="312" r:id="rId18"/>
    <p:sldId id="313" r:id="rId19"/>
    <p:sldId id="314" r:id="rId20"/>
    <p:sldId id="315" r:id="rId21"/>
    <p:sldId id="316" r:id="rId22"/>
    <p:sldId id="317" r:id="rId23"/>
    <p:sldId id="318" r:id="rId24"/>
    <p:sldId id="319" r:id="rId25"/>
    <p:sldId id="285"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1" autoAdjust="0"/>
  </p:normalViewPr>
  <p:slideViewPr>
    <p:cSldViewPr snapToGrid="0" snapToObjects="1">
      <p:cViewPr varScale="1">
        <p:scale>
          <a:sx n="103" d="100"/>
          <a:sy n="103" d="100"/>
        </p:scale>
        <p:origin x="874" y="58"/>
      </p:cViewPr>
      <p:guideLst/>
    </p:cSldViewPr>
  </p:slideViewPr>
  <p:notesTextViewPr>
    <p:cViewPr>
      <p:scale>
        <a:sx n="1" d="1"/>
        <a:sy n="1" d="1"/>
      </p:scale>
      <p:origin x="0" y="0"/>
    </p:cViewPr>
  </p:notesTextViewPr>
  <p:notesViewPr>
    <p:cSldViewPr snapToGrid="0" snapToObjects="1">
      <p:cViewPr varScale="1">
        <p:scale>
          <a:sx n="62" d="100"/>
          <a:sy n="62" d="100"/>
        </p:scale>
        <p:origin x="2736" y="115"/>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col"/>
        <c:grouping val="clustered"/>
        <c:varyColors val="0"/>
        <c:ser>
          <c:idx val="0"/>
          <c:order val="0"/>
          <c:tx>
            <c:strRef>
              <c:f>Sheet1!$B$1</c:f>
              <c:strCache>
                <c:ptCount val="1"/>
                <c:pt idx="0">
                  <c:v>Human</c:v>
                </c:pt>
              </c:strCache>
            </c:strRef>
          </c:tx>
          <c:spPr>
            <a:solidFill>
              <a:srgbClr val="4C9BE8"/>
            </a:solidFill>
            <a:effectLst/>
          </c:spPr>
          <c:invertIfNegative val="0"/>
          <c:dLbls>
            <c:numFmt formatCode="0.00" sourceLinked="0"/>
            <c:spPr>
              <a:noFill/>
              <a:ln>
                <a:noFill/>
              </a:ln>
              <a:effectLst/>
            </c:spPr>
            <c:txPr>
              <a:bodyPr/>
              <a:lstStyle/>
              <a:p>
                <a:pPr>
                  <a:defRPr sz="10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EN</c:v>
                </c:pt>
                <c:pt idx="1">
                  <c:v>VI</c:v>
                </c:pt>
              </c:strCache>
            </c:strRef>
          </c:cat>
          <c:val>
            <c:numRef>
              <c:f>Sheet1!$B$2:$B$3</c:f>
              <c:numCache>
                <c:formatCode>General</c:formatCode>
                <c:ptCount val="2"/>
                <c:pt idx="0">
                  <c:v>5.9465000000000003</c:v>
                </c:pt>
                <c:pt idx="1">
                  <c:v>5.5731999999999999</c:v>
                </c:pt>
              </c:numCache>
            </c:numRef>
          </c:val>
          <c:extLst>
            <c:ext xmlns:c16="http://schemas.microsoft.com/office/drawing/2014/chart" uri="{C3380CC4-5D6E-409C-BE32-E72D297353CC}">
              <c16:uniqueId val="{00000000-892A-4E24-8BAC-B6D15DFEBBDF}"/>
            </c:ext>
          </c:extLst>
        </c:ser>
        <c:ser>
          <c:idx val="1"/>
          <c:order val="1"/>
          <c:tx>
            <c:strRef>
              <c:f>Sheet1!$C$1</c:f>
              <c:strCache>
                <c:ptCount val="1"/>
                <c:pt idx="0">
                  <c:v>AI</c:v>
                </c:pt>
              </c:strCache>
            </c:strRef>
          </c:tx>
          <c:spPr>
            <a:solidFill>
              <a:srgbClr val="E8734C"/>
            </a:solidFill>
            <a:effectLst/>
          </c:spPr>
          <c:invertIfNegative val="0"/>
          <c:dLbls>
            <c:numFmt formatCode="0.00" sourceLinked="0"/>
            <c:spPr>
              <a:noFill/>
              <a:ln>
                <a:noFill/>
              </a:ln>
              <a:effectLst/>
            </c:spPr>
            <c:txPr>
              <a:bodyPr/>
              <a:lstStyle/>
              <a:p>
                <a:pPr>
                  <a:defRPr sz="10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EN</c:v>
                </c:pt>
                <c:pt idx="1">
                  <c:v>VI</c:v>
                </c:pt>
              </c:strCache>
            </c:strRef>
          </c:cat>
          <c:val>
            <c:numRef>
              <c:f>Sheet1!$C$2:$C$3</c:f>
              <c:numCache>
                <c:formatCode>General</c:formatCode>
                <c:ptCount val="2"/>
                <c:pt idx="0">
                  <c:v>6.1081000000000003</c:v>
                </c:pt>
                <c:pt idx="1">
                  <c:v>6.5784000000000002</c:v>
                </c:pt>
              </c:numCache>
            </c:numRef>
          </c:val>
          <c:extLst>
            <c:ext xmlns:c16="http://schemas.microsoft.com/office/drawing/2014/chart" uri="{C3380CC4-5D6E-409C-BE32-E72D297353CC}">
              <c16:uniqueId val="{00000001-892A-4E24-8BAC-B6D15DFEBBDF}"/>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A3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6E6E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A8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col"/>
        <c:grouping val="clustered"/>
        <c:varyColors val="0"/>
        <c:ser>
          <c:idx val="0"/>
          <c:order val="0"/>
          <c:tx>
            <c:strRef>
              <c:f>Sheet1!$B$1</c:f>
              <c:strCache>
                <c:ptCount val="1"/>
                <c:pt idx="0">
                  <c:v>Human</c:v>
                </c:pt>
              </c:strCache>
            </c:strRef>
          </c:tx>
          <c:spPr>
            <a:solidFill>
              <a:srgbClr val="4C9BE8"/>
            </a:solidFill>
            <a:effectLst/>
          </c:spPr>
          <c:invertIfNegative val="0"/>
          <c:dLbls>
            <c:numFmt formatCode="0.00" sourceLinked="0"/>
            <c:spPr>
              <a:noFill/>
              <a:ln>
                <a:noFill/>
              </a:ln>
              <a:effectLst/>
            </c:spPr>
            <c:txPr>
              <a:bodyPr/>
              <a:lstStyle/>
              <a:p>
                <a:pPr>
                  <a:defRPr sz="10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EN</c:v>
                </c:pt>
                <c:pt idx="1">
                  <c:v>VI</c:v>
                </c:pt>
              </c:strCache>
            </c:strRef>
          </c:cat>
          <c:val>
            <c:numRef>
              <c:f>Sheet1!$B$2:$B$3</c:f>
              <c:numCache>
                <c:formatCode>General</c:formatCode>
                <c:ptCount val="2"/>
                <c:pt idx="0">
                  <c:v>-0.11600000000000001</c:v>
                </c:pt>
                <c:pt idx="1">
                  <c:v>-0.24679999999999999</c:v>
                </c:pt>
              </c:numCache>
            </c:numRef>
          </c:val>
          <c:extLst>
            <c:ext xmlns:c16="http://schemas.microsoft.com/office/drawing/2014/chart" uri="{C3380CC4-5D6E-409C-BE32-E72D297353CC}">
              <c16:uniqueId val="{00000000-61B5-470F-9F34-4E5D269F883C}"/>
            </c:ext>
          </c:extLst>
        </c:ser>
        <c:ser>
          <c:idx val="1"/>
          <c:order val="1"/>
          <c:tx>
            <c:strRef>
              <c:f>Sheet1!$C$1</c:f>
              <c:strCache>
                <c:ptCount val="1"/>
                <c:pt idx="0">
                  <c:v>AI</c:v>
                </c:pt>
              </c:strCache>
            </c:strRef>
          </c:tx>
          <c:spPr>
            <a:solidFill>
              <a:srgbClr val="E8734C"/>
            </a:solidFill>
            <a:effectLst/>
          </c:spPr>
          <c:invertIfNegative val="0"/>
          <c:dLbls>
            <c:numFmt formatCode="0.00" sourceLinked="0"/>
            <c:spPr>
              <a:noFill/>
              <a:ln>
                <a:noFill/>
              </a:ln>
              <a:effectLst/>
            </c:spPr>
            <c:txPr>
              <a:bodyPr/>
              <a:lstStyle/>
              <a:p>
                <a:pPr>
                  <a:defRPr sz="10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EN</c:v>
                </c:pt>
                <c:pt idx="1">
                  <c:v>VI</c:v>
                </c:pt>
              </c:strCache>
            </c:strRef>
          </c:cat>
          <c:val>
            <c:numRef>
              <c:f>Sheet1!$C$2:$C$3</c:f>
              <c:numCache>
                <c:formatCode>General</c:formatCode>
                <c:ptCount val="2"/>
                <c:pt idx="0">
                  <c:v>-0.1142</c:v>
                </c:pt>
                <c:pt idx="1">
                  <c:v>-0.17269999999999999</c:v>
                </c:pt>
              </c:numCache>
            </c:numRef>
          </c:val>
          <c:extLst>
            <c:ext xmlns:c16="http://schemas.microsoft.com/office/drawing/2014/chart" uri="{C3380CC4-5D6E-409C-BE32-E72D297353CC}">
              <c16:uniqueId val="{00000001-61B5-470F-9F34-4E5D269F883C}"/>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A3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6E6E6"/>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A8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col"/>
        <c:grouping val="clustered"/>
        <c:varyColors val="0"/>
        <c:ser>
          <c:idx val="0"/>
          <c:order val="0"/>
          <c:tx>
            <c:strRef>
              <c:f>Sheet1!$B$1</c:f>
              <c:strCache>
                <c:ptCount val="1"/>
                <c:pt idx="0">
                  <c:v>Human</c:v>
                </c:pt>
              </c:strCache>
            </c:strRef>
          </c:tx>
          <c:spPr>
            <a:solidFill>
              <a:srgbClr val="4C9BE8"/>
            </a:solidFill>
            <a:effectLst/>
          </c:spPr>
          <c:invertIfNegative val="0"/>
          <c:dLbls>
            <c:numFmt formatCode="0.0" sourceLinked="0"/>
            <c:spPr>
              <a:noFill/>
              <a:ln>
                <a:noFill/>
              </a:ln>
              <a:effectLst/>
            </c:spPr>
            <c:txPr>
              <a:bodyPr/>
              <a:lstStyle/>
              <a:p>
                <a:pPr>
                  <a:defRPr sz="10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EN</c:v>
                </c:pt>
                <c:pt idx="1">
                  <c:v>VI</c:v>
                </c:pt>
              </c:strCache>
            </c:strRef>
          </c:cat>
          <c:val>
            <c:numRef>
              <c:f>Sheet1!$B$2:$B$3</c:f>
              <c:numCache>
                <c:formatCode>General</c:formatCode>
                <c:ptCount val="2"/>
                <c:pt idx="0">
                  <c:v>16.9421</c:v>
                </c:pt>
                <c:pt idx="1">
                  <c:v>30.545200000000001</c:v>
                </c:pt>
              </c:numCache>
            </c:numRef>
          </c:val>
          <c:extLst>
            <c:ext xmlns:c16="http://schemas.microsoft.com/office/drawing/2014/chart" uri="{C3380CC4-5D6E-409C-BE32-E72D297353CC}">
              <c16:uniqueId val="{00000000-A609-4DC7-B916-FC7F534D347F}"/>
            </c:ext>
          </c:extLst>
        </c:ser>
        <c:ser>
          <c:idx val="1"/>
          <c:order val="1"/>
          <c:tx>
            <c:strRef>
              <c:f>Sheet1!$C$1</c:f>
              <c:strCache>
                <c:ptCount val="1"/>
                <c:pt idx="0">
                  <c:v>AI</c:v>
                </c:pt>
              </c:strCache>
            </c:strRef>
          </c:tx>
          <c:spPr>
            <a:solidFill>
              <a:srgbClr val="E8734C"/>
            </a:solidFill>
            <a:effectLst/>
          </c:spPr>
          <c:invertIfNegative val="0"/>
          <c:dLbls>
            <c:numFmt formatCode="0.0" sourceLinked="0"/>
            <c:spPr>
              <a:noFill/>
              <a:ln>
                <a:noFill/>
              </a:ln>
              <a:effectLst/>
            </c:spPr>
            <c:txPr>
              <a:bodyPr/>
              <a:lstStyle/>
              <a:p>
                <a:pPr>
                  <a:defRPr sz="10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EN</c:v>
                </c:pt>
                <c:pt idx="1">
                  <c:v>VI</c:v>
                </c:pt>
              </c:strCache>
            </c:strRef>
          </c:cat>
          <c:val>
            <c:numRef>
              <c:f>Sheet1!$C$2:$C$3</c:f>
              <c:numCache>
                <c:formatCode>General</c:formatCode>
                <c:ptCount val="2"/>
                <c:pt idx="0">
                  <c:v>18.978100000000001</c:v>
                </c:pt>
                <c:pt idx="1">
                  <c:v>33.4773</c:v>
                </c:pt>
              </c:numCache>
            </c:numRef>
          </c:val>
          <c:extLst>
            <c:ext xmlns:c16="http://schemas.microsoft.com/office/drawing/2014/chart" uri="{C3380CC4-5D6E-409C-BE32-E72D297353CC}">
              <c16:uniqueId val="{00000001-A609-4DC7-B916-FC7F534D347F}"/>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A3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6E6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8A8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bar"/>
        <c:grouping val="clustered"/>
        <c:varyColors val="0"/>
        <c:ser>
          <c:idx val="0"/>
          <c:order val="0"/>
          <c:tx>
            <c:strRef>
              <c:f>Sheet1!$B$1</c:f>
              <c:strCache>
                <c:ptCount val="1"/>
                <c:pt idx="0">
                  <c:v>attn</c:v>
                </c:pt>
              </c:strCache>
            </c:strRef>
          </c:tx>
          <c:spPr>
            <a:solidFill>
              <a:srgbClr val="2E6DA4"/>
            </a:solidFill>
            <a:effectLst/>
          </c:spPr>
          <c:invertIfNegative val="0"/>
          <c:cat>
            <c:strRef>
              <c:f>Sheet1!$A$2:$A$6</c:f>
              <c:strCache>
                <c:ptCount val="5"/>
                <c:pt idx="0">
                  <c:v>subst</c:v>
                </c:pt>
                <c:pt idx="1">
                  <c:v>(</c:v>
                </c:pt>
                <c:pt idx="2">
                  <c:v>"</c:v>
                </c:pt>
                <c:pt idx="3">
                  <c:v>,</c:v>
                </c:pt>
                <c:pt idx="4">
                  <c:v>.</c:v>
                </c:pt>
              </c:strCache>
            </c:strRef>
          </c:cat>
          <c:val>
            <c:numRef>
              <c:f>Sheet1!$B$2:$B$6</c:f>
              <c:numCache>
                <c:formatCode>General</c:formatCode>
                <c:ptCount val="5"/>
                <c:pt idx="0">
                  <c:v>6</c:v>
                </c:pt>
                <c:pt idx="1">
                  <c:v>6</c:v>
                </c:pt>
                <c:pt idx="2">
                  <c:v>8</c:v>
                </c:pt>
                <c:pt idx="3">
                  <c:v>10</c:v>
                </c:pt>
                <c:pt idx="4">
                  <c:v>68</c:v>
                </c:pt>
              </c:numCache>
            </c:numRef>
          </c:val>
          <c:extLst>
            <c:ext xmlns:c16="http://schemas.microsoft.com/office/drawing/2014/chart" uri="{C3380CC4-5D6E-409C-BE32-E72D297353CC}">
              <c16:uniqueId val="{00000000-DC71-4BFD-A574-8B4BCE258778}"/>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bar"/>
        <c:grouping val="clustered"/>
        <c:varyColors val="0"/>
        <c:ser>
          <c:idx val="0"/>
          <c:order val="0"/>
          <c:tx>
            <c:strRef>
              <c:f>Sheet1!$B$1</c:f>
              <c:strCache>
                <c:ptCount val="1"/>
                <c:pt idx="0">
                  <c:v>attn</c:v>
                </c:pt>
              </c:strCache>
            </c:strRef>
          </c:tx>
          <c:spPr>
            <a:solidFill>
              <a:srgbClr val="C0392B"/>
            </a:solidFill>
            <a:effectLst/>
          </c:spPr>
          <c:invertIfNegative val="0"/>
          <c:cat>
            <c:strRef>
              <c:f>Sheet1!$A$2:$A$6</c:f>
              <c:strCache>
                <c:ptCount val="5"/>
                <c:pt idx="0">
                  <c:v>spaghetti</c:v>
                </c:pt>
                <c:pt idx="1">
                  <c:v>,</c:v>
                </c:pt>
                <c:pt idx="2">
                  <c:v>(</c:v>
                </c:pt>
                <c:pt idx="3">
                  <c:v>"</c:v>
                </c:pt>
                <c:pt idx="4">
                  <c:v>.</c:v>
                </c:pt>
              </c:strCache>
            </c:strRef>
          </c:cat>
          <c:val>
            <c:numRef>
              <c:f>Sheet1!$B$2:$B$6</c:f>
              <c:numCache>
                <c:formatCode>General</c:formatCode>
                <c:ptCount val="5"/>
                <c:pt idx="0">
                  <c:v>3</c:v>
                </c:pt>
                <c:pt idx="1">
                  <c:v>5</c:v>
                </c:pt>
                <c:pt idx="2">
                  <c:v>8</c:v>
                </c:pt>
                <c:pt idx="3">
                  <c:v>13</c:v>
                </c:pt>
                <c:pt idx="4">
                  <c:v>36</c:v>
                </c:pt>
              </c:numCache>
            </c:numRef>
          </c:val>
          <c:extLst>
            <c:ext xmlns:c16="http://schemas.microsoft.com/office/drawing/2014/chart" uri="{C3380CC4-5D6E-409C-BE32-E72D297353CC}">
              <c16:uniqueId val="{00000000-F1ED-470F-8CF8-5FB0AC96063E}"/>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bar"/>
        <c:grouping val="clustered"/>
        <c:varyColors val="0"/>
        <c:ser>
          <c:idx val="0"/>
          <c:order val="0"/>
          <c:tx>
            <c:strRef>
              <c:f>Sheet1!$B$1</c:f>
              <c:strCache>
                <c:ptCount val="1"/>
                <c:pt idx="0">
                  <c:v>attn</c:v>
                </c:pt>
              </c:strCache>
            </c:strRef>
          </c:tx>
          <c:spPr>
            <a:solidFill>
              <a:srgbClr val="2E6DA4"/>
            </a:solidFill>
            <a:effectLst/>
          </c:spPr>
          <c:invertIfNegative val="0"/>
          <c:cat>
            <c:strRef>
              <c:f>Sheet1!$A$2:$A$6</c:f>
              <c:strCache>
                <c:ptCount val="5"/>
                <c:pt idx="0">
                  <c:v>the</c:v>
                </c:pt>
                <c:pt idx="1">
                  <c:v>]</c:v>
                </c:pt>
                <c:pt idx="2">
                  <c:v>The</c:v>
                </c:pt>
                <c:pt idx="3">
                  <c:v>,</c:v>
                </c:pt>
                <c:pt idx="4">
                  <c:v>.</c:v>
                </c:pt>
              </c:strCache>
            </c:strRef>
          </c:cat>
          <c:val>
            <c:numRef>
              <c:f>Sheet1!$B$2:$B$6</c:f>
              <c:numCache>
                <c:formatCode>General</c:formatCode>
                <c:ptCount val="5"/>
                <c:pt idx="0">
                  <c:v>14</c:v>
                </c:pt>
                <c:pt idx="1">
                  <c:v>16</c:v>
                </c:pt>
                <c:pt idx="2">
                  <c:v>26</c:v>
                </c:pt>
                <c:pt idx="3">
                  <c:v>50</c:v>
                </c:pt>
                <c:pt idx="4">
                  <c:v>68</c:v>
                </c:pt>
              </c:numCache>
            </c:numRef>
          </c:val>
          <c:extLst>
            <c:ext xmlns:c16="http://schemas.microsoft.com/office/drawing/2014/chart" uri="{C3380CC4-5D6E-409C-BE32-E72D297353CC}">
              <c16:uniqueId val="{00000000-DE68-4985-8825-AF23B8F009AC}"/>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bar"/>
        <c:grouping val="clustered"/>
        <c:varyColors val="0"/>
        <c:ser>
          <c:idx val="0"/>
          <c:order val="0"/>
          <c:tx>
            <c:strRef>
              <c:f>Sheet1!$B$1</c:f>
              <c:strCache>
                <c:ptCount val="1"/>
                <c:pt idx="0">
                  <c:v>attn</c:v>
                </c:pt>
              </c:strCache>
            </c:strRef>
          </c:tx>
          <c:spPr>
            <a:solidFill>
              <a:srgbClr val="C0392B"/>
            </a:solidFill>
            <a:effectLst/>
          </c:spPr>
          <c:invertIfNegative val="0"/>
          <c:cat>
            <c:strRef>
              <c:f>Sheet1!$A$2:$A$6</c:f>
              <c:strCache>
                <c:ptCount val="5"/>
                <c:pt idx="0">
                  <c:v>:</c:v>
                </c:pt>
                <c:pt idx="1">
                  <c:v>because</c:v>
                </c:pt>
                <c:pt idx="2">
                  <c:v>The</c:v>
                </c:pt>
                <c:pt idx="3">
                  <c:v>the</c:v>
                </c:pt>
                <c:pt idx="4">
                  <c:v>.</c:v>
                </c:pt>
              </c:strCache>
            </c:strRef>
          </c:cat>
          <c:val>
            <c:numRef>
              <c:f>Sheet1!$B$2:$B$6</c:f>
              <c:numCache>
                <c:formatCode>General</c:formatCode>
                <c:ptCount val="5"/>
                <c:pt idx="0">
                  <c:v>16</c:v>
                </c:pt>
                <c:pt idx="1">
                  <c:v>20</c:v>
                </c:pt>
                <c:pt idx="2">
                  <c:v>20</c:v>
                </c:pt>
                <c:pt idx="3">
                  <c:v>28</c:v>
                </c:pt>
                <c:pt idx="4">
                  <c:v>36</c:v>
                </c:pt>
              </c:numCache>
            </c:numRef>
          </c:val>
          <c:extLst>
            <c:ext xmlns:c16="http://schemas.microsoft.com/office/drawing/2014/chart" uri="{C3380CC4-5D6E-409C-BE32-E72D297353CC}">
              <c16:uniqueId val="{00000000-CB8B-47A8-B2F7-17DB3C1EBFE8}"/>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bar"/>
        <c:grouping val="clustered"/>
        <c:varyColors val="0"/>
        <c:ser>
          <c:idx val="0"/>
          <c:order val="0"/>
          <c:tx>
            <c:strRef>
              <c:f>Sheet1!$B$1</c:f>
              <c:strCache>
                <c:ptCount val="1"/>
                <c:pt idx="0">
                  <c:v>attn</c:v>
                </c:pt>
              </c:strCache>
            </c:strRef>
          </c:tx>
          <c:spPr>
            <a:solidFill>
              <a:srgbClr val="2E6DA4"/>
            </a:solidFill>
            <a:effectLst/>
          </c:spPr>
          <c:invertIfNegative val="0"/>
          <c:cat>
            <c:strRef>
              <c:f>Sheet1!$A$2:$A$6</c:f>
              <c:strCache>
                <c:ptCount val="5"/>
                <c:pt idx="0">
                  <c:v>subst</c:v>
                </c:pt>
                <c:pt idx="1">
                  <c:v>(</c:v>
                </c:pt>
                <c:pt idx="2">
                  <c:v>"</c:v>
                </c:pt>
                <c:pt idx="3">
                  <c:v>,</c:v>
                </c:pt>
                <c:pt idx="4">
                  <c:v>.</c:v>
                </c:pt>
              </c:strCache>
            </c:strRef>
          </c:cat>
          <c:val>
            <c:numRef>
              <c:f>Sheet1!$B$2:$B$6</c:f>
              <c:numCache>
                <c:formatCode>General</c:formatCode>
                <c:ptCount val="5"/>
                <c:pt idx="0">
                  <c:v>6</c:v>
                </c:pt>
                <c:pt idx="1">
                  <c:v>6</c:v>
                </c:pt>
                <c:pt idx="2">
                  <c:v>8</c:v>
                </c:pt>
                <c:pt idx="3">
                  <c:v>10</c:v>
                </c:pt>
                <c:pt idx="4">
                  <c:v>68</c:v>
                </c:pt>
              </c:numCache>
            </c:numRef>
          </c:val>
          <c:extLst>
            <c:ext xmlns:c16="http://schemas.microsoft.com/office/drawing/2014/chart" uri="{C3380CC4-5D6E-409C-BE32-E72D297353CC}">
              <c16:uniqueId val="{00000000-DC71-4BFD-A574-8B4BCE258778}"/>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bar"/>
        <c:grouping val="clustered"/>
        <c:varyColors val="0"/>
        <c:ser>
          <c:idx val="0"/>
          <c:order val="0"/>
          <c:tx>
            <c:strRef>
              <c:f>Sheet1!$B$1</c:f>
              <c:strCache>
                <c:ptCount val="1"/>
                <c:pt idx="0">
                  <c:v>attn</c:v>
                </c:pt>
              </c:strCache>
            </c:strRef>
          </c:tx>
          <c:spPr>
            <a:solidFill>
              <a:srgbClr val="C0392B"/>
            </a:solidFill>
            <a:effectLst/>
          </c:spPr>
          <c:invertIfNegative val="0"/>
          <c:cat>
            <c:strRef>
              <c:f>Sheet1!$A$2:$A$6</c:f>
              <c:strCache>
                <c:ptCount val="5"/>
                <c:pt idx="0">
                  <c:v>spaghetti</c:v>
                </c:pt>
                <c:pt idx="1">
                  <c:v>,</c:v>
                </c:pt>
                <c:pt idx="2">
                  <c:v>(</c:v>
                </c:pt>
                <c:pt idx="3">
                  <c:v>"</c:v>
                </c:pt>
                <c:pt idx="4">
                  <c:v>.</c:v>
                </c:pt>
              </c:strCache>
            </c:strRef>
          </c:cat>
          <c:val>
            <c:numRef>
              <c:f>Sheet1!$B$2:$B$6</c:f>
              <c:numCache>
                <c:formatCode>General</c:formatCode>
                <c:ptCount val="5"/>
                <c:pt idx="0">
                  <c:v>3</c:v>
                </c:pt>
                <c:pt idx="1">
                  <c:v>5</c:v>
                </c:pt>
                <c:pt idx="2">
                  <c:v>8</c:v>
                </c:pt>
                <c:pt idx="3">
                  <c:v>13</c:v>
                </c:pt>
                <c:pt idx="4">
                  <c:v>36</c:v>
                </c:pt>
              </c:numCache>
            </c:numRef>
          </c:val>
          <c:extLst>
            <c:ext xmlns:c16="http://schemas.microsoft.com/office/drawing/2014/chart" uri="{C3380CC4-5D6E-409C-BE32-E72D297353CC}">
              <c16:uniqueId val="{00000000-F1ED-470F-8CF8-5FB0AC96063E}"/>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bar"/>
        <c:grouping val="clustered"/>
        <c:varyColors val="0"/>
        <c:ser>
          <c:idx val="0"/>
          <c:order val="0"/>
          <c:tx>
            <c:strRef>
              <c:f>Sheet1!$B$1</c:f>
              <c:strCache>
                <c:ptCount val="1"/>
                <c:pt idx="0">
                  <c:v>attn</c:v>
                </c:pt>
              </c:strCache>
            </c:strRef>
          </c:tx>
          <c:spPr>
            <a:solidFill>
              <a:srgbClr val="2E6DA4"/>
            </a:solidFill>
            <a:effectLst/>
          </c:spPr>
          <c:invertIfNegative val="0"/>
          <c:cat>
            <c:strRef>
              <c:f>Sheet1!$A$2:$A$6</c:f>
              <c:strCache>
                <c:ptCount val="5"/>
                <c:pt idx="0">
                  <c:v>the</c:v>
                </c:pt>
                <c:pt idx="1">
                  <c:v>]</c:v>
                </c:pt>
                <c:pt idx="2">
                  <c:v>The</c:v>
                </c:pt>
                <c:pt idx="3">
                  <c:v>,</c:v>
                </c:pt>
                <c:pt idx="4">
                  <c:v>.</c:v>
                </c:pt>
              </c:strCache>
            </c:strRef>
          </c:cat>
          <c:val>
            <c:numRef>
              <c:f>Sheet1!$B$2:$B$6</c:f>
              <c:numCache>
                <c:formatCode>General</c:formatCode>
                <c:ptCount val="5"/>
                <c:pt idx="0">
                  <c:v>14</c:v>
                </c:pt>
                <c:pt idx="1">
                  <c:v>16</c:v>
                </c:pt>
                <c:pt idx="2">
                  <c:v>26</c:v>
                </c:pt>
                <c:pt idx="3">
                  <c:v>50</c:v>
                </c:pt>
                <c:pt idx="4">
                  <c:v>68</c:v>
                </c:pt>
              </c:numCache>
            </c:numRef>
          </c:val>
          <c:extLst>
            <c:ext xmlns:c16="http://schemas.microsoft.com/office/drawing/2014/chart" uri="{C3380CC4-5D6E-409C-BE32-E72D297353CC}">
              <c16:uniqueId val="{00000000-DE68-4985-8825-AF23B8F009AC}"/>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autoTitleDeleted val="1"/>
    <c:plotArea>
      <c:layout/>
      <c:barChart>
        <c:barDir val="bar"/>
        <c:grouping val="clustered"/>
        <c:varyColors val="0"/>
        <c:ser>
          <c:idx val="0"/>
          <c:order val="0"/>
          <c:tx>
            <c:strRef>
              <c:f>Sheet1!$B$1</c:f>
              <c:strCache>
                <c:ptCount val="1"/>
                <c:pt idx="0">
                  <c:v>attn</c:v>
                </c:pt>
              </c:strCache>
            </c:strRef>
          </c:tx>
          <c:spPr>
            <a:solidFill>
              <a:srgbClr val="C0392B"/>
            </a:solidFill>
            <a:effectLst/>
          </c:spPr>
          <c:invertIfNegative val="0"/>
          <c:cat>
            <c:strRef>
              <c:f>Sheet1!$A$2:$A$6</c:f>
              <c:strCache>
                <c:ptCount val="5"/>
                <c:pt idx="0">
                  <c:v>:</c:v>
                </c:pt>
                <c:pt idx="1">
                  <c:v>because</c:v>
                </c:pt>
                <c:pt idx="2">
                  <c:v>The</c:v>
                </c:pt>
                <c:pt idx="3">
                  <c:v>the</c:v>
                </c:pt>
                <c:pt idx="4">
                  <c:v>.</c:v>
                </c:pt>
              </c:strCache>
            </c:strRef>
          </c:cat>
          <c:val>
            <c:numRef>
              <c:f>Sheet1!$B$2:$B$6</c:f>
              <c:numCache>
                <c:formatCode>General</c:formatCode>
                <c:ptCount val="5"/>
                <c:pt idx="0">
                  <c:v>16</c:v>
                </c:pt>
                <c:pt idx="1">
                  <c:v>20</c:v>
                </c:pt>
                <c:pt idx="2">
                  <c:v>20</c:v>
                </c:pt>
                <c:pt idx="3">
                  <c:v>28</c:v>
                </c:pt>
                <c:pt idx="4">
                  <c:v>36</c:v>
                </c:pt>
              </c:numCache>
            </c:numRef>
          </c:val>
          <c:extLst>
            <c:ext xmlns:c16="http://schemas.microsoft.com/office/drawing/2014/chart" uri="{C3380CC4-5D6E-409C-BE32-E72D297353CC}">
              <c16:uniqueId val="{00000000-CB8B-47A8-B2F7-17DB3C1EBFE8}"/>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0329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D2A97-40F2-15AD-B3D1-7BAC98701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4E200-A21D-B7DD-269D-A8FC616309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280A4-4A94-973A-250C-76ED9191B4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F96E5E-0530-BAC1-1BE0-3D1A3B988E5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527026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C0BEA-8727-1C2C-B402-F366DB2BA2B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69D909-F3E9-2C8D-52BE-CC0BD733774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F484888-B330-8E63-3E32-87CE1E31DB8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B984789-F6A5-A58D-0E23-545D14C2D2F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89CD7F4-EE06-39D0-31D7-CF99F26ACE5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endParaRPr lang="en-US"/>
          </a:p>
          <a:p>
            <a:endParaRPr lang="en-US"/>
          </a:p>
          <a:p>
            <a:endParaRPr lang="en-US"/>
          </a:p>
          <a:p>
            <a:r>
              <a:rPr lang="en-US"/>
              <a:t>‹#›</a:t>
            </a:r>
          </a:p>
        </p:txBody>
      </p:sp>
      <p:sp>
        <p:nvSpPr>
          <p:cNvPr id="6" name="Footer Placeholder 5">
            <a:extLst>
              <a:ext uri="{FF2B5EF4-FFF2-40B4-BE49-F238E27FC236}">
                <a16:creationId xmlns:a16="http://schemas.microsoft.com/office/drawing/2014/main" id="{842E3775-EB85-C5AC-62B4-505AC6BDA19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D552A44-4A08-5C6E-7C3C-1A9E64C09D0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59783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EFD6F-2289-C2F6-9770-B8574ECEC94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459E5C-2FDC-41EC-D6EC-46661DBAFBA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BA3DE38-53DD-729B-8D50-D6045642883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A6B4338-0005-3F49-92A5-94A2824461E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5A9A59E-408F-BDEA-743F-E5459A5C0A0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1.7.2013</a:t>
            </a:r>
          </a:p>
          <a:p>
            <a:endParaRPr lang="en-US" dirty="0"/>
          </a:p>
          <a:p>
            <a:endParaRPr lang="en-US" dirty="0"/>
          </a:p>
          <a:p>
            <a:endParaRPr lang="en-US" dirty="0"/>
          </a:p>
          <a:p>
            <a:r>
              <a:rPr lang="en-US" dirty="0"/>
              <a:t>‹#›</a:t>
            </a:r>
          </a:p>
        </p:txBody>
      </p:sp>
      <p:sp>
        <p:nvSpPr>
          <p:cNvPr id="6" name="Footer Placeholder 5">
            <a:extLst>
              <a:ext uri="{FF2B5EF4-FFF2-40B4-BE49-F238E27FC236}">
                <a16:creationId xmlns:a16="http://schemas.microsoft.com/office/drawing/2014/main" id="{23410AA6-9601-88AE-6B25-8C0AEDC7508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4F4067B-62ED-F880-21D9-7D9BDA28A1F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99067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3290A-3E3D-F0A7-8EEF-39D8ECB7C7D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86BA0A-160B-0200-00C1-4BC37F944FA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040FF60-C6CF-674C-F526-AA0F165DE08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a:extLst>
              <a:ext uri="{FF2B5EF4-FFF2-40B4-BE49-F238E27FC236}">
                <a16:creationId xmlns:a16="http://schemas.microsoft.com/office/drawing/2014/main" id="{57B7215B-9955-2FEB-771E-3E5BFA52133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2AAD2F0-4796-FD7D-1E1D-BEF2A7F73BC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1.7.2013</a:t>
            </a:r>
          </a:p>
          <a:p>
            <a:endParaRPr lang="en-US" dirty="0"/>
          </a:p>
          <a:p>
            <a:endParaRPr lang="en-US" dirty="0"/>
          </a:p>
          <a:p>
            <a:endParaRPr lang="en-US" dirty="0"/>
          </a:p>
          <a:p>
            <a:r>
              <a:rPr lang="en-US" dirty="0"/>
              <a:t>‹#›</a:t>
            </a:r>
          </a:p>
        </p:txBody>
      </p:sp>
      <p:sp>
        <p:nvSpPr>
          <p:cNvPr id="6" name="Footer Placeholder 5">
            <a:extLst>
              <a:ext uri="{FF2B5EF4-FFF2-40B4-BE49-F238E27FC236}">
                <a16:creationId xmlns:a16="http://schemas.microsoft.com/office/drawing/2014/main" id="{84CE14E5-0B8A-15A0-776D-1502C5625A7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302D44F-FB13-B670-0407-EC8227B0191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51048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A17BE-21BF-5EB6-9EB3-9283A126E71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C3E5D9-24CE-3AA6-7D26-1BC89A246C6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C21C89F-B3A0-9810-84C4-8C47CF8CF5C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a:extLst>
              <a:ext uri="{FF2B5EF4-FFF2-40B4-BE49-F238E27FC236}">
                <a16:creationId xmlns:a16="http://schemas.microsoft.com/office/drawing/2014/main" id="{E7A6DEF5-5C3E-E6B8-C30E-041375E0EEC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4DD01A6-E406-BFA4-C031-C37381DABEC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1.7.2013</a:t>
            </a:r>
          </a:p>
          <a:p>
            <a:endParaRPr lang="en-US" dirty="0"/>
          </a:p>
          <a:p>
            <a:endParaRPr lang="en-US" dirty="0"/>
          </a:p>
          <a:p>
            <a:endParaRPr lang="en-US" dirty="0"/>
          </a:p>
          <a:p>
            <a:r>
              <a:rPr lang="en-US" dirty="0"/>
              <a:t>‹#›</a:t>
            </a:r>
          </a:p>
        </p:txBody>
      </p:sp>
      <p:sp>
        <p:nvSpPr>
          <p:cNvPr id="6" name="Footer Placeholder 5">
            <a:extLst>
              <a:ext uri="{FF2B5EF4-FFF2-40B4-BE49-F238E27FC236}">
                <a16:creationId xmlns:a16="http://schemas.microsoft.com/office/drawing/2014/main" id="{433A0C91-D0F8-A323-481A-A18F971F1C1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A19ABD6-3733-B64F-91E5-6E7B94D8C59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32972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B69ED-6F3A-82CE-DD65-5533F144B1B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A7838E-A921-A4C0-7437-E1673E3E34C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2B7B160-F9BD-2BD8-AFA3-9F6E9CF3EAF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a:extLst>
              <a:ext uri="{FF2B5EF4-FFF2-40B4-BE49-F238E27FC236}">
                <a16:creationId xmlns:a16="http://schemas.microsoft.com/office/drawing/2014/main" id="{17BD6E78-089E-E45D-6E33-8AEBAA377F7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BBFA793-02B5-A5AC-6024-1CCF2AFEC10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1.7.2013</a:t>
            </a:r>
          </a:p>
          <a:p>
            <a:endParaRPr lang="en-US" dirty="0"/>
          </a:p>
          <a:p>
            <a:endParaRPr lang="en-US" dirty="0"/>
          </a:p>
          <a:p>
            <a:endParaRPr lang="en-US" dirty="0"/>
          </a:p>
          <a:p>
            <a:r>
              <a:rPr lang="en-US" dirty="0"/>
              <a:t>‹#›</a:t>
            </a:r>
          </a:p>
        </p:txBody>
      </p:sp>
      <p:sp>
        <p:nvSpPr>
          <p:cNvPr id="6" name="Footer Placeholder 5">
            <a:extLst>
              <a:ext uri="{FF2B5EF4-FFF2-40B4-BE49-F238E27FC236}">
                <a16:creationId xmlns:a16="http://schemas.microsoft.com/office/drawing/2014/main" id="{11EC4C3E-4AC5-7D3C-2D68-D25A9ED5291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8A0CD17-5191-97FD-FC47-F82FBA6E214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39763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ADA9D-D221-2AEE-C89E-D938E53E242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22ED08-9F5C-BF93-8CE7-448A8EF1D21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FE01144-995C-A699-5694-A65BFE97453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a:extLst>
              <a:ext uri="{FF2B5EF4-FFF2-40B4-BE49-F238E27FC236}">
                <a16:creationId xmlns:a16="http://schemas.microsoft.com/office/drawing/2014/main" id="{BFF07B0F-C23C-E751-1E13-E695819D802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7E88F94-1D65-693D-717B-C70396B610F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1.7.2013</a:t>
            </a:r>
          </a:p>
          <a:p>
            <a:endParaRPr lang="en-US" dirty="0"/>
          </a:p>
          <a:p>
            <a:endParaRPr lang="en-US" dirty="0"/>
          </a:p>
          <a:p>
            <a:endParaRPr lang="en-US" dirty="0"/>
          </a:p>
          <a:p>
            <a:r>
              <a:rPr lang="en-US" dirty="0"/>
              <a:t>‹#›</a:t>
            </a:r>
          </a:p>
        </p:txBody>
      </p:sp>
      <p:sp>
        <p:nvSpPr>
          <p:cNvPr id="6" name="Footer Placeholder 5">
            <a:extLst>
              <a:ext uri="{FF2B5EF4-FFF2-40B4-BE49-F238E27FC236}">
                <a16:creationId xmlns:a16="http://schemas.microsoft.com/office/drawing/2014/main" id="{DBD7E90A-A6E1-80AD-58D6-2F65079B507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B8C6EF0-0CA2-D6A2-3009-8020F243B10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73532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84A93-F13E-682C-3447-0796DF5BCA0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81CBC5-FD78-4E40-D392-EFD67FD381F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1F93B67-843B-53F6-4DBD-573D3174F3A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a:extLst>
              <a:ext uri="{FF2B5EF4-FFF2-40B4-BE49-F238E27FC236}">
                <a16:creationId xmlns:a16="http://schemas.microsoft.com/office/drawing/2014/main" id="{33B18BF1-B717-3493-711D-CFE7F0E544B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531132C-B479-78B9-1191-200BEC4F9E6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1.7.2013</a:t>
            </a:r>
          </a:p>
          <a:p>
            <a:endParaRPr lang="en-US" dirty="0"/>
          </a:p>
          <a:p>
            <a:endParaRPr lang="en-US" dirty="0"/>
          </a:p>
          <a:p>
            <a:endParaRPr lang="en-US" dirty="0"/>
          </a:p>
          <a:p>
            <a:r>
              <a:rPr lang="en-US" dirty="0"/>
              <a:t>‹#›</a:t>
            </a:r>
          </a:p>
        </p:txBody>
      </p:sp>
      <p:sp>
        <p:nvSpPr>
          <p:cNvPr id="6" name="Footer Placeholder 5">
            <a:extLst>
              <a:ext uri="{FF2B5EF4-FFF2-40B4-BE49-F238E27FC236}">
                <a16:creationId xmlns:a16="http://schemas.microsoft.com/office/drawing/2014/main" id="{D88C7AF4-9B97-851E-0437-245979E2495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CCCEAE3-6D2F-FF05-AF95-E7F14532A32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179611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77A99-28C4-736A-EE29-E1ACDFBF5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00FF9-2CD8-AD14-C5A9-A121D18CF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49FF6D-B56A-2623-D0BE-5AA7BBFB69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6488E6-5A32-AC59-F366-F1A8B313E72E}"/>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0149497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373281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chart" Target="../charts/chart3.xml"/><Relationship Id="rId4" Type="http://schemas.openxmlformats.org/officeDocument/2006/relationships/chart" Target="../charts/chart2.xml"/></Relationships>
</file>

<file path=ppt/slides/_rels/slide21.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chart" Target="../charts/chart8.xml"/><Relationship Id="rId7"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chart" Target="../charts/chart11.xml"/><Relationship Id="rId5" Type="http://schemas.openxmlformats.org/officeDocument/2006/relationships/chart" Target="../charts/chart10.xml"/><Relationship Id="rId4" Type="http://schemas.openxmlformats.org/officeDocument/2006/relationships/chart" Target="../charts/chart9.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891B2"/>
          </a:solidFill>
          <a:ln w="12700">
            <a:solidFill>
              <a:srgbClr val="0891B2"/>
            </a:solidFill>
            <a:prstDash val="solid"/>
          </a:ln>
        </p:spPr>
        <p:txBody>
          <a:bodyPr/>
          <a:lstStyle/>
          <a:p>
            <a:endParaRPr lang="en-US"/>
          </a:p>
        </p:txBody>
      </p:sp>
      <p:sp>
        <p:nvSpPr>
          <p:cNvPr id="3" name="Text 1"/>
          <p:cNvSpPr/>
          <p:nvPr/>
        </p:nvSpPr>
        <p:spPr>
          <a:xfrm>
            <a:off x="594360" y="640080"/>
            <a:ext cx="7772400" cy="457200"/>
          </a:xfrm>
          <a:prstGeom prst="rect">
            <a:avLst/>
          </a:prstGeom>
          <a:noFill/>
          <a:ln/>
        </p:spPr>
        <p:txBody>
          <a:bodyPr wrap="square" lIns="0" tIns="0" rIns="0" bIns="0" rtlCol="0" anchor="ctr"/>
          <a:lstStyle/>
          <a:p>
            <a:pPr marL="0" indent="0">
              <a:buNone/>
            </a:pPr>
            <a:r>
              <a:rPr lang="en-US" sz="3200" i="1" dirty="0">
                <a:solidFill>
                  <a:srgbClr val="22D3EE"/>
                </a:solidFill>
                <a:latin typeface="Calibri" pitchFamily="34" charset="0"/>
                <a:ea typeface="Calibri" pitchFamily="34" charset="-122"/>
                <a:cs typeface="Calibri" pitchFamily="34" charset="-120"/>
              </a:rPr>
              <a:t>Báo </a:t>
            </a:r>
            <a:r>
              <a:rPr lang="en-US" sz="3200" i="1" dirty="0" err="1">
                <a:solidFill>
                  <a:srgbClr val="22D3EE"/>
                </a:solidFill>
                <a:latin typeface="Calibri" pitchFamily="34" charset="0"/>
                <a:ea typeface="Calibri" pitchFamily="34" charset="-122"/>
                <a:cs typeface="Calibri" pitchFamily="34" charset="-120"/>
              </a:rPr>
              <a:t>cáo</a:t>
            </a:r>
            <a:r>
              <a:rPr lang="en-US" sz="3200" i="1" dirty="0">
                <a:solidFill>
                  <a:srgbClr val="22D3EE"/>
                </a:solidFill>
                <a:latin typeface="Calibri" pitchFamily="34" charset="0"/>
                <a:ea typeface="Calibri" pitchFamily="34" charset="-122"/>
                <a:cs typeface="Calibri" pitchFamily="34" charset="-120"/>
              </a:rPr>
              <a:t> </a:t>
            </a:r>
            <a:r>
              <a:rPr lang="en-US" sz="3200" i="1" dirty="0" err="1">
                <a:solidFill>
                  <a:srgbClr val="22D3EE"/>
                </a:solidFill>
                <a:latin typeface="Calibri" pitchFamily="34" charset="0"/>
                <a:ea typeface="Calibri" pitchFamily="34" charset="-122"/>
                <a:cs typeface="Calibri" pitchFamily="34" charset="-120"/>
              </a:rPr>
              <a:t>lần</a:t>
            </a:r>
            <a:r>
              <a:rPr lang="en-US" sz="3200" i="1" dirty="0">
                <a:solidFill>
                  <a:srgbClr val="22D3EE"/>
                </a:solidFill>
                <a:latin typeface="Calibri" pitchFamily="34" charset="0"/>
                <a:ea typeface="Calibri" pitchFamily="34" charset="-122"/>
                <a:cs typeface="Calibri" pitchFamily="34" charset="-120"/>
              </a:rPr>
              <a:t> 2</a:t>
            </a:r>
            <a:endParaRPr lang="en-US" sz="3200" dirty="0"/>
          </a:p>
        </p:txBody>
      </p:sp>
      <p:sp>
        <p:nvSpPr>
          <p:cNvPr id="4" name="Text 2"/>
          <p:cNvSpPr/>
          <p:nvPr/>
        </p:nvSpPr>
        <p:spPr>
          <a:xfrm>
            <a:off x="594360" y="1097280"/>
            <a:ext cx="7772400" cy="14630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AI-Generated Text Detection</a:t>
            </a:r>
            <a:endParaRPr lang="en-US" sz="4000" dirty="0"/>
          </a:p>
        </p:txBody>
      </p:sp>
      <p:sp>
        <p:nvSpPr>
          <p:cNvPr id="5" name="Text 3"/>
          <p:cNvSpPr/>
          <p:nvPr/>
        </p:nvSpPr>
        <p:spPr>
          <a:xfrm>
            <a:off x="594360" y="2514600"/>
            <a:ext cx="7772400" cy="502920"/>
          </a:xfrm>
          <a:prstGeom prst="rect">
            <a:avLst/>
          </a:prstGeom>
          <a:noFill/>
          <a:ln/>
        </p:spPr>
        <p:txBody>
          <a:bodyPr wrap="square" lIns="0" tIns="0" rIns="0" bIns="0" rtlCol="0" anchor="ctr"/>
          <a:lstStyle/>
          <a:p>
            <a:pPr marL="0" indent="0">
              <a:buNone/>
            </a:pPr>
            <a:r>
              <a:rPr lang="en-US" sz="2200" dirty="0" err="1">
                <a:solidFill>
                  <a:srgbClr val="22D3EE"/>
                </a:solidFill>
                <a:latin typeface="Calibri" pitchFamily="34" charset="0"/>
                <a:ea typeface="Calibri" pitchFamily="34" charset="-122"/>
                <a:cs typeface="Calibri" pitchFamily="34" charset="-120"/>
              </a:rPr>
              <a:t>Phân</a:t>
            </a:r>
            <a:r>
              <a:rPr lang="en-US" sz="2200" dirty="0">
                <a:solidFill>
                  <a:srgbClr val="22D3EE"/>
                </a:solidFill>
                <a:latin typeface="Calibri" pitchFamily="34" charset="0"/>
                <a:ea typeface="Calibri" pitchFamily="34" charset="-122"/>
                <a:cs typeface="Calibri" pitchFamily="34" charset="-120"/>
              </a:rPr>
              <a:t> </a:t>
            </a:r>
            <a:r>
              <a:rPr lang="en-US" sz="2200" dirty="0" err="1">
                <a:solidFill>
                  <a:srgbClr val="22D3EE"/>
                </a:solidFill>
                <a:latin typeface="Calibri" pitchFamily="34" charset="0"/>
                <a:ea typeface="Calibri" pitchFamily="34" charset="-122"/>
                <a:cs typeface="Calibri" pitchFamily="34" charset="-120"/>
              </a:rPr>
              <a:t>loại</a:t>
            </a:r>
            <a:r>
              <a:rPr lang="en-US" sz="2200" dirty="0">
                <a:solidFill>
                  <a:srgbClr val="22D3EE"/>
                </a:solidFill>
                <a:latin typeface="Calibri" pitchFamily="34" charset="0"/>
                <a:ea typeface="Calibri" pitchFamily="34" charset="-122"/>
                <a:cs typeface="Calibri" pitchFamily="34" charset="-120"/>
              </a:rPr>
              <a:t> </a:t>
            </a:r>
            <a:r>
              <a:rPr lang="en-US" sz="2200" dirty="0" err="1">
                <a:solidFill>
                  <a:srgbClr val="22D3EE"/>
                </a:solidFill>
                <a:latin typeface="Calibri" pitchFamily="34" charset="0"/>
                <a:ea typeface="Calibri" pitchFamily="34" charset="-122"/>
                <a:cs typeface="Calibri" pitchFamily="34" charset="-120"/>
              </a:rPr>
              <a:t>văn</a:t>
            </a:r>
            <a:r>
              <a:rPr lang="en-US" sz="2200" dirty="0">
                <a:solidFill>
                  <a:srgbClr val="22D3EE"/>
                </a:solidFill>
                <a:latin typeface="Calibri" pitchFamily="34" charset="0"/>
                <a:ea typeface="Calibri" pitchFamily="34" charset="-122"/>
                <a:cs typeface="Calibri" pitchFamily="34" charset="-120"/>
              </a:rPr>
              <a:t> </a:t>
            </a:r>
            <a:r>
              <a:rPr lang="en-US" sz="2200" dirty="0" err="1">
                <a:solidFill>
                  <a:srgbClr val="22D3EE"/>
                </a:solidFill>
                <a:latin typeface="Calibri" pitchFamily="34" charset="0"/>
                <a:ea typeface="Calibri" pitchFamily="34" charset="-122"/>
                <a:cs typeface="Calibri" pitchFamily="34" charset="-120"/>
              </a:rPr>
              <a:t>bản</a:t>
            </a:r>
            <a:r>
              <a:rPr lang="en-US" sz="2200" dirty="0">
                <a:solidFill>
                  <a:srgbClr val="22D3EE"/>
                </a:solidFill>
                <a:latin typeface="Calibri" pitchFamily="34" charset="0"/>
                <a:ea typeface="Calibri" pitchFamily="34" charset="-122"/>
                <a:cs typeface="Calibri" pitchFamily="34" charset="-120"/>
              </a:rPr>
              <a:t> Human-written </a:t>
            </a:r>
            <a:r>
              <a:rPr lang="en-US" sz="2200" dirty="0" err="1">
                <a:solidFill>
                  <a:srgbClr val="22D3EE"/>
                </a:solidFill>
                <a:latin typeface="Calibri" pitchFamily="34" charset="0"/>
                <a:ea typeface="Calibri" pitchFamily="34" charset="-122"/>
                <a:cs typeface="Calibri" pitchFamily="34" charset="-120"/>
              </a:rPr>
              <a:t>và</a:t>
            </a:r>
            <a:r>
              <a:rPr lang="en-US" sz="2200" dirty="0">
                <a:solidFill>
                  <a:srgbClr val="22D3EE"/>
                </a:solidFill>
                <a:latin typeface="Calibri" pitchFamily="34" charset="0"/>
                <a:ea typeface="Calibri" pitchFamily="34" charset="-122"/>
                <a:cs typeface="Calibri" pitchFamily="34" charset="-120"/>
              </a:rPr>
              <a:t> AI generated (</a:t>
            </a:r>
            <a:r>
              <a:rPr lang="en-US" sz="2200" dirty="0" err="1">
                <a:solidFill>
                  <a:srgbClr val="22D3EE"/>
                </a:solidFill>
                <a:latin typeface="Calibri" pitchFamily="34" charset="0"/>
                <a:ea typeface="Calibri" pitchFamily="34" charset="-122"/>
                <a:cs typeface="Calibri" pitchFamily="34" charset="-120"/>
              </a:rPr>
              <a:t>Tiếng</a:t>
            </a:r>
            <a:r>
              <a:rPr lang="en-US" sz="2200" dirty="0">
                <a:solidFill>
                  <a:srgbClr val="22D3EE"/>
                </a:solidFill>
                <a:latin typeface="Calibri" pitchFamily="34" charset="0"/>
                <a:ea typeface="Calibri" pitchFamily="34" charset="-122"/>
                <a:cs typeface="Calibri" pitchFamily="34" charset="-120"/>
              </a:rPr>
              <a:t> Anh &amp; </a:t>
            </a:r>
            <a:r>
              <a:rPr lang="en-US" sz="2200" dirty="0" err="1">
                <a:solidFill>
                  <a:srgbClr val="22D3EE"/>
                </a:solidFill>
                <a:latin typeface="Calibri" pitchFamily="34" charset="0"/>
                <a:ea typeface="Calibri" pitchFamily="34" charset="-122"/>
                <a:cs typeface="Calibri" pitchFamily="34" charset="-120"/>
              </a:rPr>
              <a:t>Tiếng</a:t>
            </a:r>
            <a:r>
              <a:rPr lang="en-US" sz="2200" dirty="0">
                <a:solidFill>
                  <a:srgbClr val="22D3EE"/>
                </a:solidFill>
                <a:latin typeface="Calibri" pitchFamily="34" charset="0"/>
                <a:ea typeface="Calibri" pitchFamily="34" charset="-122"/>
                <a:cs typeface="Calibri" pitchFamily="34" charset="-120"/>
              </a:rPr>
              <a:t> Việt)</a:t>
            </a:r>
            <a:endParaRPr lang="en-US" sz="2200" dirty="0"/>
          </a:p>
        </p:txBody>
      </p:sp>
      <p:sp>
        <p:nvSpPr>
          <p:cNvPr id="6" name="Shape 4"/>
          <p:cNvSpPr/>
          <p:nvPr/>
        </p:nvSpPr>
        <p:spPr>
          <a:xfrm>
            <a:off x="594360" y="3108960"/>
            <a:ext cx="3657600" cy="36576"/>
          </a:xfrm>
          <a:prstGeom prst="rect">
            <a:avLst/>
          </a:prstGeom>
          <a:solidFill>
            <a:srgbClr val="64748B"/>
          </a:solidFill>
          <a:ln w="12700">
            <a:solidFill>
              <a:srgbClr val="64748B"/>
            </a:solidFill>
            <a:prstDash val="solid"/>
          </a:ln>
        </p:spPr>
        <p:txBody>
          <a:bodyPr/>
          <a:lstStyle/>
          <a:p>
            <a:endParaRPr lang="en-US"/>
          </a:p>
        </p:txBody>
      </p:sp>
      <p:sp>
        <p:nvSpPr>
          <p:cNvPr id="7" name="Text 5"/>
          <p:cNvSpPr/>
          <p:nvPr/>
        </p:nvSpPr>
        <p:spPr>
          <a:xfrm>
            <a:off x="594360" y="3246120"/>
            <a:ext cx="7772400" cy="320040"/>
          </a:xfrm>
          <a:prstGeom prst="rect">
            <a:avLst/>
          </a:prstGeom>
          <a:noFill/>
          <a:ln/>
        </p:spPr>
        <p:txBody>
          <a:bodyPr wrap="square" lIns="0" tIns="0" rIns="0" bIns="0" rtlCol="0" anchor="ctr"/>
          <a:lstStyle/>
          <a:p>
            <a:pPr marL="0" indent="0">
              <a:buNone/>
            </a:pPr>
            <a:r>
              <a:rPr lang="en-US" sz="1200" dirty="0" err="1">
                <a:solidFill>
                  <a:srgbClr val="64748B"/>
                </a:solidFill>
                <a:latin typeface="Calibri" pitchFamily="34" charset="0"/>
                <a:ea typeface="Calibri" pitchFamily="34" charset="-122"/>
                <a:cs typeface="Calibri" pitchFamily="34" charset="-120"/>
              </a:rPr>
              <a:t>Nhóm</a:t>
            </a:r>
            <a:r>
              <a:rPr lang="en-US" sz="1200" dirty="0">
                <a:solidFill>
                  <a:srgbClr val="64748B"/>
                </a:solidFill>
                <a:latin typeface="Calibri" pitchFamily="34" charset="0"/>
                <a:ea typeface="Calibri" pitchFamily="34" charset="-122"/>
                <a:cs typeface="Calibri" pitchFamily="34" charset="-120"/>
              </a:rPr>
              <a:t>   |  VNU UET — Institute for Artificial Intelligence</a:t>
            </a:r>
            <a:endParaRPr lang="en-US" sz="1200" dirty="0"/>
          </a:p>
        </p:txBody>
      </p:sp>
      <p:sp>
        <p:nvSpPr>
          <p:cNvPr id="8" name="Text 6"/>
          <p:cNvSpPr/>
          <p:nvPr/>
        </p:nvSpPr>
        <p:spPr>
          <a:xfrm>
            <a:off x="594360" y="3703320"/>
            <a:ext cx="347472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Nguyễn Đức Minh</a:t>
            </a:r>
            <a:endParaRPr lang="en-US" sz="1200" dirty="0"/>
          </a:p>
        </p:txBody>
      </p:sp>
      <p:sp>
        <p:nvSpPr>
          <p:cNvPr id="11" name="Text 9"/>
          <p:cNvSpPr/>
          <p:nvPr/>
        </p:nvSpPr>
        <p:spPr>
          <a:xfrm>
            <a:off x="4251960" y="3703320"/>
            <a:ext cx="347472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Nguyễn Hoàng Phúc</a:t>
            </a:r>
            <a:endParaRPr lang="en-US" sz="1200" dirty="0"/>
          </a:p>
        </p:txBody>
      </p:sp>
      <p:grpSp>
        <p:nvGrpSpPr>
          <p:cNvPr id="14" name="Group 2">
            <a:extLst>
              <a:ext uri="{FF2B5EF4-FFF2-40B4-BE49-F238E27FC236}">
                <a16:creationId xmlns:a16="http://schemas.microsoft.com/office/drawing/2014/main" id="{9429E172-D126-A39E-009F-4D819A0F2718}"/>
              </a:ext>
            </a:extLst>
          </p:cNvPr>
          <p:cNvGrpSpPr/>
          <p:nvPr/>
        </p:nvGrpSpPr>
        <p:grpSpPr>
          <a:xfrm>
            <a:off x="7900508" y="116678"/>
            <a:ext cx="486733" cy="486733"/>
            <a:chOff x="0" y="0"/>
            <a:chExt cx="1297955" cy="1297955"/>
          </a:xfrm>
        </p:grpSpPr>
        <p:sp>
          <p:nvSpPr>
            <p:cNvPr id="15" name="Freeform 3">
              <a:extLst>
                <a:ext uri="{FF2B5EF4-FFF2-40B4-BE49-F238E27FC236}">
                  <a16:creationId xmlns:a16="http://schemas.microsoft.com/office/drawing/2014/main" id="{E0BF560E-499A-334D-914D-E048ED214092}"/>
                </a:ext>
              </a:extLst>
            </p:cNvPr>
            <p:cNvSpPr/>
            <p:nvPr/>
          </p:nvSpPr>
          <p:spPr>
            <a:xfrm>
              <a:off x="0" y="0"/>
              <a:ext cx="1297940" cy="1297940"/>
            </a:xfrm>
            <a:custGeom>
              <a:avLst/>
              <a:gdLst/>
              <a:ahLst/>
              <a:cxnLst/>
              <a:rect l="l" t="t" r="r" b="b"/>
              <a:pathLst>
                <a:path w="1297940" h="1297940">
                  <a:moveTo>
                    <a:pt x="0" y="0"/>
                  </a:moveTo>
                  <a:lnTo>
                    <a:pt x="1297940" y="0"/>
                  </a:lnTo>
                  <a:lnTo>
                    <a:pt x="1297940" y="1297940"/>
                  </a:lnTo>
                  <a:lnTo>
                    <a:pt x="0" y="1297940"/>
                  </a:lnTo>
                  <a:lnTo>
                    <a:pt x="0" y="0"/>
                  </a:lnTo>
                  <a:close/>
                </a:path>
              </a:pathLst>
            </a:custGeom>
            <a:blipFill>
              <a:blip r:embed="rId3"/>
              <a:stretch>
                <a:fillRect r="-1" b="-1"/>
              </a:stretch>
            </a:blipFill>
          </p:spPr>
          <p:txBody>
            <a:bodyPr/>
            <a:lstStyle/>
            <a:p>
              <a:endParaRPr lang="en-US" sz="900"/>
            </a:p>
          </p:txBody>
        </p:sp>
      </p:grpSp>
      <p:grpSp>
        <p:nvGrpSpPr>
          <p:cNvPr id="16" name="Group 4">
            <a:extLst>
              <a:ext uri="{FF2B5EF4-FFF2-40B4-BE49-F238E27FC236}">
                <a16:creationId xmlns:a16="http://schemas.microsoft.com/office/drawing/2014/main" id="{0D6412EB-F466-85D7-2098-9E4720AB7BEE}"/>
              </a:ext>
            </a:extLst>
          </p:cNvPr>
          <p:cNvGrpSpPr>
            <a:grpSpLocks noChangeAspect="1"/>
          </p:cNvGrpSpPr>
          <p:nvPr/>
        </p:nvGrpSpPr>
        <p:grpSpPr>
          <a:xfrm>
            <a:off x="8528984" y="116678"/>
            <a:ext cx="486733" cy="488906"/>
            <a:chOff x="0" y="0"/>
            <a:chExt cx="1297955" cy="1303749"/>
          </a:xfrm>
        </p:grpSpPr>
        <p:sp>
          <p:nvSpPr>
            <p:cNvPr id="17" name="Freeform 5" descr="Viện Trí tuệ nhân tạo | Hanoi">
              <a:extLst>
                <a:ext uri="{FF2B5EF4-FFF2-40B4-BE49-F238E27FC236}">
                  <a16:creationId xmlns:a16="http://schemas.microsoft.com/office/drawing/2014/main" id="{ACC5223E-8A66-506A-89BA-1423E3EF3CED}"/>
                </a:ext>
              </a:extLst>
            </p:cNvPr>
            <p:cNvSpPr/>
            <p:nvPr/>
          </p:nvSpPr>
          <p:spPr>
            <a:xfrm>
              <a:off x="0" y="0"/>
              <a:ext cx="1297940" cy="1303782"/>
            </a:xfrm>
            <a:custGeom>
              <a:avLst/>
              <a:gdLst/>
              <a:ahLst/>
              <a:cxnLst/>
              <a:rect l="l" t="t" r="r" b="b"/>
              <a:pathLst>
                <a:path w="1297940" h="1303782">
                  <a:moveTo>
                    <a:pt x="0" y="0"/>
                  </a:moveTo>
                  <a:lnTo>
                    <a:pt x="1297940" y="0"/>
                  </a:lnTo>
                  <a:lnTo>
                    <a:pt x="1297940" y="1303782"/>
                  </a:lnTo>
                  <a:lnTo>
                    <a:pt x="0" y="1303782"/>
                  </a:lnTo>
                  <a:lnTo>
                    <a:pt x="0" y="0"/>
                  </a:lnTo>
                  <a:close/>
                </a:path>
              </a:pathLst>
            </a:custGeom>
            <a:blipFill>
              <a:blip r:embed="rId4"/>
              <a:stretch>
                <a:fillRect r="-1" b="2"/>
              </a:stretch>
            </a:blipFill>
          </p:spPr>
          <p:txBody>
            <a:bodyPr/>
            <a:lstStyle/>
            <a:p>
              <a:endParaRPr lang="en-US" sz="90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3852387" y="173736"/>
            <a:ext cx="3644640" cy="502920"/>
          </a:xfrm>
          <a:prstGeom prst="rect">
            <a:avLst/>
          </a:prstGeom>
          <a:noFill/>
          <a:ln/>
        </p:spPr>
        <p:txBody>
          <a:bodyPr wrap="square" lIns="0" tIns="0" rIns="0" bIns="0" rtlCol="0" anchor="ctr"/>
          <a:lstStyle/>
          <a:p>
            <a:pPr marL="0" indent="0">
              <a:buNone/>
            </a:pPr>
            <a:r>
              <a:rPr lang="en-US" sz="3600" b="1" dirty="0" err="1">
                <a:solidFill>
                  <a:srgbClr val="0D1F3C"/>
                </a:solidFill>
                <a:latin typeface="Calibri" pitchFamily="34" charset="0"/>
                <a:ea typeface="Calibri" pitchFamily="34" charset="-122"/>
                <a:cs typeface="Calibri" pitchFamily="34" charset="-120"/>
              </a:rPr>
              <a:t>Mục</a:t>
            </a:r>
            <a:r>
              <a:rPr lang="en-US" sz="3600" b="1" dirty="0">
                <a:solidFill>
                  <a:srgbClr val="0D1F3C"/>
                </a:solidFill>
                <a:latin typeface="Calibri" pitchFamily="34" charset="0"/>
                <a:ea typeface="Calibri" pitchFamily="34" charset="-122"/>
                <a:cs typeface="Calibri" pitchFamily="34" charset="-120"/>
              </a:rPr>
              <a:t> </a:t>
            </a:r>
            <a:r>
              <a:rPr lang="en-US" sz="3600" b="1" dirty="0" err="1">
                <a:solidFill>
                  <a:srgbClr val="0D1F3C"/>
                </a:solidFill>
                <a:latin typeface="Calibri" pitchFamily="34" charset="0"/>
                <a:ea typeface="Calibri" pitchFamily="34" charset="-122"/>
                <a:cs typeface="Calibri" pitchFamily="34" charset="-120"/>
              </a:rPr>
              <a:t>lục</a:t>
            </a:r>
            <a:endParaRPr lang="en-US" sz="3600" dirty="0"/>
          </a:p>
        </p:txBody>
      </p:sp>
      <p:sp>
        <p:nvSpPr>
          <p:cNvPr id="3" name="Shape 1"/>
          <p:cNvSpPr/>
          <p:nvPr/>
        </p:nvSpPr>
        <p:spPr>
          <a:xfrm>
            <a:off x="4023360" y="676656"/>
            <a:ext cx="1097280" cy="36576"/>
          </a:xfrm>
          <a:prstGeom prst="rect">
            <a:avLst/>
          </a:prstGeom>
          <a:solidFill>
            <a:srgbClr val="0891B2"/>
          </a:solidFill>
          <a:ln w="12700">
            <a:solidFill>
              <a:srgbClr val="0891B2"/>
            </a:solidFill>
            <a:prstDash val="solid"/>
          </a:ln>
        </p:spPr>
        <p:txBody>
          <a:bodyPr/>
          <a:lstStyle/>
          <a:p>
            <a:endParaRPr lang="en-US"/>
          </a:p>
        </p:txBody>
      </p:sp>
      <p:sp>
        <p:nvSpPr>
          <p:cNvPr id="23" name="TextBox 20">
            <a:extLst>
              <a:ext uri="{FF2B5EF4-FFF2-40B4-BE49-F238E27FC236}">
                <a16:creationId xmlns:a16="http://schemas.microsoft.com/office/drawing/2014/main" id="{81A1A020-BC3C-4FA4-FDE9-6E8D5C306045}"/>
              </a:ext>
            </a:extLst>
          </p:cNvPr>
          <p:cNvSpPr txBox="1"/>
          <p:nvPr/>
        </p:nvSpPr>
        <p:spPr>
          <a:xfrm>
            <a:off x="753744" y="1437569"/>
            <a:ext cx="4523232" cy="3334246"/>
          </a:xfrm>
          <a:prstGeom prst="rect">
            <a:avLst/>
          </a:prstGeom>
        </p:spPr>
        <p:txBody>
          <a:bodyPr lIns="0" tIns="0" rIns="0" bIns="0" rtlCol="0" anchor="t">
            <a:spAutoFit/>
          </a:bodyPr>
          <a:lstStyle/>
          <a:p>
            <a:pPr>
              <a:lnSpc>
                <a:spcPts val="2640"/>
              </a:lnSpc>
            </a:pPr>
            <a:r>
              <a:rPr lang="en-US" sz="2200" b="1" dirty="0">
                <a:solidFill>
                  <a:srgbClr val="808080"/>
                </a:solidFill>
                <a:latin typeface="Arial Bold"/>
                <a:ea typeface="Arial Bold"/>
                <a:cs typeface="Arial Bold"/>
                <a:sym typeface="Arial Bold"/>
              </a:rPr>
              <a:t>01</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Phát</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biểu</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bài</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toán</a:t>
            </a:r>
            <a:endParaRPr lang="en-US" sz="2200" b="1" dirty="0">
              <a:solidFill>
                <a:srgbClr val="000000"/>
              </a:solidFill>
              <a:latin typeface="Arial Bold"/>
              <a:ea typeface="Arial Bold"/>
              <a:cs typeface="Arial Bold"/>
              <a:sym typeface="Arial Bold"/>
            </a:endParaRPr>
          </a:p>
          <a:p>
            <a:pPr>
              <a:lnSpc>
                <a:spcPts val="2640"/>
              </a:lnSpc>
            </a:pPr>
            <a:endParaRPr lang="en-US" sz="2200" b="1" dirty="0">
              <a:solidFill>
                <a:srgbClr val="000000"/>
              </a:solidFill>
              <a:latin typeface="Arial Bold"/>
              <a:ea typeface="Arial Bold"/>
              <a:cs typeface="Arial Bold"/>
              <a:sym typeface="Arial Bold"/>
            </a:endParaRPr>
          </a:p>
          <a:p>
            <a:pPr>
              <a:lnSpc>
                <a:spcPts val="2640"/>
              </a:lnSpc>
            </a:pPr>
            <a:r>
              <a:rPr lang="en-US" sz="2200" b="1" dirty="0">
                <a:solidFill>
                  <a:srgbClr val="808080"/>
                </a:solidFill>
                <a:latin typeface="Arial Bold"/>
                <a:ea typeface="Arial Bold"/>
                <a:cs typeface="Arial Bold"/>
                <a:sym typeface="Arial Bold"/>
              </a:rPr>
              <a:t>02</a:t>
            </a:r>
            <a:r>
              <a:rPr lang="en-US" sz="2200" b="1" dirty="0">
                <a:solidFill>
                  <a:srgbClr val="F5F4ED"/>
                </a:solidFill>
                <a:latin typeface="Arial Bold"/>
                <a:ea typeface="Arial Bold"/>
                <a:cs typeface="Arial Bold"/>
                <a:sym typeface="Arial Bold"/>
              </a:rPr>
              <a:t>   </a:t>
            </a:r>
            <a:r>
              <a:rPr lang="en-US" sz="2200" b="1" dirty="0">
                <a:solidFill>
                  <a:srgbClr val="000000"/>
                </a:solidFill>
                <a:latin typeface="Arial Bold"/>
                <a:ea typeface="Arial Bold"/>
                <a:cs typeface="Arial Bold"/>
                <a:sym typeface="Arial Bold"/>
              </a:rPr>
              <a:t>Pipeline </a:t>
            </a:r>
            <a:r>
              <a:rPr lang="en-US" sz="2200" b="1" dirty="0" err="1">
                <a:solidFill>
                  <a:srgbClr val="000000"/>
                </a:solidFill>
                <a:latin typeface="Arial Bold"/>
                <a:ea typeface="Arial Bold"/>
                <a:cs typeface="Arial Bold"/>
                <a:sym typeface="Arial Bold"/>
              </a:rPr>
              <a:t>tổng</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quan</a:t>
            </a:r>
            <a:endParaRPr lang="en-US" sz="2200" b="1" dirty="0">
              <a:solidFill>
                <a:srgbClr val="000000"/>
              </a:solidFill>
              <a:latin typeface="Arial Bold"/>
              <a:ea typeface="Arial Bold"/>
              <a:cs typeface="Arial Bold"/>
              <a:sym typeface="Arial Bold"/>
            </a:endParaRPr>
          </a:p>
          <a:p>
            <a:pPr>
              <a:lnSpc>
                <a:spcPts val="2640"/>
              </a:lnSpc>
            </a:pPr>
            <a:endParaRPr lang="en-US" sz="2200" b="1" dirty="0">
              <a:solidFill>
                <a:srgbClr val="000000"/>
              </a:solidFill>
              <a:latin typeface="Arial Bold"/>
              <a:ea typeface="Arial Bold"/>
              <a:cs typeface="Arial Bold"/>
              <a:sym typeface="Arial Bold"/>
            </a:endParaRPr>
          </a:p>
          <a:p>
            <a:pPr>
              <a:lnSpc>
                <a:spcPts val="2640"/>
              </a:lnSpc>
            </a:pPr>
            <a:r>
              <a:rPr lang="en-US" sz="2200" b="1" dirty="0">
                <a:solidFill>
                  <a:srgbClr val="808080"/>
                </a:solidFill>
                <a:latin typeface="Arial Bold"/>
                <a:ea typeface="Arial Bold"/>
                <a:cs typeface="Arial Bold"/>
                <a:sym typeface="Arial Bold"/>
              </a:rPr>
              <a:t>03 </a:t>
            </a:r>
            <a:r>
              <a:rPr lang="en-US" sz="2200" b="1" dirty="0">
                <a:solidFill>
                  <a:srgbClr val="F5F4ED"/>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Dữ</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liệu</a:t>
            </a:r>
            <a:r>
              <a:rPr lang="en-US" sz="2200" b="1" dirty="0">
                <a:solidFill>
                  <a:srgbClr val="000000"/>
                </a:solidFill>
                <a:latin typeface="Arial Bold"/>
                <a:ea typeface="Arial Bold"/>
                <a:cs typeface="Arial Bold"/>
                <a:sym typeface="Arial Bold"/>
              </a:rPr>
              <a:t> &amp; </a:t>
            </a:r>
            <a:r>
              <a:rPr lang="en-US" sz="2200" b="1" dirty="0" err="1">
                <a:solidFill>
                  <a:srgbClr val="000000"/>
                </a:solidFill>
                <a:latin typeface="Arial Bold"/>
                <a:ea typeface="Arial Bold"/>
                <a:cs typeface="Arial Bold"/>
                <a:sym typeface="Arial Bold"/>
              </a:rPr>
              <a:t>Tiền</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xử</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lý</a:t>
            </a:r>
            <a:endParaRPr lang="en-US" sz="2200" b="1" dirty="0">
              <a:solidFill>
                <a:srgbClr val="000000"/>
              </a:solidFill>
              <a:latin typeface="Arial Bold"/>
              <a:ea typeface="Arial Bold"/>
              <a:cs typeface="Arial Bold"/>
              <a:sym typeface="Arial Bold"/>
            </a:endParaRPr>
          </a:p>
          <a:p>
            <a:pPr>
              <a:lnSpc>
                <a:spcPts val="2640"/>
              </a:lnSpc>
            </a:pPr>
            <a:endParaRPr lang="en-US" sz="2200" b="1" dirty="0">
              <a:solidFill>
                <a:srgbClr val="000000"/>
              </a:solidFill>
              <a:latin typeface="Arial Bold"/>
              <a:ea typeface="Arial Bold"/>
              <a:cs typeface="Arial Bold"/>
              <a:sym typeface="Arial Bold"/>
            </a:endParaRPr>
          </a:p>
          <a:p>
            <a:pPr>
              <a:lnSpc>
                <a:spcPts val="2640"/>
              </a:lnSpc>
            </a:pPr>
            <a:r>
              <a:rPr lang="en-US" sz="2200" b="1" dirty="0">
                <a:solidFill>
                  <a:srgbClr val="808080"/>
                </a:solidFill>
                <a:latin typeface="Arial Bold"/>
                <a:ea typeface="Arial Bold"/>
                <a:cs typeface="Arial Bold"/>
                <a:sym typeface="Arial Bold"/>
              </a:rPr>
              <a:t>04   </a:t>
            </a:r>
            <a:r>
              <a:rPr lang="en-US" sz="2200" b="1" dirty="0" err="1">
                <a:solidFill>
                  <a:srgbClr val="000000"/>
                </a:solidFill>
                <a:latin typeface="Arial Bold"/>
                <a:ea typeface="Arial Bold"/>
                <a:cs typeface="Arial Bold"/>
                <a:sym typeface="Arial Bold"/>
              </a:rPr>
              <a:t>Mô</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hình</a:t>
            </a:r>
            <a:r>
              <a:rPr lang="en-US" sz="2200" b="1" dirty="0">
                <a:solidFill>
                  <a:srgbClr val="000000"/>
                </a:solidFill>
                <a:latin typeface="Arial Bold"/>
                <a:ea typeface="Arial Bold"/>
                <a:cs typeface="Arial Bold"/>
                <a:sym typeface="Arial Bold"/>
              </a:rPr>
              <a:t> song </a:t>
            </a:r>
            <a:r>
              <a:rPr lang="en-US" sz="2200" b="1" dirty="0" err="1">
                <a:solidFill>
                  <a:srgbClr val="000000"/>
                </a:solidFill>
                <a:latin typeface="Arial Bold"/>
                <a:ea typeface="Arial Bold"/>
                <a:cs typeface="Arial Bold"/>
                <a:sym typeface="Arial Bold"/>
              </a:rPr>
              <a:t>ngữ</a:t>
            </a:r>
            <a:r>
              <a:rPr lang="en-US" sz="2200" b="1" dirty="0">
                <a:solidFill>
                  <a:srgbClr val="000000"/>
                </a:solidFill>
                <a:latin typeface="Arial Bold"/>
                <a:ea typeface="Arial Bold"/>
                <a:cs typeface="Arial Bold"/>
                <a:sym typeface="Arial Bold"/>
              </a:rPr>
              <a:t> (XLM-</a:t>
            </a:r>
            <a:r>
              <a:rPr lang="en-US" sz="2200" b="1" dirty="0" err="1">
                <a:solidFill>
                  <a:srgbClr val="000000"/>
                </a:solidFill>
                <a:latin typeface="Arial Bold"/>
                <a:ea typeface="Arial Bold"/>
                <a:cs typeface="Arial Bold"/>
                <a:sym typeface="Arial Bold"/>
              </a:rPr>
              <a:t>RoBERTa</a:t>
            </a:r>
            <a:r>
              <a:rPr lang="en-US" sz="2200" b="1" dirty="0">
                <a:solidFill>
                  <a:srgbClr val="000000"/>
                </a:solidFill>
                <a:latin typeface="Arial Bold"/>
                <a:ea typeface="Arial Bold"/>
                <a:cs typeface="Arial Bold"/>
                <a:sym typeface="Arial Bold"/>
              </a:rPr>
              <a:t>)</a:t>
            </a:r>
          </a:p>
          <a:p>
            <a:pPr>
              <a:lnSpc>
                <a:spcPts val="2640"/>
              </a:lnSpc>
            </a:pPr>
            <a:endParaRPr lang="en-US" sz="2200" b="1" dirty="0">
              <a:solidFill>
                <a:srgbClr val="000000"/>
              </a:solidFill>
              <a:latin typeface="Arial Bold"/>
              <a:ea typeface="Arial Bold"/>
              <a:cs typeface="Arial Bold"/>
              <a:sym typeface="Arial Bold"/>
            </a:endParaRPr>
          </a:p>
          <a:p>
            <a:pPr>
              <a:lnSpc>
                <a:spcPts val="2640"/>
              </a:lnSpc>
            </a:pPr>
            <a:endParaRPr lang="en-US" sz="2200" b="1" dirty="0">
              <a:solidFill>
                <a:srgbClr val="000000"/>
              </a:solidFill>
              <a:latin typeface="Arial Bold"/>
              <a:ea typeface="Arial Bold"/>
              <a:cs typeface="Arial Bold"/>
              <a:sym typeface="Arial Bold"/>
            </a:endParaRPr>
          </a:p>
        </p:txBody>
      </p:sp>
      <p:sp>
        <p:nvSpPr>
          <p:cNvPr id="24" name="TextBox 21">
            <a:extLst>
              <a:ext uri="{FF2B5EF4-FFF2-40B4-BE49-F238E27FC236}">
                <a16:creationId xmlns:a16="http://schemas.microsoft.com/office/drawing/2014/main" id="{46BE194C-F9F7-FA33-BB9E-CB4315B7A0A6}"/>
              </a:ext>
            </a:extLst>
          </p:cNvPr>
          <p:cNvSpPr txBox="1"/>
          <p:nvPr/>
        </p:nvSpPr>
        <p:spPr>
          <a:xfrm>
            <a:off x="5041506" y="1437569"/>
            <a:ext cx="4055898" cy="4334520"/>
          </a:xfrm>
          <a:prstGeom prst="rect">
            <a:avLst/>
          </a:prstGeom>
        </p:spPr>
        <p:txBody>
          <a:bodyPr wrap="square" lIns="0" tIns="0" rIns="0" bIns="0" rtlCol="0" anchor="t">
            <a:spAutoFit/>
          </a:bodyPr>
          <a:lstStyle/>
          <a:p>
            <a:pPr>
              <a:lnSpc>
                <a:spcPts val="2640"/>
              </a:lnSpc>
            </a:pPr>
            <a:r>
              <a:rPr lang="en-US" sz="2200" b="1" dirty="0">
                <a:solidFill>
                  <a:srgbClr val="808080"/>
                </a:solidFill>
                <a:latin typeface="Arial Bold"/>
                <a:ea typeface="Arial Bold"/>
                <a:cs typeface="Arial Bold"/>
                <a:sym typeface="Arial Bold"/>
              </a:rPr>
              <a:t>05   </a:t>
            </a:r>
            <a:r>
              <a:rPr lang="en-US" sz="2200" b="1" dirty="0" err="1">
                <a:solidFill>
                  <a:srgbClr val="000000"/>
                </a:solidFill>
                <a:latin typeface="Arial Bold"/>
                <a:ea typeface="Arial Bold"/>
                <a:cs typeface="Arial Bold"/>
                <a:sym typeface="Arial Bold"/>
              </a:rPr>
              <a:t>Mô</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hình</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chuyên</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biệt</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RoBERTa</a:t>
            </a:r>
            <a:r>
              <a:rPr lang="en-US" sz="2200" b="1" dirty="0">
                <a:solidFill>
                  <a:srgbClr val="000000"/>
                </a:solidFill>
                <a:latin typeface="Arial Bold"/>
                <a:ea typeface="Arial Bold"/>
                <a:cs typeface="Arial Bold"/>
                <a:sym typeface="Arial Bold"/>
              </a:rPr>
              <a:t> + </a:t>
            </a:r>
            <a:r>
              <a:rPr lang="en-US" sz="2200" b="1" dirty="0" err="1">
                <a:solidFill>
                  <a:srgbClr val="000000"/>
                </a:solidFill>
                <a:latin typeface="Arial Bold"/>
                <a:ea typeface="Arial Bold"/>
                <a:cs typeface="Arial Bold"/>
                <a:sym typeface="Arial Bold"/>
              </a:rPr>
              <a:t>PhoBERT</a:t>
            </a:r>
            <a:r>
              <a:rPr lang="en-US" sz="2200" b="1" dirty="0">
                <a:solidFill>
                  <a:srgbClr val="000000"/>
                </a:solidFill>
                <a:latin typeface="Arial Bold"/>
                <a:ea typeface="Arial Bold"/>
                <a:cs typeface="Arial Bold"/>
                <a:sym typeface="Arial Bold"/>
              </a:rPr>
              <a:t>)</a:t>
            </a:r>
          </a:p>
          <a:p>
            <a:pPr>
              <a:lnSpc>
                <a:spcPts val="2640"/>
              </a:lnSpc>
            </a:pPr>
            <a:endParaRPr lang="en-US" sz="2200" b="1" dirty="0">
              <a:solidFill>
                <a:srgbClr val="000000"/>
              </a:solidFill>
              <a:latin typeface="Arial Bold"/>
              <a:ea typeface="Arial Bold"/>
              <a:cs typeface="Arial Bold"/>
              <a:sym typeface="Arial Bold"/>
            </a:endParaRPr>
          </a:p>
          <a:p>
            <a:pPr>
              <a:lnSpc>
                <a:spcPts val="2640"/>
              </a:lnSpc>
            </a:pPr>
            <a:r>
              <a:rPr lang="en-US" sz="2200" b="1" dirty="0">
                <a:solidFill>
                  <a:srgbClr val="808080"/>
                </a:solidFill>
                <a:latin typeface="Arial Bold"/>
                <a:ea typeface="Arial Bold"/>
                <a:cs typeface="Arial Bold"/>
                <a:sym typeface="Arial Bold"/>
              </a:rPr>
              <a:t>06   </a:t>
            </a:r>
            <a:r>
              <a:rPr lang="en-US" sz="2200" b="1" dirty="0" err="1">
                <a:solidFill>
                  <a:srgbClr val="000000"/>
                </a:solidFill>
                <a:latin typeface="Arial Bold"/>
                <a:ea typeface="Arial Bold"/>
                <a:cs typeface="Arial Bold"/>
                <a:sym typeface="Arial Bold"/>
              </a:rPr>
              <a:t>Kết</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quả</a:t>
            </a:r>
            <a:endParaRPr lang="en-US" sz="2200" b="1" dirty="0">
              <a:solidFill>
                <a:srgbClr val="000000"/>
              </a:solidFill>
              <a:latin typeface="Arial Bold"/>
              <a:ea typeface="Arial Bold"/>
              <a:cs typeface="Arial Bold"/>
              <a:sym typeface="Arial Bold"/>
            </a:endParaRPr>
          </a:p>
          <a:p>
            <a:pPr>
              <a:lnSpc>
                <a:spcPts val="2640"/>
              </a:lnSpc>
            </a:pPr>
            <a:endParaRPr lang="en-US" sz="2200" b="1" dirty="0">
              <a:solidFill>
                <a:srgbClr val="000000"/>
              </a:solidFill>
              <a:latin typeface="Arial Bold"/>
              <a:ea typeface="Arial Bold"/>
              <a:cs typeface="Arial Bold"/>
              <a:sym typeface="Arial Bold"/>
            </a:endParaRPr>
          </a:p>
          <a:p>
            <a:pPr>
              <a:lnSpc>
                <a:spcPts val="2640"/>
              </a:lnSpc>
            </a:pPr>
            <a:r>
              <a:rPr lang="en-US" sz="2200" b="1" dirty="0">
                <a:solidFill>
                  <a:srgbClr val="808080"/>
                </a:solidFill>
                <a:latin typeface="Arial Bold"/>
                <a:ea typeface="Arial Bold"/>
                <a:cs typeface="Arial Bold"/>
                <a:sym typeface="Arial Bold"/>
              </a:rPr>
              <a:t>07   </a:t>
            </a:r>
            <a:r>
              <a:rPr lang="en-US" sz="2200" b="1" dirty="0" err="1">
                <a:solidFill>
                  <a:srgbClr val="000000"/>
                </a:solidFill>
                <a:latin typeface="Arial Bold"/>
                <a:ea typeface="Arial Bold"/>
                <a:cs typeface="Arial Bold"/>
                <a:sym typeface="Arial Bold"/>
              </a:rPr>
              <a:t>Phân</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tích</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đặc</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trưng</a:t>
            </a:r>
            <a:endParaRPr lang="en-US" sz="2200" b="1" dirty="0">
              <a:solidFill>
                <a:srgbClr val="000000"/>
              </a:solidFill>
              <a:latin typeface="Arial Bold"/>
              <a:ea typeface="Arial Bold"/>
              <a:cs typeface="Arial Bold"/>
              <a:sym typeface="Arial Bold"/>
            </a:endParaRPr>
          </a:p>
          <a:p>
            <a:pPr>
              <a:lnSpc>
                <a:spcPts val="2640"/>
              </a:lnSpc>
            </a:pPr>
            <a:endParaRPr lang="en-US" sz="2200" b="1" dirty="0">
              <a:solidFill>
                <a:srgbClr val="000000"/>
              </a:solidFill>
              <a:latin typeface="Arial Bold"/>
              <a:ea typeface="Arial Bold"/>
              <a:cs typeface="Arial Bold"/>
              <a:sym typeface="Arial Bold"/>
            </a:endParaRPr>
          </a:p>
          <a:p>
            <a:pPr>
              <a:lnSpc>
                <a:spcPts val="2640"/>
              </a:lnSpc>
            </a:pPr>
            <a:r>
              <a:rPr lang="en-US" sz="2200" b="1" dirty="0">
                <a:solidFill>
                  <a:srgbClr val="808080"/>
                </a:solidFill>
                <a:latin typeface="Arial Bold"/>
                <a:cs typeface="Arial Bold"/>
                <a:sym typeface="Arial Bold"/>
              </a:rPr>
              <a:t>08</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Kết</a:t>
            </a:r>
            <a:r>
              <a:rPr lang="en-US" sz="2200" b="1" dirty="0">
                <a:solidFill>
                  <a:srgbClr val="000000"/>
                </a:solidFill>
                <a:latin typeface="Arial Bold"/>
                <a:ea typeface="Arial Bold"/>
                <a:cs typeface="Arial Bold"/>
                <a:sym typeface="Arial Bold"/>
              </a:rPr>
              <a:t> </a:t>
            </a:r>
            <a:r>
              <a:rPr lang="en-US" sz="2200" b="1" dirty="0" err="1">
                <a:solidFill>
                  <a:srgbClr val="000000"/>
                </a:solidFill>
                <a:latin typeface="Arial Bold"/>
                <a:ea typeface="Arial Bold"/>
                <a:cs typeface="Arial Bold"/>
                <a:sym typeface="Arial Bold"/>
              </a:rPr>
              <a:t>luận</a:t>
            </a:r>
            <a:endParaRPr lang="en-US" sz="2200" b="1" dirty="0">
              <a:solidFill>
                <a:srgbClr val="000000"/>
              </a:solidFill>
              <a:latin typeface="Arial Bold"/>
              <a:ea typeface="Arial Bold"/>
              <a:cs typeface="Arial Bold"/>
              <a:sym typeface="Arial Bold"/>
            </a:endParaRPr>
          </a:p>
          <a:p>
            <a:pPr>
              <a:lnSpc>
                <a:spcPts val="2640"/>
              </a:lnSpc>
            </a:pPr>
            <a:endParaRPr lang="en-US" sz="2200" b="1" dirty="0">
              <a:solidFill>
                <a:srgbClr val="000000"/>
              </a:solidFill>
              <a:latin typeface="Arial Bold"/>
              <a:ea typeface="Arial Bold"/>
              <a:cs typeface="Arial Bold"/>
              <a:sym typeface="Arial Bold"/>
            </a:endParaRPr>
          </a:p>
          <a:p>
            <a:pPr>
              <a:lnSpc>
                <a:spcPts val="2640"/>
              </a:lnSpc>
            </a:pPr>
            <a:endParaRPr lang="en-US" sz="2200" b="1" dirty="0">
              <a:solidFill>
                <a:srgbClr val="000000"/>
              </a:solidFill>
              <a:latin typeface="Arial Bold"/>
              <a:ea typeface="Arial Bold"/>
              <a:cs typeface="Arial Bold"/>
              <a:sym typeface="Arial Bold"/>
            </a:endParaRPr>
          </a:p>
          <a:p>
            <a:pPr>
              <a:lnSpc>
                <a:spcPts val="2640"/>
              </a:lnSpc>
            </a:pPr>
            <a:endParaRPr lang="en-US" sz="2200" b="1" dirty="0">
              <a:solidFill>
                <a:srgbClr val="000000"/>
              </a:solidFill>
              <a:latin typeface="Arial Bold"/>
              <a:ea typeface="Arial Bold"/>
              <a:cs typeface="Arial Bold"/>
              <a:sym typeface="Arial Bold"/>
            </a:endParaRPr>
          </a:p>
          <a:p>
            <a:pPr>
              <a:lnSpc>
                <a:spcPts val="2640"/>
              </a:lnSpc>
            </a:pPr>
            <a:endParaRPr lang="en-US" sz="2200" b="1" dirty="0">
              <a:solidFill>
                <a:srgbClr val="000000"/>
              </a:solidFill>
              <a:latin typeface="Arial Bold"/>
              <a:ea typeface="Arial Bold"/>
              <a:cs typeface="Arial Bold"/>
              <a:sym typeface="Arial Bold"/>
            </a:endParaRPr>
          </a:p>
          <a:p>
            <a:pPr>
              <a:lnSpc>
                <a:spcPts val="2640"/>
              </a:lnSpc>
            </a:pPr>
            <a:endParaRPr lang="en-US" sz="2200" b="1" dirty="0">
              <a:solidFill>
                <a:srgbClr val="000000"/>
              </a:solidFill>
              <a:latin typeface="Arial Bold"/>
              <a:ea typeface="Arial Bold"/>
              <a:cs typeface="Arial Bold"/>
              <a:sym typeface="Arial Bold"/>
            </a:endParaRPr>
          </a:p>
        </p:txBody>
      </p:sp>
      <p:sp>
        <p:nvSpPr>
          <p:cNvPr id="8" name="TextBox 22">
            <a:extLst>
              <a:ext uri="{FF2B5EF4-FFF2-40B4-BE49-F238E27FC236}">
                <a16:creationId xmlns:a16="http://schemas.microsoft.com/office/drawing/2014/main" id="{EC5FCAA4-4D2C-0876-29EC-7AAA44987216}"/>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9" name="Group 23">
            <a:extLst>
              <a:ext uri="{FF2B5EF4-FFF2-40B4-BE49-F238E27FC236}">
                <a16:creationId xmlns:a16="http://schemas.microsoft.com/office/drawing/2014/main" id="{94622711-26B9-50FF-4368-2FE8F9433C2E}"/>
              </a:ext>
            </a:extLst>
          </p:cNvPr>
          <p:cNvGrpSpPr/>
          <p:nvPr/>
        </p:nvGrpSpPr>
        <p:grpSpPr>
          <a:xfrm>
            <a:off x="0" y="4870323"/>
            <a:ext cx="9144000" cy="274320"/>
            <a:chOff x="0" y="0"/>
            <a:chExt cx="24384000" cy="731520"/>
          </a:xfrm>
        </p:grpSpPr>
        <p:sp>
          <p:nvSpPr>
            <p:cNvPr id="10" name="Freeform 24">
              <a:extLst>
                <a:ext uri="{FF2B5EF4-FFF2-40B4-BE49-F238E27FC236}">
                  <a16:creationId xmlns:a16="http://schemas.microsoft.com/office/drawing/2014/main" id="{7C413309-334C-8C58-FF7F-5F2752886A56}"/>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1" name="TextBox 25">
            <a:extLst>
              <a:ext uri="{FF2B5EF4-FFF2-40B4-BE49-F238E27FC236}">
                <a16:creationId xmlns:a16="http://schemas.microsoft.com/office/drawing/2014/main" id="{DC4DC870-7AF4-A264-3CAF-15FE92495182}"/>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2" name="TextBox 26">
            <a:extLst>
              <a:ext uri="{FF2B5EF4-FFF2-40B4-BE49-F238E27FC236}">
                <a16:creationId xmlns:a16="http://schemas.microsoft.com/office/drawing/2014/main" id="{0A4E0583-BB0D-0A20-66D5-B48EA93B05F8}"/>
              </a:ext>
            </a:extLst>
          </p:cNvPr>
          <p:cNvSpPr txBox="1"/>
          <p:nvPr/>
        </p:nvSpPr>
        <p:spPr>
          <a:xfrm>
            <a:off x="8103474" y="4916519"/>
            <a:ext cx="912237"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2/25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3737172" y="1137955"/>
            <a:ext cx="1623060" cy="1538883"/>
          </a:xfrm>
          <a:prstGeom prst="rect">
            <a:avLst/>
          </a:prstGeom>
        </p:spPr>
        <p:txBody>
          <a:bodyPr lIns="0" tIns="0" rIns="0" bIns="0" rtlCol="0" anchor="t">
            <a:spAutoFit/>
          </a:bodyPr>
          <a:lstStyle/>
          <a:p>
            <a:pPr>
              <a:lnSpc>
                <a:spcPts val="12000"/>
              </a:lnSpc>
            </a:pPr>
            <a:r>
              <a:rPr lang="en-US" sz="10000" b="1">
                <a:solidFill>
                  <a:srgbClr val="0070C0"/>
                </a:solidFill>
                <a:latin typeface="Arimo Bold"/>
                <a:ea typeface="Arimo Bold"/>
                <a:cs typeface="Arimo Bold"/>
                <a:sym typeface="Arimo Bold"/>
              </a:rPr>
              <a:t>01 </a:t>
            </a:r>
          </a:p>
        </p:txBody>
      </p:sp>
      <p:grpSp>
        <p:nvGrpSpPr>
          <p:cNvPr id="7" name="Group 7"/>
          <p:cNvGrpSpPr/>
          <p:nvPr/>
        </p:nvGrpSpPr>
        <p:grpSpPr>
          <a:xfrm>
            <a:off x="3348804" y="2571750"/>
            <a:ext cx="2309100" cy="36000"/>
            <a:chOff x="0" y="0"/>
            <a:chExt cx="6157600" cy="96000"/>
          </a:xfrm>
        </p:grpSpPr>
        <p:sp>
          <p:nvSpPr>
            <p:cNvPr id="8" name="Freeform 8"/>
            <p:cNvSpPr/>
            <p:nvPr/>
          </p:nvSpPr>
          <p:spPr>
            <a:xfrm>
              <a:off x="0" y="0"/>
              <a:ext cx="6157595" cy="96012"/>
            </a:xfrm>
            <a:custGeom>
              <a:avLst/>
              <a:gdLst/>
              <a:ahLst/>
              <a:cxnLst/>
              <a:rect l="l" t="t" r="r" b="b"/>
              <a:pathLst>
                <a:path w="6157595" h="96012">
                  <a:moveTo>
                    <a:pt x="0" y="0"/>
                  </a:moveTo>
                  <a:lnTo>
                    <a:pt x="6157595" y="0"/>
                  </a:lnTo>
                  <a:lnTo>
                    <a:pt x="6157595" y="96012"/>
                  </a:lnTo>
                  <a:lnTo>
                    <a:pt x="0" y="96012"/>
                  </a:lnTo>
                  <a:close/>
                </a:path>
              </a:pathLst>
            </a:custGeom>
            <a:solidFill>
              <a:srgbClr val="0066CC"/>
            </a:solidFill>
          </p:spPr>
          <p:txBody>
            <a:bodyPr/>
            <a:lstStyle/>
            <a:p>
              <a:endParaRPr lang="en-US" sz="900"/>
            </a:p>
          </p:txBody>
        </p:sp>
      </p:grpSp>
      <p:sp>
        <p:nvSpPr>
          <p:cNvPr id="9" name="TextBox 9"/>
          <p:cNvSpPr txBox="1"/>
          <p:nvPr/>
        </p:nvSpPr>
        <p:spPr>
          <a:xfrm>
            <a:off x="2186503" y="2816580"/>
            <a:ext cx="5044290" cy="638188"/>
          </a:xfrm>
          <a:prstGeom prst="rect">
            <a:avLst/>
          </a:prstGeom>
        </p:spPr>
        <p:txBody>
          <a:bodyPr wrap="square" lIns="0" tIns="0" rIns="0" bIns="0" rtlCol="0" anchor="t">
            <a:spAutoFit/>
          </a:bodyPr>
          <a:lstStyle/>
          <a:p>
            <a:pPr>
              <a:lnSpc>
                <a:spcPts val="5280"/>
              </a:lnSpc>
            </a:pPr>
            <a:r>
              <a:rPr lang="en-US" sz="4400" b="1" dirty="0" err="1">
                <a:solidFill>
                  <a:srgbClr val="404040"/>
                </a:solidFill>
                <a:latin typeface="Arial Bold"/>
                <a:ea typeface="Arial Bold"/>
                <a:cs typeface="Arial Bold"/>
                <a:sym typeface="Arial Bold"/>
              </a:rPr>
              <a:t>Phát</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biểu</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bài</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toán</a:t>
            </a:r>
            <a:endParaRPr lang="en-US" sz="4400" b="1" dirty="0">
              <a:solidFill>
                <a:srgbClr val="404040"/>
              </a:solidFill>
              <a:latin typeface="Arial Bold"/>
              <a:ea typeface="Arial Bold"/>
              <a:cs typeface="Arial Bold"/>
              <a:sym typeface="Arial Bold"/>
            </a:endParaRPr>
          </a:p>
        </p:txBody>
      </p:sp>
      <p:sp>
        <p:nvSpPr>
          <p:cNvPr id="15" name="TextBox 22">
            <a:extLst>
              <a:ext uri="{FF2B5EF4-FFF2-40B4-BE49-F238E27FC236}">
                <a16:creationId xmlns:a16="http://schemas.microsoft.com/office/drawing/2014/main" id="{9783ED6C-7A3A-CDA9-318B-676520598973}"/>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6" name="Group 23">
            <a:extLst>
              <a:ext uri="{FF2B5EF4-FFF2-40B4-BE49-F238E27FC236}">
                <a16:creationId xmlns:a16="http://schemas.microsoft.com/office/drawing/2014/main" id="{9FCD6364-2D3F-1AA1-4550-0941272ADFE8}"/>
              </a:ext>
            </a:extLst>
          </p:cNvPr>
          <p:cNvGrpSpPr/>
          <p:nvPr/>
        </p:nvGrpSpPr>
        <p:grpSpPr>
          <a:xfrm>
            <a:off x="0" y="4870323"/>
            <a:ext cx="9144000" cy="274320"/>
            <a:chOff x="0" y="0"/>
            <a:chExt cx="24384000" cy="731520"/>
          </a:xfrm>
        </p:grpSpPr>
        <p:sp>
          <p:nvSpPr>
            <p:cNvPr id="17" name="Freeform 24">
              <a:extLst>
                <a:ext uri="{FF2B5EF4-FFF2-40B4-BE49-F238E27FC236}">
                  <a16:creationId xmlns:a16="http://schemas.microsoft.com/office/drawing/2014/main" id="{5BA9F14D-F33B-A5F0-0CD1-9C0FA5F1364B}"/>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8" name="TextBox 25">
            <a:extLst>
              <a:ext uri="{FF2B5EF4-FFF2-40B4-BE49-F238E27FC236}">
                <a16:creationId xmlns:a16="http://schemas.microsoft.com/office/drawing/2014/main" id="{369848C9-7E7B-A59F-701F-0802AB29EE8C}"/>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9" name="TextBox 26">
            <a:extLst>
              <a:ext uri="{FF2B5EF4-FFF2-40B4-BE49-F238E27FC236}">
                <a16:creationId xmlns:a16="http://schemas.microsoft.com/office/drawing/2014/main" id="{70FEECD4-0D9F-F9F4-4502-B879646F658B}"/>
              </a:ext>
            </a:extLst>
          </p:cNvPr>
          <p:cNvSpPr txBox="1"/>
          <p:nvPr/>
        </p:nvSpPr>
        <p:spPr>
          <a:xfrm>
            <a:off x="8103474" y="4916519"/>
            <a:ext cx="912237"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3/25</a:t>
            </a:r>
          </a:p>
        </p:txBody>
      </p:sp>
      <p:grpSp>
        <p:nvGrpSpPr>
          <p:cNvPr id="22" name="Group 2">
            <a:extLst>
              <a:ext uri="{FF2B5EF4-FFF2-40B4-BE49-F238E27FC236}">
                <a16:creationId xmlns:a16="http://schemas.microsoft.com/office/drawing/2014/main" id="{4E0E4AAD-BE17-0661-6C77-8B1CC233C130}"/>
              </a:ext>
            </a:extLst>
          </p:cNvPr>
          <p:cNvGrpSpPr/>
          <p:nvPr/>
        </p:nvGrpSpPr>
        <p:grpSpPr>
          <a:xfrm>
            <a:off x="7900508" y="116678"/>
            <a:ext cx="486733" cy="486733"/>
            <a:chOff x="0" y="0"/>
            <a:chExt cx="1297955" cy="1297955"/>
          </a:xfrm>
        </p:grpSpPr>
        <p:sp>
          <p:nvSpPr>
            <p:cNvPr id="23" name="Freeform 3">
              <a:extLst>
                <a:ext uri="{FF2B5EF4-FFF2-40B4-BE49-F238E27FC236}">
                  <a16:creationId xmlns:a16="http://schemas.microsoft.com/office/drawing/2014/main" id="{4F08C364-68EC-4DB3-9E87-5C75F1888553}"/>
                </a:ext>
              </a:extLst>
            </p:cNvPr>
            <p:cNvSpPr/>
            <p:nvPr/>
          </p:nvSpPr>
          <p:spPr>
            <a:xfrm>
              <a:off x="0" y="0"/>
              <a:ext cx="1297940" cy="1297940"/>
            </a:xfrm>
            <a:custGeom>
              <a:avLst/>
              <a:gdLst/>
              <a:ahLst/>
              <a:cxnLst/>
              <a:rect l="l" t="t" r="r" b="b"/>
              <a:pathLst>
                <a:path w="1297940" h="1297940">
                  <a:moveTo>
                    <a:pt x="0" y="0"/>
                  </a:moveTo>
                  <a:lnTo>
                    <a:pt x="1297940" y="0"/>
                  </a:lnTo>
                  <a:lnTo>
                    <a:pt x="1297940" y="1297940"/>
                  </a:lnTo>
                  <a:lnTo>
                    <a:pt x="0" y="1297940"/>
                  </a:lnTo>
                  <a:lnTo>
                    <a:pt x="0" y="0"/>
                  </a:lnTo>
                  <a:close/>
                </a:path>
              </a:pathLst>
            </a:custGeom>
            <a:blipFill>
              <a:blip r:embed="rId3"/>
              <a:stretch>
                <a:fillRect r="-1" b="-1"/>
              </a:stretch>
            </a:blipFill>
          </p:spPr>
          <p:txBody>
            <a:bodyPr/>
            <a:lstStyle/>
            <a:p>
              <a:endParaRPr lang="en-US" sz="900"/>
            </a:p>
          </p:txBody>
        </p:sp>
      </p:grpSp>
      <p:grpSp>
        <p:nvGrpSpPr>
          <p:cNvPr id="24" name="Group 4">
            <a:extLst>
              <a:ext uri="{FF2B5EF4-FFF2-40B4-BE49-F238E27FC236}">
                <a16:creationId xmlns:a16="http://schemas.microsoft.com/office/drawing/2014/main" id="{BA9FD8B2-9CBA-D099-4C89-ADCFE9631BAC}"/>
              </a:ext>
            </a:extLst>
          </p:cNvPr>
          <p:cNvGrpSpPr>
            <a:grpSpLocks noChangeAspect="1"/>
          </p:cNvGrpSpPr>
          <p:nvPr/>
        </p:nvGrpSpPr>
        <p:grpSpPr>
          <a:xfrm>
            <a:off x="8528984" y="116678"/>
            <a:ext cx="486733" cy="488906"/>
            <a:chOff x="0" y="0"/>
            <a:chExt cx="1297955" cy="1303749"/>
          </a:xfrm>
        </p:grpSpPr>
        <p:sp>
          <p:nvSpPr>
            <p:cNvPr id="25" name="Freeform 5" descr="Viện Trí tuệ nhân tạo | Hanoi">
              <a:extLst>
                <a:ext uri="{FF2B5EF4-FFF2-40B4-BE49-F238E27FC236}">
                  <a16:creationId xmlns:a16="http://schemas.microsoft.com/office/drawing/2014/main" id="{0ECA0591-581D-A885-2863-078E1EAB3601}"/>
                </a:ext>
              </a:extLst>
            </p:cNvPr>
            <p:cNvSpPr/>
            <p:nvPr/>
          </p:nvSpPr>
          <p:spPr>
            <a:xfrm>
              <a:off x="0" y="0"/>
              <a:ext cx="1297940" cy="1303782"/>
            </a:xfrm>
            <a:custGeom>
              <a:avLst/>
              <a:gdLst/>
              <a:ahLst/>
              <a:cxnLst/>
              <a:rect l="l" t="t" r="r" b="b"/>
              <a:pathLst>
                <a:path w="1297940" h="1303782">
                  <a:moveTo>
                    <a:pt x="0" y="0"/>
                  </a:moveTo>
                  <a:lnTo>
                    <a:pt x="1297940" y="0"/>
                  </a:lnTo>
                  <a:lnTo>
                    <a:pt x="1297940" y="1303782"/>
                  </a:lnTo>
                  <a:lnTo>
                    <a:pt x="0" y="1303782"/>
                  </a:lnTo>
                  <a:lnTo>
                    <a:pt x="0" y="0"/>
                  </a:lnTo>
                  <a:close/>
                </a:path>
              </a:pathLst>
            </a:custGeom>
            <a:blipFill>
              <a:blip r:embed="rId4"/>
              <a:stretch>
                <a:fillRect r="-1" b="2"/>
              </a:stretch>
            </a:blipFill>
          </p:spPr>
          <p:txBody>
            <a:bodyPr/>
            <a:lstStyle/>
            <a:p>
              <a:endParaRPr lang="en-US" sz="90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958CB-0B03-3C3B-EB79-686603A656A2}"/>
            </a:ext>
          </a:extLst>
        </p:cNvPr>
        <p:cNvGrpSpPr/>
        <p:nvPr/>
      </p:nvGrpSpPr>
      <p:grpSpPr>
        <a:xfrm>
          <a:off x="0" y="0"/>
          <a:ext cx="0" cy="0"/>
          <a:chOff x="0" y="0"/>
          <a:chExt cx="0" cy="0"/>
        </a:xfrm>
      </p:grpSpPr>
      <p:grpSp>
        <p:nvGrpSpPr>
          <p:cNvPr id="13" name="Group 25">
            <a:extLst>
              <a:ext uri="{FF2B5EF4-FFF2-40B4-BE49-F238E27FC236}">
                <a16:creationId xmlns:a16="http://schemas.microsoft.com/office/drawing/2014/main" id="{3F4AF3C6-BDA2-9495-370A-038D2751F059}"/>
              </a:ext>
            </a:extLst>
          </p:cNvPr>
          <p:cNvGrpSpPr/>
          <p:nvPr/>
        </p:nvGrpSpPr>
        <p:grpSpPr>
          <a:xfrm>
            <a:off x="699516" y="272606"/>
            <a:ext cx="28575" cy="285368"/>
            <a:chOff x="0" y="0"/>
            <a:chExt cx="76200" cy="760981"/>
          </a:xfrm>
        </p:grpSpPr>
        <p:sp>
          <p:nvSpPr>
            <p:cNvPr id="14" name="Freeform 26">
              <a:extLst>
                <a:ext uri="{FF2B5EF4-FFF2-40B4-BE49-F238E27FC236}">
                  <a16:creationId xmlns:a16="http://schemas.microsoft.com/office/drawing/2014/main" id="{B7BC3599-5F40-74F5-BDDD-D530AC2BFC2C}"/>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3"/>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15" name="TextBox 27">
            <a:extLst>
              <a:ext uri="{FF2B5EF4-FFF2-40B4-BE49-F238E27FC236}">
                <a16:creationId xmlns:a16="http://schemas.microsoft.com/office/drawing/2014/main" id="{3F8106ED-9205-F3CF-133D-4FF527583245}"/>
              </a:ext>
            </a:extLst>
          </p:cNvPr>
          <p:cNvSpPr txBox="1"/>
          <p:nvPr/>
        </p:nvSpPr>
        <p:spPr>
          <a:xfrm>
            <a:off x="812644" y="283464"/>
            <a:ext cx="3105208" cy="294953"/>
          </a:xfrm>
          <a:prstGeom prst="rect">
            <a:avLst/>
          </a:prstGeom>
        </p:spPr>
        <p:txBody>
          <a:bodyPr wrap="square" lIns="0" tIns="0" rIns="0" bIns="0" rtlCol="0" anchor="t">
            <a:spAutoFit/>
          </a:bodyPr>
          <a:lstStyle/>
          <a:p>
            <a:pPr>
              <a:lnSpc>
                <a:spcPts val="2280"/>
              </a:lnSpc>
            </a:pP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Bối</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cảnh</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&amp;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Động</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lực</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16" name="TextBox 28">
            <a:extLst>
              <a:ext uri="{FF2B5EF4-FFF2-40B4-BE49-F238E27FC236}">
                <a16:creationId xmlns:a16="http://schemas.microsoft.com/office/drawing/2014/main" id="{74BA0E45-DB2A-8460-D642-D0C423883807}"/>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1.1</a:t>
            </a:r>
          </a:p>
        </p:txBody>
      </p:sp>
      <p:sp>
        <p:nvSpPr>
          <p:cNvPr id="17" name="TextBox 22">
            <a:extLst>
              <a:ext uri="{FF2B5EF4-FFF2-40B4-BE49-F238E27FC236}">
                <a16:creationId xmlns:a16="http://schemas.microsoft.com/office/drawing/2014/main" id="{30FABED8-FFB6-809C-1BBB-2DB61BE86974}"/>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8" name="Group 23">
            <a:extLst>
              <a:ext uri="{FF2B5EF4-FFF2-40B4-BE49-F238E27FC236}">
                <a16:creationId xmlns:a16="http://schemas.microsoft.com/office/drawing/2014/main" id="{7717885D-F8C3-B56C-BAA9-4BAA45F5982C}"/>
              </a:ext>
            </a:extLst>
          </p:cNvPr>
          <p:cNvGrpSpPr/>
          <p:nvPr/>
        </p:nvGrpSpPr>
        <p:grpSpPr>
          <a:xfrm>
            <a:off x="0" y="4870323"/>
            <a:ext cx="9144000" cy="274320"/>
            <a:chOff x="0" y="0"/>
            <a:chExt cx="24384000" cy="731520"/>
          </a:xfrm>
        </p:grpSpPr>
        <p:sp>
          <p:nvSpPr>
            <p:cNvPr id="19" name="Freeform 24">
              <a:extLst>
                <a:ext uri="{FF2B5EF4-FFF2-40B4-BE49-F238E27FC236}">
                  <a16:creationId xmlns:a16="http://schemas.microsoft.com/office/drawing/2014/main" id="{2BD4C079-96D2-ABC8-25DD-CD9EED182210}"/>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20" name="TextBox 25">
            <a:extLst>
              <a:ext uri="{FF2B5EF4-FFF2-40B4-BE49-F238E27FC236}">
                <a16:creationId xmlns:a16="http://schemas.microsoft.com/office/drawing/2014/main" id="{AB1046F1-1AB6-987E-240D-C132B95ABD1B}"/>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21" name="TextBox 26">
            <a:extLst>
              <a:ext uri="{FF2B5EF4-FFF2-40B4-BE49-F238E27FC236}">
                <a16:creationId xmlns:a16="http://schemas.microsoft.com/office/drawing/2014/main" id="{6F15F41C-44C4-C826-CA18-7DB3C2B96768}"/>
              </a:ext>
            </a:extLst>
          </p:cNvPr>
          <p:cNvSpPr txBox="1"/>
          <p:nvPr/>
        </p:nvSpPr>
        <p:spPr>
          <a:xfrm>
            <a:off x="8103474" y="4916519"/>
            <a:ext cx="912237"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4/25</a:t>
            </a:r>
          </a:p>
        </p:txBody>
      </p:sp>
      <p:sp>
        <p:nvSpPr>
          <p:cNvPr id="2" name="Shape 3">
            <a:extLst>
              <a:ext uri="{FF2B5EF4-FFF2-40B4-BE49-F238E27FC236}">
                <a16:creationId xmlns:a16="http://schemas.microsoft.com/office/drawing/2014/main" id="{7AB9C53C-544C-32C2-CCEC-743D800396C5}"/>
              </a:ext>
            </a:extLst>
          </p:cNvPr>
          <p:cNvSpPr/>
          <p:nvPr/>
        </p:nvSpPr>
        <p:spPr>
          <a:xfrm>
            <a:off x="320040" y="983881"/>
            <a:ext cx="457200" cy="457200"/>
          </a:xfrm>
          <a:prstGeom prst="rect">
            <a:avLst/>
          </a:prstGeom>
          <a:solidFill>
            <a:srgbClr val="1B3A6B"/>
          </a:solidFill>
          <a:ln w="12700">
            <a:solidFill>
              <a:srgbClr val="1B3A6B"/>
            </a:solidFill>
            <a:prstDash val="solid"/>
          </a:ln>
        </p:spPr>
        <p:txBody>
          <a:bodyPr/>
          <a:lstStyle/>
          <a:p>
            <a:endParaRPr lang="en-US">
              <a:latin typeface="Cambria Math" panose="02040503050406030204" pitchFamily="18" charset="0"/>
              <a:ea typeface="Cambria Math" panose="02040503050406030204" pitchFamily="18" charset="0"/>
            </a:endParaRPr>
          </a:p>
        </p:txBody>
      </p:sp>
      <p:sp>
        <p:nvSpPr>
          <p:cNvPr id="3" name="Text 4">
            <a:extLst>
              <a:ext uri="{FF2B5EF4-FFF2-40B4-BE49-F238E27FC236}">
                <a16:creationId xmlns:a16="http://schemas.microsoft.com/office/drawing/2014/main" id="{9D9C98D5-0584-FD27-2A5A-3FACEF95A0A0}"/>
              </a:ext>
            </a:extLst>
          </p:cNvPr>
          <p:cNvSpPr/>
          <p:nvPr/>
        </p:nvSpPr>
        <p:spPr>
          <a:xfrm>
            <a:off x="320040" y="983881"/>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Math" panose="02040503050406030204" pitchFamily="18" charset="0"/>
                <a:ea typeface="Cambria Math" panose="02040503050406030204" pitchFamily="18" charset="0"/>
                <a:cs typeface="Calibri" pitchFamily="34" charset="-120"/>
              </a:rPr>
              <a:t>01</a:t>
            </a:r>
            <a:endParaRPr lang="en-US" sz="1300" dirty="0">
              <a:latin typeface="Cambria Math" panose="02040503050406030204" pitchFamily="18" charset="0"/>
              <a:ea typeface="Cambria Math" panose="02040503050406030204" pitchFamily="18" charset="0"/>
            </a:endParaRPr>
          </a:p>
        </p:txBody>
      </p:sp>
      <p:sp>
        <p:nvSpPr>
          <p:cNvPr id="22" name="Text 5">
            <a:extLst>
              <a:ext uri="{FF2B5EF4-FFF2-40B4-BE49-F238E27FC236}">
                <a16:creationId xmlns:a16="http://schemas.microsoft.com/office/drawing/2014/main" id="{D463DBB8-07C4-BA30-B4CA-E26D6D664728}"/>
              </a:ext>
            </a:extLst>
          </p:cNvPr>
          <p:cNvSpPr/>
          <p:nvPr/>
        </p:nvSpPr>
        <p:spPr>
          <a:xfrm>
            <a:off x="914400" y="983881"/>
            <a:ext cx="4114800" cy="274320"/>
          </a:xfrm>
          <a:prstGeom prst="rect">
            <a:avLst/>
          </a:prstGeom>
          <a:noFill/>
          <a:ln/>
        </p:spPr>
        <p:txBody>
          <a:bodyPr wrap="square" lIns="0" tIns="0" rIns="0" bIns="0" rtlCol="0" anchor="ctr"/>
          <a:lstStyle/>
          <a:p>
            <a:pPr marL="0" indent="0">
              <a:buNone/>
            </a:pPr>
            <a:r>
              <a:rPr lang="en-US" sz="1400" b="1" dirty="0">
                <a:solidFill>
                  <a:srgbClr val="1B3A6B"/>
                </a:solidFill>
                <a:latin typeface="Cambria Math" panose="02040503050406030204" pitchFamily="18" charset="0"/>
                <a:ea typeface="Cambria Math" panose="02040503050406030204" pitchFamily="18" charset="0"/>
                <a:cs typeface="Calibri" pitchFamily="34" charset="-120"/>
              </a:rPr>
              <a:t>Bùng nổ LLM</a:t>
            </a:r>
            <a:endParaRPr lang="en-US" sz="1400" dirty="0">
              <a:latin typeface="Cambria Math" panose="02040503050406030204" pitchFamily="18" charset="0"/>
              <a:ea typeface="Cambria Math" panose="02040503050406030204" pitchFamily="18" charset="0"/>
            </a:endParaRPr>
          </a:p>
        </p:txBody>
      </p:sp>
      <p:sp>
        <p:nvSpPr>
          <p:cNvPr id="23" name="Text 6">
            <a:extLst>
              <a:ext uri="{FF2B5EF4-FFF2-40B4-BE49-F238E27FC236}">
                <a16:creationId xmlns:a16="http://schemas.microsoft.com/office/drawing/2014/main" id="{B79FC24E-1835-94CA-BD0A-965E7E9C0719}"/>
              </a:ext>
            </a:extLst>
          </p:cNvPr>
          <p:cNvSpPr/>
          <p:nvPr/>
        </p:nvSpPr>
        <p:spPr>
          <a:xfrm>
            <a:off x="914400" y="1258201"/>
            <a:ext cx="4114800" cy="320040"/>
          </a:xfrm>
          <a:prstGeom prst="rect">
            <a:avLst/>
          </a:prstGeom>
          <a:noFill/>
          <a:ln/>
        </p:spPr>
        <p:txBody>
          <a:bodyPr wrap="square" lIns="0" tIns="0" rIns="0" bIns="0" rtlCol="0" anchor="ctr"/>
          <a:lstStyle/>
          <a:p>
            <a:pPr marL="0" indent="0">
              <a:buNone/>
            </a:pPr>
            <a:r>
              <a:rPr lang="en-US" sz="1150" dirty="0">
                <a:solidFill>
                  <a:srgbClr val="555566"/>
                </a:solidFill>
                <a:latin typeface="Cambria Math" panose="02040503050406030204" pitchFamily="18" charset="0"/>
                <a:ea typeface="Cambria Math" panose="02040503050406030204" pitchFamily="18" charset="0"/>
                <a:cs typeface="Calibri" pitchFamily="34" charset="-120"/>
              </a:rPr>
              <a:t>ChatGPT, Gemini, Claude... sinh văn bản chất lượng cao, </a:t>
            </a:r>
          </a:p>
          <a:p>
            <a:pPr marL="0" indent="0">
              <a:buNone/>
            </a:pPr>
            <a:r>
              <a:rPr lang="en-US" sz="1150" dirty="0" err="1">
                <a:solidFill>
                  <a:srgbClr val="555566"/>
                </a:solidFill>
                <a:latin typeface="Cambria Math" panose="02040503050406030204" pitchFamily="18" charset="0"/>
                <a:ea typeface="Cambria Math" panose="02040503050406030204" pitchFamily="18" charset="0"/>
                <a:cs typeface="Calibri" pitchFamily="34" charset="-120"/>
              </a:rPr>
              <a:t>tốc</a:t>
            </a:r>
            <a:r>
              <a:rPr lang="en-US" sz="1150" dirty="0">
                <a:solidFill>
                  <a:srgbClr val="555566"/>
                </a:solidFill>
                <a:latin typeface="Cambria Math" panose="02040503050406030204" pitchFamily="18" charset="0"/>
                <a:ea typeface="Cambria Math" panose="02040503050406030204" pitchFamily="18" charset="0"/>
                <a:cs typeface="Calibri" pitchFamily="34" charset="-120"/>
              </a:rPr>
              <a:t> độ lớn</a:t>
            </a:r>
            <a:endParaRPr lang="en-US" sz="1150" dirty="0">
              <a:latin typeface="Cambria Math" panose="02040503050406030204" pitchFamily="18" charset="0"/>
              <a:ea typeface="Cambria Math" panose="02040503050406030204" pitchFamily="18" charset="0"/>
            </a:endParaRPr>
          </a:p>
        </p:txBody>
      </p:sp>
      <p:sp>
        <p:nvSpPr>
          <p:cNvPr id="24" name="Shape 7">
            <a:extLst>
              <a:ext uri="{FF2B5EF4-FFF2-40B4-BE49-F238E27FC236}">
                <a16:creationId xmlns:a16="http://schemas.microsoft.com/office/drawing/2014/main" id="{19E01DED-8669-8ACB-B0EC-237BE4184C16}"/>
              </a:ext>
            </a:extLst>
          </p:cNvPr>
          <p:cNvSpPr/>
          <p:nvPr/>
        </p:nvSpPr>
        <p:spPr>
          <a:xfrm>
            <a:off x="320040" y="2081161"/>
            <a:ext cx="457200" cy="457200"/>
          </a:xfrm>
          <a:prstGeom prst="rect">
            <a:avLst/>
          </a:prstGeom>
          <a:solidFill>
            <a:srgbClr val="1B3A6B"/>
          </a:solidFill>
          <a:ln w="12700">
            <a:solidFill>
              <a:srgbClr val="1B3A6B"/>
            </a:solidFill>
            <a:prstDash val="solid"/>
          </a:ln>
        </p:spPr>
        <p:txBody>
          <a:bodyPr/>
          <a:lstStyle/>
          <a:p>
            <a:endParaRPr lang="en-US">
              <a:latin typeface="Cambria Math" panose="02040503050406030204" pitchFamily="18" charset="0"/>
              <a:ea typeface="Cambria Math" panose="02040503050406030204" pitchFamily="18" charset="0"/>
            </a:endParaRPr>
          </a:p>
        </p:txBody>
      </p:sp>
      <p:sp>
        <p:nvSpPr>
          <p:cNvPr id="25" name="Text 8">
            <a:extLst>
              <a:ext uri="{FF2B5EF4-FFF2-40B4-BE49-F238E27FC236}">
                <a16:creationId xmlns:a16="http://schemas.microsoft.com/office/drawing/2014/main" id="{C128B030-6F9C-7653-F82B-F3E2C7159062}"/>
              </a:ext>
            </a:extLst>
          </p:cNvPr>
          <p:cNvSpPr/>
          <p:nvPr/>
        </p:nvSpPr>
        <p:spPr>
          <a:xfrm>
            <a:off x="320040" y="2081161"/>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Math" panose="02040503050406030204" pitchFamily="18" charset="0"/>
                <a:ea typeface="Cambria Math" panose="02040503050406030204" pitchFamily="18" charset="0"/>
                <a:cs typeface="Calibri" pitchFamily="34" charset="-120"/>
              </a:rPr>
              <a:t>02</a:t>
            </a:r>
            <a:endParaRPr lang="en-US" sz="1300" dirty="0">
              <a:latin typeface="Cambria Math" panose="02040503050406030204" pitchFamily="18" charset="0"/>
              <a:ea typeface="Cambria Math" panose="02040503050406030204" pitchFamily="18" charset="0"/>
            </a:endParaRPr>
          </a:p>
        </p:txBody>
      </p:sp>
      <p:sp>
        <p:nvSpPr>
          <p:cNvPr id="26" name="Text 9">
            <a:extLst>
              <a:ext uri="{FF2B5EF4-FFF2-40B4-BE49-F238E27FC236}">
                <a16:creationId xmlns:a16="http://schemas.microsoft.com/office/drawing/2014/main" id="{D29B423D-97EA-4B5C-A4DC-886BE6134B4D}"/>
              </a:ext>
            </a:extLst>
          </p:cNvPr>
          <p:cNvSpPr/>
          <p:nvPr/>
        </p:nvSpPr>
        <p:spPr>
          <a:xfrm>
            <a:off x="914400" y="2081161"/>
            <a:ext cx="4114800" cy="274320"/>
          </a:xfrm>
          <a:prstGeom prst="rect">
            <a:avLst/>
          </a:prstGeom>
          <a:noFill/>
          <a:ln/>
        </p:spPr>
        <p:txBody>
          <a:bodyPr wrap="square" lIns="0" tIns="0" rIns="0" bIns="0" rtlCol="0" anchor="ctr"/>
          <a:lstStyle/>
          <a:p>
            <a:pPr marL="0" indent="0">
              <a:buNone/>
            </a:pPr>
            <a:r>
              <a:rPr lang="en-US" sz="1400" b="1" dirty="0">
                <a:solidFill>
                  <a:srgbClr val="1B3A6B"/>
                </a:solidFill>
                <a:latin typeface="Cambria Math" panose="02040503050406030204" pitchFamily="18" charset="0"/>
                <a:ea typeface="Cambria Math" panose="02040503050406030204" pitchFamily="18" charset="0"/>
                <a:cs typeface="Calibri" pitchFamily="34" charset="-120"/>
              </a:rPr>
              <a:t>Khó phân biệt</a:t>
            </a:r>
            <a:endParaRPr lang="en-US" sz="1400" dirty="0">
              <a:latin typeface="Cambria Math" panose="02040503050406030204" pitchFamily="18" charset="0"/>
              <a:ea typeface="Cambria Math" panose="02040503050406030204" pitchFamily="18" charset="0"/>
            </a:endParaRPr>
          </a:p>
        </p:txBody>
      </p:sp>
      <p:sp>
        <p:nvSpPr>
          <p:cNvPr id="27" name="Text 10">
            <a:extLst>
              <a:ext uri="{FF2B5EF4-FFF2-40B4-BE49-F238E27FC236}">
                <a16:creationId xmlns:a16="http://schemas.microsoft.com/office/drawing/2014/main" id="{1AE17C6C-A38E-FE52-1805-4A689640D26D}"/>
              </a:ext>
            </a:extLst>
          </p:cNvPr>
          <p:cNvSpPr/>
          <p:nvPr/>
        </p:nvSpPr>
        <p:spPr>
          <a:xfrm>
            <a:off x="914400" y="2355481"/>
            <a:ext cx="4114800" cy="320040"/>
          </a:xfrm>
          <a:prstGeom prst="rect">
            <a:avLst/>
          </a:prstGeom>
          <a:noFill/>
          <a:ln/>
        </p:spPr>
        <p:txBody>
          <a:bodyPr wrap="square" lIns="0" tIns="0" rIns="0" bIns="0" rtlCol="0" anchor="ctr"/>
          <a:lstStyle/>
          <a:p>
            <a:pPr marL="0" indent="0">
              <a:buNone/>
            </a:pPr>
            <a:r>
              <a:rPr lang="en-US" sz="1150" dirty="0">
                <a:solidFill>
                  <a:srgbClr val="555566"/>
                </a:solidFill>
                <a:latin typeface="Cambria Math" panose="02040503050406030204" pitchFamily="18" charset="0"/>
                <a:ea typeface="Cambria Math" panose="02040503050406030204" pitchFamily="18" charset="0"/>
                <a:cs typeface="Calibri" pitchFamily="34" charset="-120"/>
              </a:rPr>
              <a:t>Văn bản AI ngày càng tự nhiên, người đọc thông </a:t>
            </a:r>
            <a:r>
              <a:rPr lang="en-US" sz="1150" dirty="0" err="1">
                <a:solidFill>
                  <a:srgbClr val="555566"/>
                </a:solidFill>
                <a:latin typeface="Cambria Math" panose="02040503050406030204" pitchFamily="18" charset="0"/>
                <a:ea typeface="Cambria Math" panose="02040503050406030204" pitchFamily="18" charset="0"/>
                <a:cs typeface="Calibri" pitchFamily="34" charset="-120"/>
              </a:rPr>
              <a:t>thường</a:t>
            </a:r>
            <a:r>
              <a:rPr lang="en-US" sz="1150" dirty="0">
                <a:solidFill>
                  <a:srgbClr val="555566"/>
                </a:solidFill>
                <a:latin typeface="Cambria Math" panose="02040503050406030204" pitchFamily="18" charset="0"/>
                <a:ea typeface="Cambria Math" panose="02040503050406030204" pitchFamily="18" charset="0"/>
                <a:cs typeface="Calibri" pitchFamily="34" charset="-120"/>
              </a:rPr>
              <a:t> </a:t>
            </a:r>
          </a:p>
          <a:p>
            <a:pPr marL="0" indent="0">
              <a:buNone/>
            </a:pPr>
            <a:r>
              <a:rPr lang="en-US" sz="1150" dirty="0" err="1">
                <a:solidFill>
                  <a:srgbClr val="555566"/>
                </a:solidFill>
                <a:latin typeface="Cambria Math" panose="02040503050406030204" pitchFamily="18" charset="0"/>
                <a:ea typeface="Cambria Math" panose="02040503050406030204" pitchFamily="18" charset="0"/>
                <a:cs typeface="Calibri" pitchFamily="34" charset="-120"/>
              </a:rPr>
              <a:t>khó</a:t>
            </a:r>
            <a:r>
              <a:rPr lang="en-US" sz="1150" dirty="0">
                <a:solidFill>
                  <a:srgbClr val="555566"/>
                </a:solidFill>
                <a:latin typeface="Cambria Math" panose="02040503050406030204" pitchFamily="18" charset="0"/>
                <a:ea typeface="Cambria Math" panose="02040503050406030204" pitchFamily="18" charset="0"/>
                <a:cs typeface="Calibri" pitchFamily="34" charset="-120"/>
              </a:rPr>
              <a:t> nhận ra</a:t>
            </a:r>
            <a:endParaRPr lang="en-US" sz="1150" dirty="0">
              <a:latin typeface="Cambria Math" panose="02040503050406030204" pitchFamily="18" charset="0"/>
              <a:ea typeface="Cambria Math" panose="02040503050406030204" pitchFamily="18" charset="0"/>
            </a:endParaRPr>
          </a:p>
        </p:txBody>
      </p:sp>
      <p:sp>
        <p:nvSpPr>
          <p:cNvPr id="28" name="Shape 11">
            <a:extLst>
              <a:ext uri="{FF2B5EF4-FFF2-40B4-BE49-F238E27FC236}">
                <a16:creationId xmlns:a16="http://schemas.microsoft.com/office/drawing/2014/main" id="{EE575680-27CF-505E-6D49-2F9D99C74DB1}"/>
              </a:ext>
            </a:extLst>
          </p:cNvPr>
          <p:cNvSpPr/>
          <p:nvPr/>
        </p:nvSpPr>
        <p:spPr>
          <a:xfrm>
            <a:off x="320040" y="3178441"/>
            <a:ext cx="457200" cy="457200"/>
          </a:xfrm>
          <a:prstGeom prst="rect">
            <a:avLst/>
          </a:prstGeom>
          <a:solidFill>
            <a:srgbClr val="1B3A6B"/>
          </a:solidFill>
          <a:ln w="12700">
            <a:solidFill>
              <a:srgbClr val="1B3A6B"/>
            </a:solidFill>
            <a:prstDash val="solid"/>
          </a:ln>
        </p:spPr>
        <p:txBody>
          <a:bodyPr/>
          <a:lstStyle/>
          <a:p>
            <a:endParaRPr lang="en-US">
              <a:latin typeface="Cambria Math" panose="02040503050406030204" pitchFamily="18" charset="0"/>
              <a:ea typeface="Cambria Math" panose="02040503050406030204" pitchFamily="18" charset="0"/>
            </a:endParaRPr>
          </a:p>
        </p:txBody>
      </p:sp>
      <p:sp>
        <p:nvSpPr>
          <p:cNvPr id="29" name="Text 12">
            <a:extLst>
              <a:ext uri="{FF2B5EF4-FFF2-40B4-BE49-F238E27FC236}">
                <a16:creationId xmlns:a16="http://schemas.microsoft.com/office/drawing/2014/main" id="{9CBC94A3-5382-90D9-6511-C7CBA7A24788}"/>
              </a:ext>
            </a:extLst>
          </p:cNvPr>
          <p:cNvSpPr/>
          <p:nvPr/>
        </p:nvSpPr>
        <p:spPr>
          <a:xfrm>
            <a:off x="320040" y="3178441"/>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Math" panose="02040503050406030204" pitchFamily="18" charset="0"/>
                <a:ea typeface="Cambria Math" panose="02040503050406030204" pitchFamily="18" charset="0"/>
                <a:cs typeface="Calibri" pitchFamily="34" charset="-120"/>
              </a:rPr>
              <a:t>03</a:t>
            </a:r>
            <a:endParaRPr lang="en-US" sz="1300" dirty="0">
              <a:latin typeface="Cambria Math" panose="02040503050406030204" pitchFamily="18" charset="0"/>
              <a:ea typeface="Cambria Math" panose="02040503050406030204" pitchFamily="18" charset="0"/>
            </a:endParaRPr>
          </a:p>
        </p:txBody>
      </p:sp>
      <p:sp>
        <p:nvSpPr>
          <p:cNvPr id="30" name="Text 13">
            <a:extLst>
              <a:ext uri="{FF2B5EF4-FFF2-40B4-BE49-F238E27FC236}">
                <a16:creationId xmlns:a16="http://schemas.microsoft.com/office/drawing/2014/main" id="{CC292A42-8DC3-4332-C418-597F97AD788D}"/>
              </a:ext>
            </a:extLst>
          </p:cNvPr>
          <p:cNvSpPr/>
          <p:nvPr/>
        </p:nvSpPr>
        <p:spPr>
          <a:xfrm>
            <a:off x="914400" y="3178441"/>
            <a:ext cx="4114800" cy="274320"/>
          </a:xfrm>
          <a:prstGeom prst="rect">
            <a:avLst/>
          </a:prstGeom>
          <a:noFill/>
          <a:ln/>
        </p:spPr>
        <p:txBody>
          <a:bodyPr wrap="square" lIns="0" tIns="0" rIns="0" bIns="0" rtlCol="0" anchor="ctr"/>
          <a:lstStyle/>
          <a:p>
            <a:pPr marL="0" indent="0">
              <a:buNone/>
            </a:pPr>
            <a:r>
              <a:rPr lang="en-US" sz="1400" b="1" dirty="0">
                <a:solidFill>
                  <a:srgbClr val="1B3A6B"/>
                </a:solidFill>
                <a:latin typeface="Cambria Math" panose="02040503050406030204" pitchFamily="18" charset="0"/>
                <a:ea typeface="Cambria Math" panose="02040503050406030204" pitchFamily="18" charset="0"/>
                <a:cs typeface="Calibri" pitchFamily="34" charset="-120"/>
              </a:rPr>
              <a:t>Rủi ro thực tế</a:t>
            </a:r>
            <a:endParaRPr lang="en-US" sz="1400" dirty="0">
              <a:latin typeface="Cambria Math" panose="02040503050406030204" pitchFamily="18" charset="0"/>
              <a:ea typeface="Cambria Math" panose="02040503050406030204" pitchFamily="18" charset="0"/>
            </a:endParaRPr>
          </a:p>
        </p:txBody>
      </p:sp>
      <p:sp>
        <p:nvSpPr>
          <p:cNvPr id="31" name="Text 14">
            <a:extLst>
              <a:ext uri="{FF2B5EF4-FFF2-40B4-BE49-F238E27FC236}">
                <a16:creationId xmlns:a16="http://schemas.microsoft.com/office/drawing/2014/main" id="{D370C3C7-1C14-C770-0FAC-2BACE0D94B96}"/>
              </a:ext>
            </a:extLst>
          </p:cNvPr>
          <p:cNvSpPr/>
          <p:nvPr/>
        </p:nvSpPr>
        <p:spPr>
          <a:xfrm>
            <a:off x="914400" y="3452761"/>
            <a:ext cx="4114800" cy="320040"/>
          </a:xfrm>
          <a:prstGeom prst="rect">
            <a:avLst/>
          </a:prstGeom>
          <a:noFill/>
          <a:ln/>
        </p:spPr>
        <p:txBody>
          <a:bodyPr wrap="square" lIns="0" tIns="0" rIns="0" bIns="0" rtlCol="0" anchor="ctr"/>
          <a:lstStyle/>
          <a:p>
            <a:pPr marL="0" indent="0">
              <a:buNone/>
            </a:pPr>
            <a:r>
              <a:rPr lang="en-US" sz="1150" dirty="0">
                <a:solidFill>
                  <a:srgbClr val="555566"/>
                </a:solidFill>
                <a:latin typeface="Cambria Math" panose="02040503050406030204" pitchFamily="18" charset="0"/>
                <a:ea typeface="Cambria Math" panose="02040503050406030204" pitchFamily="18" charset="0"/>
                <a:cs typeface="Calibri" pitchFamily="34" charset="-120"/>
              </a:rPr>
              <a:t>Gian lận học thuật · Tin giả · Nội dung spam</a:t>
            </a:r>
            <a:endParaRPr lang="en-US" sz="1150" dirty="0">
              <a:latin typeface="Cambria Math" panose="02040503050406030204" pitchFamily="18" charset="0"/>
              <a:ea typeface="Cambria Math" panose="02040503050406030204" pitchFamily="18" charset="0"/>
            </a:endParaRPr>
          </a:p>
        </p:txBody>
      </p:sp>
      <p:sp>
        <p:nvSpPr>
          <p:cNvPr id="32" name="Shape 15">
            <a:extLst>
              <a:ext uri="{FF2B5EF4-FFF2-40B4-BE49-F238E27FC236}">
                <a16:creationId xmlns:a16="http://schemas.microsoft.com/office/drawing/2014/main" id="{22252601-E856-69F1-8ED8-248C436F41D2}"/>
              </a:ext>
            </a:extLst>
          </p:cNvPr>
          <p:cNvSpPr/>
          <p:nvPr/>
        </p:nvSpPr>
        <p:spPr>
          <a:xfrm>
            <a:off x="351692" y="4084554"/>
            <a:ext cx="4663440" cy="384048"/>
          </a:xfrm>
          <a:prstGeom prst="rect">
            <a:avLst/>
          </a:prstGeom>
          <a:solidFill>
            <a:srgbClr val="2E75B6">
              <a:alpha val="15000"/>
            </a:srgbClr>
          </a:solidFill>
          <a:ln w="12700">
            <a:solidFill>
              <a:srgbClr val="2E75B6"/>
            </a:solidFill>
            <a:prstDash val="solid"/>
          </a:ln>
        </p:spPr>
        <p:txBody>
          <a:bodyPr/>
          <a:lstStyle/>
          <a:p>
            <a:endParaRPr lang="en-US">
              <a:latin typeface="Cambria Bold" panose="02040803050406030204" pitchFamily="18" charset="0"/>
              <a:ea typeface="Cambria Math" panose="02040503050406030204" pitchFamily="18" charset="0"/>
            </a:endParaRPr>
          </a:p>
        </p:txBody>
      </p:sp>
      <p:sp>
        <p:nvSpPr>
          <p:cNvPr id="33" name="Text 16">
            <a:extLst>
              <a:ext uri="{FF2B5EF4-FFF2-40B4-BE49-F238E27FC236}">
                <a16:creationId xmlns:a16="http://schemas.microsoft.com/office/drawing/2014/main" id="{9A5B8887-6542-3DE4-9C4F-41557E79F911}"/>
              </a:ext>
            </a:extLst>
          </p:cNvPr>
          <p:cNvSpPr/>
          <p:nvPr/>
        </p:nvSpPr>
        <p:spPr>
          <a:xfrm>
            <a:off x="432582" y="4081740"/>
            <a:ext cx="4480560" cy="384048"/>
          </a:xfrm>
          <a:prstGeom prst="rect">
            <a:avLst/>
          </a:prstGeom>
          <a:noFill/>
          <a:ln/>
        </p:spPr>
        <p:txBody>
          <a:bodyPr wrap="square" lIns="0" tIns="0" rIns="0" bIns="0" rtlCol="0" anchor="ctr"/>
          <a:lstStyle/>
          <a:p>
            <a:pPr marL="0" indent="0">
              <a:buNone/>
            </a:pPr>
            <a:r>
              <a:rPr lang="en-US" sz="1100" b="1" i="1" dirty="0">
                <a:solidFill>
                  <a:srgbClr val="1B3A6B"/>
                </a:solidFill>
                <a:latin typeface="Cambria Bold" panose="02040803050406030204" pitchFamily="18" charset="0"/>
                <a:ea typeface="Cambria Math" panose="02040503050406030204" pitchFamily="18" charset="0"/>
                <a:cs typeface="Calibri" pitchFamily="34" charset="-120"/>
              </a:rPr>
              <a:t>→  Cần công cụ tự động phát hiện văn bản do AI sinh ra</a:t>
            </a:r>
            <a:endParaRPr lang="en-US" sz="1100" dirty="0">
              <a:latin typeface="Cambria Bold" panose="02040803050406030204" pitchFamily="18" charset="0"/>
              <a:ea typeface="Cambria Math" panose="02040503050406030204" pitchFamily="18" charset="0"/>
            </a:endParaRPr>
          </a:p>
        </p:txBody>
      </p:sp>
      <p:pic>
        <p:nvPicPr>
          <p:cNvPr id="36" name="Hình ảnh 35">
            <a:extLst>
              <a:ext uri="{FF2B5EF4-FFF2-40B4-BE49-F238E27FC236}">
                <a16:creationId xmlns:a16="http://schemas.microsoft.com/office/drawing/2014/main" id="{E6D773C7-5797-2B05-AC08-83ECB35399E2}"/>
              </a:ext>
            </a:extLst>
          </p:cNvPr>
          <p:cNvPicPr>
            <a:picLocks noChangeAspect="1"/>
          </p:cNvPicPr>
          <p:nvPr/>
        </p:nvPicPr>
        <p:blipFill>
          <a:blip r:embed="rId4"/>
          <a:stretch>
            <a:fillRect/>
          </a:stretch>
        </p:blipFill>
        <p:spPr>
          <a:xfrm>
            <a:off x="4784853" y="899475"/>
            <a:ext cx="4230858" cy="2820572"/>
          </a:xfrm>
          <a:prstGeom prst="rect">
            <a:avLst/>
          </a:prstGeom>
        </p:spPr>
      </p:pic>
    </p:spTree>
    <p:extLst>
      <p:ext uri="{BB962C8B-B14F-4D97-AF65-F5344CB8AC3E}">
        <p14:creationId xmlns:p14="http://schemas.microsoft.com/office/powerpoint/2010/main" val="2847462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18460" y="726406"/>
            <a:ext cx="8321040" cy="320040"/>
          </a:xfrm>
          <a:prstGeom prst="rect">
            <a:avLst/>
          </a:prstGeom>
          <a:noFill/>
          <a:ln/>
        </p:spPr>
        <p:txBody>
          <a:bodyPr wrap="square" lIns="0" tIns="0" rIns="0" bIns="0" rtlCol="0" anchor="ctr"/>
          <a:lstStyle/>
          <a:p>
            <a:pPr marL="0" indent="0">
              <a:buNone/>
            </a:pPr>
            <a:r>
              <a:rPr lang="en-US" sz="1400" b="1" dirty="0">
                <a:solidFill>
                  <a:srgbClr val="2E75B6"/>
                </a:solidFill>
                <a:latin typeface="Cambria Math" panose="02040503050406030204" pitchFamily="18" charset="0"/>
                <a:ea typeface="Cambria Math" panose="02040503050406030204" pitchFamily="18" charset="0"/>
                <a:cs typeface="Calibri" pitchFamily="34" charset="-120"/>
              </a:rPr>
              <a:t>Bài toán</a:t>
            </a:r>
            <a:endParaRPr lang="en-US" sz="1400" dirty="0">
              <a:latin typeface="Cambria Math" panose="02040503050406030204" pitchFamily="18" charset="0"/>
              <a:ea typeface="Cambria Math" panose="02040503050406030204" pitchFamily="18" charset="0"/>
            </a:endParaRPr>
          </a:p>
        </p:txBody>
      </p:sp>
      <p:sp>
        <p:nvSpPr>
          <p:cNvPr id="5" name="Text 3"/>
          <p:cNvSpPr/>
          <p:nvPr/>
        </p:nvSpPr>
        <p:spPr>
          <a:xfrm>
            <a:off x="318460" y="1064734"/>
            <a:ext cx="8321040" cy="502920"/>
          </a:xfrm>
          <a:prstGeom prst="rect">
            <a:avLst/>
          </a:prstGeom>
          <a:noFill/>
          <a:ln/>
        </p:spPr>
        <p:txBody>
          <a:bodyPr wrap="square" lIns="0" tIns="0" rIns="0" bIns="0" rtlCol="0" anchor="ctr"/>
          <a:lstStyle/>
          <a:p>
            <a:pPr marL="0" indent="0">
              <a:buNone/>
            </a:pPr>
            <a:r>
              <a:rPr lang="en-US" sz="1400" dirty="0">
                <a:solidFill>
                  <a:srgbClr val="1A1A2E"/>
                </a:solidFill>
                <a:latin typeface="Cambria Math" panose="02040503050406030204" pitchFamily="18" charset="0"/>
                <a:ea typeface="Cambria Math" panose="02040503050406030204" pitchFamily="18" charset="0"/>
                <a:cs typeface="Calibri" pitchFamily="34" charset="-120"/>
              </a:rPr>
              <a:t>Xây dựng mô hình phân loại tự động văn bản thành một trong hai nhãn: Human-written hoặc AI-generated, áp dụng cho cả tiếng Anh và tiếng Việt.</a:t>
            </a:r>
            <a:endParaRPr lang="en-US" sz="1400" dirty="0">
              <a:latin typeface="Cambria Math" panose="02040503050406030204" pitchFamily="18" charset="0"/>
              <a:ea typeface="Cambria Math" panose="02040503050406030204" pitchFamily="18" charset="0"/>
            </a:endParaRPr>
          </a:p>
        </p:txBody>
      </p:sp>
      <p:sp>
        <p:nvSpPr>
          <p:cNvPr id="6" name="Shape 4"/>
          <p:cNvSpPr/>
          <p:nvPr/>
        </p:nvSpPr>
        <p:spPr>
          <a:xfrm>
            <a:off x="318460" y="1686526"/>
            <a:ext cx="8321040" cy="0"/>
          </a:xfrm>
          <a:prstGeom prst="line">
            <a:avLst/>
          </a:prstGeom>
          <a:noFill/>
          <a:ln w="6350">
            <a:solidFill>
              <a:srgbClr val="DDDDDD"/>
            </a:solidFill>
            <a:prstDash val="solid"/>
          </a:ln>
        </p:spPr>
        <p:txBody>
          <a:bodyPr/>
          <a:lstStyle/>
          <a:p>
            <a:endParaRPr lang="en-US" sz="1400">
              <a:latin typeface="Cambria Math" panose="02040503050406030204" pitchFamily="18" charset="0"/>
              <a:ea typeface="Cambria Math" panose="02040503050406030204" pitchFamily="18" charset="0"/>
            </a:endParaRPr>
          </a:p>
        </p:txBody>
      </p:sp>
      <p:sp>
        <p:nvSpPr>
          <p:cNvPr id="7" name="Text 5"/>
          <p:cNvSpPr/>
          <p:nvPr/>
        </p:nvSpPr>
        <p:spPr>
          <a:xfrm>
            <a:off x="318460" y="1777966"/>
            <a:ext cx="8321040" cy="320040"/>
          </a:xfrm>
          <a:prstGeom prst="rect">
            <a:avLst/>
          </a:prstGeom>
          <a:noFill/>
          <a:ln/>
        </p:spPr>
        <p:txBody>
          <a:bodyPr wrap="square" lIns="0" tIns="0" rIns="0" bIns="0" rtlCol="0" anchor="ctr"/>
          <a:lstStyle/>
          <a:p>
            <a:pPr marL="0" indent="0">
              <a:buNone/>
            </a:pPr>
            <a:r>
              <a:rPr lang="en-US" sz="1400" b="1" dirty="0">
                <a:solidFill>
                  <a:srgbClr val="2E75B6"/>
                </a:solidFill>
                <a:latin typeface="Cambria Math" panose="02040503050406030204" pitchFamily="18" charset="0"/>
                <a:ea typeface="Cambria Math" panose="02040503050406030204" pitchFamily="18" charset="0"/>
                <a:cs typeface="Calibri" pitchFamily="34" charset="-120"/>
              </a:rPr>
              <a:t>Input</a:t>
            </a:r>
            <a:endParaRPr lang="en-US" sz="1400" dirty="0">
              <a:latin typeface="Cambria Math" panose="02040503050406030204" pitchFamily="18" charset="0"/>
              <a:ea typeface="Cambria Math" panose="02040503050406030204" pitchFamily="18" charset="0"/>
            </a:endParaRPr>
          </a:p>
        </p:txBody>
      </p:sp>
      <p:sp>
        <p:nvSpPr>
          <p:cNvPr id="8" name="Text 6"/>
          <p:cNvSpPr/>
          <p:nvPr/>
        </p:nvSpPr>
        <p:spPr>
          <a:xfrm>
            <a:off x="318460" y="2116294"/>
            <a:ext cx="8321040" cy="502920"/>
          </a:xfrm>
          <a:prstGeom prst="rect">
            <a:avLst/>
          </a:prstGeom>
          <a:noFill/>
          <a:ln/>
        </p:spPr>
        <p:txBody>
          <a:bodyPr wrap="square" lIns="0" tIns="0" rIns="0" bIns="0" rtlCol="0" anchor="ctr"/>
          <a:lstStyle/>
          <a:p>
            <a:pPr marL="0" indent="0">
              <a:buNone/>
            </a:pPr>
            <a:r>
              <a:rPr lang="en-US" sz="1400" dirty="0">
                <a:solidFill>
                  <a:srgbClr val="1A1A2E"/>
                </a:solidFill>
                <a:latin typeface="Cambria Math" panose="02040503050406030204" pitchFamily="18" charset="0"/>
                <a:ea typeface="Cambria Math" panose="02040503050406030204" pitchFamily="18" charset="0"/>
                <a:cs typeface="Calibri" pitchFamily="34" charset="-120"/>
              </a:rPr>
              <a:t>Một đoạn văn bản viết bằng tiếng Anh hoặc tiếng Việt — có thể do người viết hoặc do các mô hình ngôn ngữ lớn (LLM) như ChatGPT, Gemini, Claude, LLaMA... sinh ra.</a:t>
            </a:r>
            <a:endParaRPr lang="en-US" sz="1400" dirty="0">
              <a:latin typeface="Cambria Math" panose="02040503050406030204" pitchFamily="18" charset="0"/>
              <a:ea typeface="Cambria Math" panose="02040503050406030204" pitchFamily="18" charset="0"/>
            </a:endParaRPr>
          </a:p>
        </p:txBody>
      </p:sp>
      <p:sp>
        <p:nvSpPr>
          <p:cNvPr id="9" name="Shape 7"/>
          <p:cNvSpPr/>
          <p:nvPr/>
        </p:nvSpPr>
        <p:spPr>
          <a:xfrm>
            <a:off x="318460" y="2738086"/>
            <a:ext cx="8321040" cy="0"/>
          </a:xfrm>
          <a:prstGeom prst="line">
            <a:avLst/>
          </a:prstGeom>
          <a:noFill/>
          <a:ln w="6350">
            <a:solidFill>
              <a:srgbClr val="DDDDDD"/>
            </a:solidFill>
            <a:prstDash val="solid"/>
          </a:ln>
        </p:spPr>
        <p:txBody>
          <a:bodyPr/>
          <a:lstStyle/>
          <a:p>
            <a:endParaRPr lang="en-US" sz="1400">
              <a:latin typeface="Cambria Math" panose="02040503050406030204" pitchFamily="18" charset="0"/>
              <a:ea typeface="Cambria Math" panose="02040503050406030204" pitchFamily="18" charset="0"/>
            </a:endParaRPr>
          </a:p>
        </p:txBody>
      </p:sp>
      <p:sp>
        <p:nvSpPr>
          <p:cNvPr id="10" name="Text 8"/>
          <p:cNvSpPr/>
          <p:nvPr/>
        </p:nvSpPr>
        <p:spPr>
          <a:xfrm>
            <a:off x="318460" y="2829526"/>
            <a:ext cx="8321040" cy="320040"/>
          </a:xfrm>
          <a:prstGeom prst="rect">
            <a:avLst/>
          </a:prstGeom>
          <a:noFill/>
          <a:ln/>
        </p:spPr>
        <p:txBody>
          <a:bodyPr wrap="square" lIns="0" tIns="0" rIns="0" bIns="0" rtlCol="0" anchor="ctr"/>
          <a:lstStyle/>
          <a:p>
            <a:pPr marL="0" indent="0">
              <a:buNone/>
            </a:pPr>
            <a:r>
              <a:rPr lang="en-US" sz="1400" b="1" dirty="0">
                <a:solidFill>
                  <a:srgbClr val="2E75B6"/>
                </a:solidFill>
                <a:latin typeface="Cambria Math" panose="02040503050406030204" pitchFamily="18" charset="0"/>
                <a:ea typeface="Cambria Math" panose="02040503050406030204" pitchFamily="18" charset="0"/>
                <a:cs typeface="Calibri" pitchFamily="34" charset="-120"/>
              </a:rPr>
              <a:t>Output</a:t>
            </a:r>
            <a:endParaRPr lang="en-US" sz="1400" dirty="0">
              <a:latin typeface="Cambria Math" panose="02040503050406030204" pitchFamily="18" charset="0"/>
              <a:ea typeface="Cambria Math" panose="02040503050406030204" pitchFamily="18" charset="0"/>
            </a:endParaRPr>
          </a:p>
        </p:txBody>
      </p:sp>
      <p:sp>
        <p:nvSpPr>
          <p:cNvPr id="11" name="Text 9"/>
          <p:cNvSpPr/>
          <p:nvPr/>
        </p:nvSpPr>
        <p:spPr>
          <a:xfrm>
            <a:off x="318460" y="3167854"/>
            <a:ext cx="8321040" cy="320040"/>
          </a:xfrm>
          <a:prstGeom prst="rect">
            <a:avLst/>
          </a:prstGeom>
          <a:noFill/>
          <a:ln/>
        </p:spPr>
        <p:txBody>
          <a:bodyPr wrap="square" lIns="0" tIns="0" rIns="0" bIns="0" rtlCol="0" anchor="ctr"/>
          <a:lstStyle/>
          <a:p>
            <a:pPr marL="0" indent="0">
              <a:buNone/>
            </a:pPr>
            <a:r>
              <a:rPr lang="en-US" sz="1400" dirty="0">
                <a:solidFill>
                  <a:srgbClr val="1A1A2E"/>
                </a:solidFill>
                <a:latin typeface="Cambria Math" panose="02040503050406030204" pitchFamily="18" charset="0"/>
                <a:ea typeface="Cambria Math" panose="02040503050406030204" pitchFamily="18" charset="0"/>
                <a:cs typeface="Calibri" pitchFamily="34" charset="-120"/>
              </a:rPr>
              <a:t>Nhãn phân loại nhị phân:  </a:t>
            </a:r>
            <a:r>
              <a:rPr lang="en-US" sz="1400" b="1" dirty="0">
                <a:solidFill>
                  <a:srgbClr val="1B3A6B"/>
                </a:solidFill>
                <a:latin typeface="Cambria Math" panose="02040503050406030204" pitchFamily="18" charset="0"/>
                <a:ea typeface="Cambria Math" panose="02040503050406030204" pitchFamily="18" charset="0"/>
                <a:cs typeface="Calibri" pitchFamily="34" charset="-120"/>
              </a:rPr>
              <a:t>0 — Human-written</a:t>
            </a:r>
            <a:r>
              <a:rPr lang="en-US" sz="1400" dirty="0">
                <a:solidFill>
                  <a:srgbClr val="1A1A2E"/>
                </a:solidFill>
                <a:latin typeface="Cambria Math" panose="02040503050406030204" pitchFamily="18" charset="0"/>
                <a:ea typeface="Cambria Math" panose="02040503050406030204" pitchFamily="18" charset="0"/>
                <a:cs typeface="Calibri" pitchFamily="34" charset="-120"/>
              </a:rPr>
              <a:t>  hoặc  </a:t>
            </a:r>
            <a:r>
              <a:rPr lang="en-US" sz="1400" b="1" dirty="0">
                <a:solidFill>
                  <a:srgbClr val="C55A11"/>
                </a:solidFill>
                <a:latin typeface="Cambria Math" panose="02040503050406030204" pitchFamily="18" charset="0"/>
                <a:ea typeface="Cambria Math" panose="02040503050406030204" pitchFamily="18" charset="0"/>
                <a:cs typeface="Calibri" pitchFamily="34" charset="-120"/>
              </a:rPr>
              <a:t>1 — AI-generated</a:t>
            </a:r>
            <a:endParaRPr lang="en-US" sz="1400" dirty="0">
              <a:latin typeface="Cambria Math" panose="02040503050406030204" pitchFamily="18" charset="0"/>
              <a:ea typeface="Cambria Math" panose="02040503050406030204" pitchFamily="18" charset="0"/>
            </a:endParaRPr>
          </a:p>
        </p:txBody>
      </p:sp>
      <p:sp>
        <p:nvSpPr>
          <p:cNvPr id="12" name="Shape 10"/>
          <p:cNvSpPr/>
          <p:nvPr/>
        </p:nvSpPr>
        <p:spPr>
          <a:xfrm>
            <a:off x="318460" y="3606766"/>
            <a:ext cx="8321040" cy="0"/>
          </a:xfrm>
          <a:prstGeom prst="line">
            <a:avLst/>
          </a:prstGeom>
          <a:noFill/>
          <a:ln w="6350">
            <a:solidFill>
              <a:srgbClr val="DDDDDD"/>
            </a:solidFill>
            <a:prstDash val="solid"/>
          </a:ln>
        </p:spPr>
        <p:txBody>
          <a:bodyPr/>
          <a:lstStyle/>
          <a:p>
            <a:endParaRPr lang="en-US" sz="1400">
              <a:latin typeface="Cambria Math" panose="02040503050406030204" pitchFamily="18" charset="0"/>
              <a:ea typeface="Cambria Math" panose="02040503050406030204" pitchFamily="18" charset="0"/>
            </a:endParaRPr>
          </a:p>
        </p:txBody>
      </p:sp>
      <p:sp>
        <p:nvSpPr>
          <p:cNvPr id="13" name="Text 11"/>
          <p:cNvSpPr/>
          <p:nvPr/>
        </p:nvSpPr>
        <p:spPr>
          <a:xfrm>
            <a:off x="318460" y="3698206"/>
            <a:ext cx="8321040" cy="320040"/>
          </a:xfrm>
          <a:prstGeom prst="rect">
            <a:avLst/>
          </a:prstGeom>
          <a:noFill/>
          <a:ln/>
        </p:spPr>
        <p:txBody>
          <a:bodyPr wrap="square" lIns="0" tIns="0" rIns="0" bIns="0" rtlCol="0" anchor="ctr"/>
          <a:lstStyle/>
          <a:p>
            <a:pPr marL="0" indent="0">
              <a:buNone/>
            </a:pPr>
            <a:r>
              <a:rPr lang="en-US" sz="1400" b="1" dirty="0">
                <a:solidFill>
                  <a:srgbClr val="2E75B6"/>
                </a:solidFill>
                <a:latin typeface="Cambria Math" panose="02040503050406030204" pitchFamily="18" charset="0"/>
                <a:ea typeface="Cambria Math" panose="02040503050406030204" pitchFamily="18" charset="0"/>
                <a:cs typeface="Calibri" pitchFamily="34" charset="-120"/>
              </a:rPr>
              <a:t>Yêu cầu hiệu năng</a:t>
            </a:r>
            <a:endParaRPr lang="en-US" sz="1400" dirty="0">
              <a:latin typeface="Cambria Math" panose="02040503050406030204" pitchFamily="18" charset="0"/>
              <a:ea typeface="Cambria Math" panose="02040503050406030204" pitchFamily="18" charset="0"/>
            </a:endParaRPr>
          </a:p>
        </p:txBody>
      </p:sp>
      <p:sp>
        <p:nvSpPr>
          <p:cNvPr id="14" name="Text 12"/>
          <p:cNvSpPr/>
          <p:nvPr/>
        </p:nvSpPr>
        <p:spPr>
          <a:xfrm>
            <a:off x="318460" y="4036534"/>
            <a:ext cx="8321040" cy="365760"/>
          </a:xfrm>
          <a:prstGeom prst="rect">
            <a:avLst/>
          </a:prstGeom>
          <a:noFill/>
          <a:ln/>
        </p:spPr>
        <p:txBody>
          <a:bodyPr wrap="square" lIns="0" tIns="0" rIns="0" bIns="0" rtlCol="0" anchor="ctr"/>
          <a:lstStyle/>
          <a:p>
            <a:pPr marL="0" indent="0">
              <a:buNone/>
            </a:pPr>
            <a:r>
              <a:rPr lang="en-US" sz="1400" dirty="0">
                <a:solidFill>
                  <a:srgbClr val="1A1A2E"/>
                </a:solidFill>
                <a:latin typeface="Cambria Math" panose="02040503050406030204" pitchFamily="18" charset="0"/>
                <a:ea typeface="Cambria Math" panose="02040503050406030204" pitchFamily="18" charset="0"/>
                <a:cs typeface="Calibri" pitchFamily="34" charset="-120"/>
              </a:rPr>
              <a:t>Đánh giá theo Precision, Recall, F1-score trên từng ngôn ngữ và tổng thể.  Mục tiêu: </a:t>
            </a:r>
            <a:r>
              <a:rPr lang="en-US" sz="1400" b="1" dirty="0">
                <a:solidFill>
                  <a:srgbClr val="1A1A2E"/>
                </a:solidFill>
                <a:latin typeface="Cambria Math" panose="02040503050406030204" pitchFamily="18" charset="0"/>
                <a:ea typeface="Cambria Math" panose="02040503050406030204" pitchFamily="18" charset="0"/>
                <a:cs typeface="Calibri" pitchFamily="34" charset="-120"/>
              </a:rPr>
              <a:t>F1-score ≥ 0.8</a:t>
            </a:r>
            <a:r>
              <a:rPr lang="en-US" sz="1400" dirty="0">
                <a:solidFill>
                  <a:srgbClr val="1A1A2E"/>
                </a:solidFill>
                <a:latin typeface="Cambria Math" panose="02040503050406030204" pitchFamily="18" charset="0"/>
                <a:ea typeface="Cambria Math" panose="02040503050406030204" pitchFamily="18" charset="0"/>
                <a:cs typeface="Calibri" pitchFamily="34" charset="-120"/>
              </a:rPr>
              <a:t>  (macro average).</a:t>
            </a:r>
            <a:endParaRPr lang="en-US" sz="1400" dirty="0">
              <a:latin typeface="Cambria Math" panose="02040503050406030204" pitchFamily="18" charset="0"/>
              <a:ea typeface="Cambria Math" panose="02040503050406030204" pitchFamily="18" charset="0"/>
            </a:endParaRPr>
          </a:p>
        </p:txBody>
      </p:sp>
      <p:grpSp>
        <p:nvGrpSpPr>
          <p:cNvPr id="18" name="Group 25">
            <a:extLst>
              <a:ext uri="{FF2B5EF4-FFF2-40B4-BE49-F238E27FC236}">
                <a16:creationId xmlns:a16="http://schemas.microsoft.com/office/drawing/2014/main" id="{B42EB0B0-E7DF-E7FC-09D2-D3B952241C77}"/>
              </a:ext>
            </a:extLst>
          </p:cNvPr>
          <p:cNvGrpSpPr/>
          <p:nvPr/>
        </p:nvGrpSpPr>
        <p:grpSpPr>
          <a:xfrm>
            <a:off x="699516" y="272606"/>
            <a:ext cx="28575" cy="285368"/>
            <a:chOff x="0" y="0"/>
            <a:chExt cx="76200" cy="760981"/>
          </a:xfrm>
        </p:grpSpPr>
        <p:sp>
          <p:nvSpPr>
            <p:cNvPr id="19" name="Freeform 26">
              <a:extLst>
                <a:ext uri="{FF2B5EF4-FFF2-40B4-BE49-F238E27FC236}">
                  <a16:creationId xmlns:a16="http://schemas.microsoft.com/office/drawing/2014/main" id="{3197BF22-41D1-0BCC-5C68-D56895C4F8CA}"/>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3"/>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20" name="TextBox 27">
            <a:extLst>
              <a:ext uri="{FF2B5EF4-FFF2-40B4-BE49-F238E27FC236}">
                <a16:creationId xmlns:a16="http://schemas.microsoft.com/office/drawing/2014/main" id="{D3B78CA0-6130-8AD9-71B3-47D9B9B0C03B}"/>
              </a:ext>
            </a:extLst>
          </p:cNvPr>
          <p:cNvSpPr txBox="1"/>
          <p:nvPr/>
        </p:nvSpPr>
        <p:spPr>
          <a:xfrm>
            <a:off x="812644" y="283464"/>
            <a:ext cx="3105208" cy="294953"/>
          </a:xfrm>
          <a:prstGeom prst="rect">
            <a:avLst/>
          </a:prstGeom>
        </p:spPr>
        <p:txBody>
          <a:bodyPr wrap="square" lIns="0" tIns="0" rIns="0" bIns="0" rtlCol="0" anchor="t">
            <a:spAutoFit/>
          </a:bodyPr>
          <a:lstStyle/>
          <a:p>
            <a:pPr>
              <a:lnSpc>
                <a:spcPts val="2280"/>
              </a:lnSpc>
            </a:pP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Bài</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toán</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21" name="TextBox 28">
            <a:extLst>
              <a:ext uri="{FF2B5EF4-FFF2-40B4-BE49-F238E27FC236}">
                <a16:creationId xmlns:a16="http://schemas.microsoft.com/office/drawing/2014/main" id="{CE8FED2C-22BC-20BE-31E9-D6C803393BD6}"/>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1.2</a:t>
            </a:r>
          </a:p>
        </p:txBody>
      </p:sp>
      <p:sp>
        <p:nvSpPr>
          <p:cNvPr id="22" name="TextBox 22">
            <a:extLst>
              <a:ext uri="{FF2B5EF4-FFF2-40B4-BE49-F238E27FC236}">
                <a16:creationId xmlns:a16="http://schemas.microsoft.com/office/drawing/2014/main" id="{939C050A-89AC-A926-FD76-25D92ABB3D61}"/>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23" name="Group 23">
            <a:extLst>
              <a:ext uri="{FF2B5EF4-FFF2-40B4-BE49-F238E27FC236}">
                <a16:creationId xmlns:a16="http://schemas.microsoft.com/office/drawing/2014/main" id="{E3AF5910-7226-7DE5-4C35-08D963AA2977}"/>
              </a:ext>
            </a:extLst>
          </p:cNvPr>
          <p:cNvGrpSpPr/>
          <p:nvPr/>
        </p:nvGrpSpPr>
        <p:grpSpPr>
          <a:xfrm>
            <a:off x="0" y="4870323"/>
            <a:ext cx="9144000" cy="274320"/>
            <a:chOff x="0" y="0"/>
            <a:chExt cx="24384000" cy="731520"/>
          </a:xfrm>
        </p:grpSpPr>
        <p:sp>
          <p:nvSpPr>
            <p:cNvPr id="24" name="Freeform 24">
              <a:extLst>
                <a:ext uri="{FF2B5EF4-FFF2-40B4-BE49-F238E27FC236}">
                  <a16:creationId xmlns:a16="http://schemas.microsoft.com/office/drawing/2014/main" id="{1CABBE42-203D-2CAC-8251-E9F942BE969F}"/>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25" name="TextBox 25">
            <a:extLst>
              <a:ext uri="{FF2B5EF4-FFF2-40B4-BE49-F238E27FC236}">
                <a16:creationId xmlns:a16="http://schemas.microsoft.com/office/drawing/2014/main" id="{4C68CC65-8C82-C2EA-6B6D-2BE069A6EB7A}"/>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26" name="TextBox 26">
            <a:extLst>
              <a:ext uri="{FF2B5EF4-FFF2-40B4-BE49-F238E27FC236}">
                <a16:creationId xmlns:a16="http://schemas.microsoft.com/office/drawing/2014/main" id="{E975AB1E-D758-7185-44CB-515DB3584DEA}"/>
              </a:ext>
            </a:extLst>
          </p:cNvPr>
          <p:cNvSpPr txBox="1"/>
          <p:nvPr/>
        </p:nvSpPr>
        <p:spPr>
          <a:xfrm>
            <a:off x="8103474" y="4916519"/>
            <a:ext cx="912237"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5/25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FFCEE-3FAD-CD27-E96E-5E89C310CDD5}"/>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E4FD093A-247B-C696-C453-15FCE7589C94}"/>
              </a:ext>
            </a:extLst>
          </p:cNvPr>
          <p:cNvSpPr txBox="1"/>
          <p:nvPr/>
        </p:nvSpPr>
        <p:spPr>
          <a:xfrm>
            <a:off x="3737172" y="1137955"/>
            <a:ext cx="1623060" cy="1538883"/>
          </a:xfrm>
          <a:prstGeom prst="rect">
            <a:avLst/>
          </a:prstGeom>
        </p:spPr>
        <p:txBody>
          <a:bodyPr lIns="0" tIns="0" rIns="0" bIns="0" rtlCol="0" anchor="t">
            <a:spAutoFit/>
          </a:bodyPr>
          <a:lstStyle/>
          <a:p>
            <a:pPr>
              <a:lnSpc>
                <a:spcPts val="12000"/>
              </a:lnSpc>
            </a:pPr>
            <a:r>
              <a:rPr lang="en-US" sz="10000" b="1" dirty="0">
                <a:solidFill>
                  <a:srgbClr val="0070C0"/>
                </a:solidFill>
                <a:latin typeface="Arimo Bold"/>
                <a:ea typeface="Arimo Bold"/>
                <a:cs typeface="Arimo Bold"/>
                <a:sym typeface="Arimo Bold"/>
              </a:rPr>
              <a:t>02 </a:t>
            </a:r>
          </a:p>
        </p:txBody>
      </p:sp>
      <p:grpSp>
        <p:nvGrpSpPr>
          <p:cNvPr id="7" name="Group 7">
            <a:extLst>
              <a:ext uri="{FF2B5EF4-FFF2-40B4-BE49-F238E27FC236}">
                <a16:creationId xmlns:a16="http://schemas.microsoft.com/office/drawing/2014/main" id="{807EDE50-6770-299B-65C6-69AF2E51657C}"/>
              </a:ext>
            </a:extLst>
          </p:cNvPr>
          <p:cNvGrpSpPr/>
          <p:nvPr/>
        </p:nvGrpSpPr>
        <p:grpSpPr>
          <a:xfrm>
            <a:off x="3348804" y="2571750"/>
            <a:ext cx="2309100" cy="36000"/>
            <a:chOff x="0" y="0"/>
            <a:chExt cx="6157600" cy="96000"/>
          </a:xfrm>
        </p:grpSpPr>
        <p:sp>
          <p:nvSpPr>
            <p:cNvPr id="8" name="Freeform 8">
              <a:extLst>
                <a:ext uri="{FF2B5EF4-FFF2-40B4-BE49-F238E27FC236}">
                  <a16:creationId xmlns:a16="http://schemas.microsoft.com/office/drawing/2014/main" id="{091277BE-0C90-C1D0-16FD-EA886A8FF7B8}"/>
                </a:ext>
              </a:extLst>
            </p:cNvPr>
            <p:cNvSpPr/>
            <p:nvPr/>
          </p:nvSpPr>
          <p:spPr>
            <a:xfrm>
              <a:off x="0" y="0"/>
              <a:ext cx="6157595" cy="96012"/>
            </a:xfrm>
            <a:custGeom>
              <a:avLst/>
              <a:gdLst/>
              <a:ahLst/>
              <a:cxnLst/>
              <a:rect l="l" t="t" r="r" b="b"/>
              <a:pathLst>
                <a:path w="6157595" h="96012">
                  <a:moveTo>
                    <a:pt x="0" y="0"/>
                  </a:moveTo>
                  <a:lnTo>
                    <a:pt x="6157595" y="0"/>
                  </a:lnTo>
                  <a:lnTo>
                    <a:pt x="6157595" y="96012"/>
                  </a:lnTo>
                  <a:lnTo>
                    <a:pt x="0" y="96012"/>
                  </a:lnTo>
                  <a:close/>
                </a:path>
              </a:pathLst>
            </a:custGeom>
            <a:solidFill>
              <a:srgbClr val="0066CC"/>
            </a:solidFill>
          </p:spPr>
          <p:txBody>
            <a:bodyPr/>
            <a:lstStyle/>
            <a:p>
              <a:endParaRPr lang="en-US" sz="900"/>
            </a:p>
          </p:txBody>
        </p:sp>
      </p:grpSp>
      <p:sp>
        <p:nvSpPr>
          <p:cNvPr id="9" name="TextBox 9">
            <a:extLst>
              <a:ext uri="{FF2B5EF4-FFF2-40B4-BE49-F238E27FC236}">
                <a16:creationId xmlns:a16="http://schemas.microsoft.com/office/drawing/2014/main" id="{C78704AE-9C6B-2F0A-3C09-E19DA10219C9}"/>
              </a:ext>
            </a:extLst>
          </p:cNvPr>
          <p:cNvSpPr txBox="1"/>
          <p:nvPr/>
        </p:nvSpPr>
        <p:spPr>
          <a:xfrm>
            <a:off x="2181937" y="2771666"/>
            <a:ext cx="5182500" cy="638188"/>
          </a:xfrm>
          <a:prstGeom prst="rect">
            <a:avLst/>
          </a:prstGeom>
        </p:spPr>
        <p:txBody>
          <a:bodyPr wrap="square" lIns="0" tIns="0" rIns="0" bIns="0" rtlCol="0" anchor="t">
            <a:spAutoFit/>
          </a:bodyPr>
          <a:lstStyle/>
          <a:p>
            <a:pPr>
              <a:lnSpc>
                <a:spcPts val="5280"/>
              </a:lnSpc>
            </a:pPr>
            <a:r>
              <a:rPr lang="en-US" sz="4400" b="1" dirty="0">
                <a:solidFill>
                  <a:srgbClr val="404040"/>
                </a:solidFill>
                <a:latin typeface="Arial Bold"/>
                <a:ea typeface="Arial Bold"/>
                <a:cs typeface="Arial Bold"/>
                <a:sym typeface="Arial Bold"/>
              </a:rPr>
              <a:t>Pipeline </a:t>
            </a:r>
            <a:r>
              <a:rPr lang="en-US" sz="4400" b="1" dirty="0" err="1">
                <a:solidFill>
                  <a:srgbClr val="404040"/>
                </a:solidFill>
                <a:latin typeface="Arial Bold"/>
                <a:ea typeface="Arial Bold"/>
                <a:cs typeface="Arial Bold"/>
                <a:sym typeface="Arial Bold"/>
              </a:rPr>
              <a:t>tổng</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quan</a:t>
            </a:r>
            <a:endParaRPr lang="en-US" sz="4400" b="1" dirty="0">
              <a:solidFill>
                <a:srgbClr val="404040"/>
              </a:solidFill>
              <a:latin typeface="Arial Bold"/>
              <a:ea typeface="Arial Bold"/>
              <a:cs typeface="Arial Bold"/>
              <a:sym typeface="Arial Bold"/>
            </a:endParaRPr>
          </a:p>
        </p:txBody>
      </p:sp>
      <p:sp>
        <p:nvSpPr>
          <p:cNvPr id="15" name="TextBox 22">
            <a:extLst>
              <a:ext uri="{FF2B5EF4-FFF2-40B4-BE49-F238E27FC236}">
                <a16:creationId xmlns:a16="http://schemas.microsoft.com/office/drawing/2014/main" id="{9F346177-8AB3-CD55-03BC-699ABDC5E031}"/>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6" name="Group 23">
            <a:extLst>
              <a:ext uri="{FF2B5EF4-FFF2-40B4-BE49-F238E27FC236}">
                <a16:creationId xmlns:a16="http://schemas.microsoft.com/office/drawing/2014/main" id="{CF996BC1-9CB0-0453-7168-57CFECEFE59F}"/>
              </a:ext>
            </a:extLst>
          </p:cNvPr>
          <p:cNvGrpSpPr/>
          <p:nvPr/>
        </p:nvGrpSpPr>
        <p:grpSpPr>
          <a:xfrm>
            <a:off x="0" y="4870323"/>
            <a:ext cx="9144000" cy="274320"/>
            <a:chOff x="0" y="0"/>
            <a:chExt cx="24384000" cy="731520"/>
          </a:xfrm>
        </p:grpSpPr>
        <p:sp>
          <p:nvSpPr>
            <p:cNvPr id="17" name="Freeform 24">
              <a:extLst>
                <a:ext uri="{FF2B5EF4-FFF2-40B4-BE49-F238E27FC236}">
                  <a16:creationId xmlns:a16="http://schemas.microsoft.com/office/drawing/2014/main" id="{50AE81EB-8F5A-5390-F2E5-83560BFDFD93}"/>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8" name="TextBox 25">
            <a:extLst>
              <a:ext uri="{FF2B5EF4-FFF2-40B4-BE49-F238E27FC236}">
                <a16:creationId xmlns:a16="http://schemas.microsoft.com/office/drawing/2014/main" id="{E2683E26-ECAA-5D30-B907-C9DA8710699F}"/>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9" name="TextBox 26">
            <a:extLst>
              <a:ext uri="{FF2B5EF4-FFF2-40B4-BE49-F238E27FC236}">
                <a16:creationId xmlns:a16="http://schemas.microsoft.com/office/drawing/2014/main" id="{A8F6A962-3082-B19F-582E-EEF0DB865DAD}"/>
              </a:ext>
            </a:extLst>
          </p:cNvPr>
          <p:cNvSpPr txBox="1"/>
          <p:nvPr/>
        </p:nvSpPr>
        <p:spPr>
          <a:xfrm>
            <a:off x="8103474" y="4916519"/>
            <a:ext cx="912237"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6/25</a:t>
            </a:r>
          </a:p>
        </p:txBody>
      </p:sp>
      <p:grpSp>
        <p:nvGrpSpPr>
          <p:cNvPr id="22" name="Group 2">
            <a:extLst>
              <a:ext uri="{FF2B5EF4-FFF2-40B4-BE49-F238E27FC236}">
                <a16:creationId xmlns:a16="http://schemas.microsoft.com/office/drawing/2014/main" id="{4FBF8FC7-DF02-F9CC-2DBD-02FC326BE981}"/>
              </a:ext>
            </a:extLst>
          </p:cNvPr>
          <p:cNvGrpSpPr/>
          <p:nvPr/>
        </p:nvGrpSpPr>
        <p:grpSpPr>
          <a:xfrm>
            <a:off x="7900508" y="116678"/>
            <a:ext cx="486733" cy="486733"/>
            <a:chOff x="0" y="0"/>
            <a:chExt cx="1297955" cy="1297955"/>
          </a:xfrm>
        </p:grpSpPr>
        <p:sp>
          <p:nvSpPr>
            <p:cNvPr id="23" name="Freeform 3">
              <a:extLst>
                <a:ext uri="{FF2B5EF4-FFF2-40B4-BE49-F238E27FC236}">
                  <a16:creationId xmlns:a16="http://schemas.microsoft.com/office/drawing/2014/main" id="{D2A39AAC-C6FC-CB32-54CC-E1FB5D4EE886}"/>
                </a:ext>
              </a:extLst>
            </p:cNvPr>
            <p:cNvSpPr/>
            <p:nvPr/>
          </p:nvSpPr>
          <p:spPr>
            <a:xfrm>
              <a:off x="0" y="0"/>
              <a:ext cx="1297940" cy="1297940"/>
            </a:xfrm>
            <a:custGeom>
              <a:avLst/>
              <a:gdLst/>
              <a:ahLst/>
              <a:cxnLst/>
              <a:rect l="l" t="t" r="r" b="b"/>
              <a:pathLst>
                <a:path w="1297940" h="1297940">
                  <a:moveTo>
                    <a:pt x="0" y="0"/>
                  </a:moveTo>
                  <a:lnTo>
                    <a:pt x="1297940" y="0"/>
                  </a:lnTo>
                  <a:lnTo>
                    <a:pt x="1297940" y="1297940"/>
                  </a:lnTo>
                  <a:lnTo>
                    <a:pt x="0" y="1297940"/>
                  </a:lnTo>
                  <a:lnTo>
                    <a:pt x="0" y="0"/>
                  </a:lnTo>
                  <a:close/>
                </a:path>
              </a:pathLst>
            </a:custGeom>
            <a:blipFill>
              <a:blip r:embed="rId3"/>
              <a:stretch>
                <a:fillRect r="-1" b="-1"/>
              </a:stretch>
            </a:blipFill>
          </p:spPr>
          <p:txBody>
            <a:bodyPr/>
            <a:lstStyle/>
            <a:p>
              <a:endParaRPr lang="en-US" sz="900"/>
            </a:p>
          </p:txBody>
        </p:sp>
      </p:grpSp>
      <p:grpSp>
        <p:nvGrpSpPr>
          <p:cNvPr id="24" name="Group 4">
            <a:extLst>
              <a:ext uri="{FF2B5EF4-FFF2-40B4-BE49-F238E27FC236}">
                <a16:creationId xmlns:a16="http://schemas.microsoft.com/office/drawing/2014/main" id="{958F270C-E627-B1B2-14AA-591191DF9DF2}"/>
              </a:ext>
            </a:extLst>
          </p:cNvPr>
          <p:cNvGrpSpPr>
            <a:grpSpLocks noChangeAspect="1"/>
          </p:cNvGrpSpPr>
          <p:nvPr/>
        </p:nvGrpSpPr>
        <p:grpSpPr>
          <a:xfrm>
            <a:off x="8528984" y="116678"/>
            <a:ext cx="486733" cy="488906"/>
            <a:chOff x="0" y="0"/>
            <a:chExt cx="1297955" cy="1303749"/>
          </a:xfrm>
        </p:grpSpPr>
        <p:sp>
          <p:nvSpPr>
            <p:cNvPr id="25" name="Freeform 5" descr="Viện Trí tuệ nhân tạo | Hanoi">
              <a:extLst>
                <a:ext uri="{FF2B5EF4-FFF2-40B4-BE49-F238E27FC236}">
                  <a16:creationId xmlns:a16="http://schemas.microsoft.com/office/drawing/2014/main" id="{FF57EF65-A88F-6C56-85F4-FD978E0A82A2}"/>
                </a:ext>
              </a:extLst>
            </p:cNvPr>
            <p:cNvSpPr/>
            <p:nvPr/>
          </p:nvSpPr>
          <p:spPr>
            <a:xfrm>
              <a:off x="0" y="0"/>
              <a:ext cx="1297940" cy="1303782"/>
            </a:xfrm>
            <a:custGeom>
              <a:avLst/>
              <a:gdLst/>
              <a:ahLst/>
              <a:cxnLst/>
              <a:rect l="l" t="t" r="r" b="b"/>
              <a:pathLst>
                <a:path w="1297940" h="1303782">
                  <a:moveTo>
                    <a:pt x="0" y="0"/>
                  </a:moveTo>
                  <a:lnTo>
                    <a:pt x="1297940" y="0"/>
                  </a:lnTo>
                  <a:lnTo>
                    <a:pt x="1297940" y="1303782"/>
                  </a:lnTo>
                  <a:lnTo>
                    <a:pt x="0" y="1303782"/>
                  </a:lnTo>
                  <a:lnTo>
                    <a:pt x="0" y="0"/>
                  </a:lnTo>
                  <a:close/>
                </a:path>
              </a:pathLst>
            </a:custGeom>
            <a:blipFill>
              <a:blip r:embed="rId4"/>
              <a:stretch>
                <a:fillRect r="-1" b="2"/>
              </a:stretch>
            </a:blipFill>
          </p:spPr>
          <p:txBody>
            <a:bodyPr/>
            <a:lstStyle/>
            <a:p>
              <a:endParaRPr lang="en-US" sz="900"/>
            </a:p>
          </p:txBody>
        </p:sp>
      </p:grpSp>
    </p:spTree>
    <p:extLst>
      <p:ext uri="{BB962C8B-B14F-4D97-AF65-F5344CB8AC3E}">
        <p14:creationId xmlns:p14="http://schemas.microsoft.com/office/powerpoint/2010/main" val="2038215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618249" y="1405890"/>
            <a:ext cx="1405890" cy="2569464"/>
          </a:xfrm>
          <a:prstGeom prst="rect">
            <a:avLst/>
          </a:prstGeom>
          <a:solidFill>
            <a:srgbClr val="EDF1FB"/>
          </a:solidFill>
          <a:ln w="15875">
            <a:solidFill>
              <a:srgbClr val="1E2761"/>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7" name="Shape 5"/>
          <p:cNvSpPr/>
          <p:nvPr/>
        </p:nvSpPr>
        <p:spPr>
          <a:xfrm>
            <a:off x="618249" y="1405890"/>
            <a:ext cx="1405890" cy="377190"/>
          </a:xfrm>
          <a:prstGeom prst="rect">
            <a:avLst/>
          </a:prstGeom>
          <a:solidFill>
            <a:srgbClr val="1E2761"/>
          </a:solidFill>
          <a:ln/>
        </p:spPr>
        <p:txBody>
          <a:bodyPr/>
          <a:lstStyle/>
          <a:p>
            <a:endParaRPr lang="en-US" sz="1200">
              <a:latin typeface="Cambria Math" panose="02040503050406030204" pitchFamily="18" charset="0"/>
              <a:ea typeface="Cambria Math" panose="02040503050406030204" pitchFamily="18" charset="0"/>
            </a:endParaRPr>
          </a:p>
        </p:txBody>
      </p:sp>
      <p:sp>
        <p:nvSpPr>
          <p:cNvPr id="8" name="Text 6"/>
          <p:cNvSpPr/>
          <p:nvPr/>
        </p:nvSpPr>
        <p:spPr>
          <a:xfrm>
            <a:off x="618249" y="1405890"/>
            <a:ext cx="1405890" cy="377190"/>
          </a:xfrm>
          <a:prstGeom prst="rect">
            <a:avLst/>
          </a:prstGeom>
          <a:noFill/>
          <a:ln/>
        </p:spPr>
        <p:txBody>
          <a:bodyPr wrap="square" lIns="0" tIns="0" rIns="0" bIns="0" rtlCol="0" anchor="ctr"/>
          <a:lstStyle/>
          <a:p>
            <a:pPr algn="ctr"/>
            <a:r>
              <a:rPr lang="en-US" sz="1200" b="1" dirty="0">
                <a:solidFill>
                  <a:srgbClr val="FFFFFF"/>
                </a:solidFill>
                <a:latin typeface="Cambria Math" panose="02040503050406030204" pitchFamily="18" charset="0"/>
                <a:ea typeface="Cambria Math" panose="02040503050406030204" pitchFamily="18" charset="0"/>
                <a:cs typeface="Arial" pitchFamily="34" charset="-120"/>
              </a:rPr>
              <a:t>01</a:t>
            </a:r>
            <a:endParaRPr lang="en-US" sz="1200" dirty="0">
              <a:latin typeface="Cambria Math" panose="02040503050406030204" pitchFamily="18" charset="0"/>
              <a:ea typeface="Cambria Math" panose="02040503050406030204" pitchFamily="18" charset="0"/>
            </a:endParaRPr>
          </a:p>
        </p:txBody>
      </p:sp>
      <p:sp>
        <p:nvSpPr>
          <p:cNvPr id="9" name="Text 7"/>
          <p:cNvSpPr/>
          <p:nvPr/>
        </p:nvSpPr>
        <p:spPr>
          <a:xfrm>
            <a:off x="686829" y="1892808"/>
            <a:ext cx="1268730" cy="274320"/>
          </a:xfrm>
          <a:prstGeom prst="rect">
            <a:avLst/>
          </a:prstGeom>
          <a:noFill/>
          <a:ln/>
        </p:spPr>
        <p:txBody>
          <a:bodyPr wrap="square" lIns="0" tIns="0" rIns="0" bIns="0" rtlCol="0" anchor="t"/>
          <a:lstStyle/>
          <a:p>
            <a:pPr algn="ctr"/>
            <a:r>
              <a:rPr lang="en-US" sz="1200" b="1" dirty="0">
                <a:solidFill>
                  <a:srgbClr val="1A1A1A"/>
                </a:solidFill>
                <a:latin typeface="Cambria Math" panose="02040503050406030204" pitchFamily="18" charset="0"/>
                <a:ea typeface="Cambria Math" panose="02040503050406030204" pitchFamily="18" charset="0"/>
                <a:cs typeface="Arial" pitchFamily="34" charset="-120"/>
              </a:rPr>
              <a:t>Raw Data</a:t>
            </a:r>
            <a:endParaRPr lang="en-US" sz="1200" dirty="0">
              <a:latin typeface="Cambria Math" panose="02040503050406030204" pitchFamily="18" charset="0"/>
              <a:ea typeface="Cambria Math" panose="02040503050406030204" pitchFamily="18" charset="0"/>
            </a:endParaRPr>
          </a:p>
        </p:txBody>
      </p:sp>
      <p:sp>
        <p:nvSpPr>
          <p:cNvPr id="10" name="Text 8"/>
          <p:cNvSpPr/>
          <p:nvPr/>
        </p:nvSpPr>
        <p:spPr>
          <a:xfrm>
            <a:off x="686829" y="2167128"/>
            <a:ext cx="1268730" cy="377190"/>
          </a:xfrm>
          <a:prstGeom prst="rect">
            <a:avLst/>
          </a:prstGeom>
          <a:noFill/>
          <a:ln/>
        </p:spPr>
        <p:txBody>
          <a:bodyPr wrap="square" lIns="0" tIns="0" rIns="0" bIns="0" rtlCol="0" anchor="t"/>
          <a:lstStyle/>
          <a:p>
            <a:pPr algn="ctr"/>
            <a:r>
              <a:rPr lang="en-US" sz="1200" i="1" dirty="0">
                <a:solidFill>
                  <a:srgbClr val="555555"/>
                </a:solidFill>
                <a:latin typeface="Cambria Math" panose="02040503050406030204" pitchFamily="18" charset="0"/>
                <a:ea typeface="Cambria Math" panose="02040503050406030204" pitchFamily="18" charset="0"/>
                <a:cs typeface="Arial" pitchFamily="34" charset="-120"/>
              </a:rPr>
              <a:t>FAIDSet + MAGE</a:t>
            </a:r>
            <a:endParaRPr lang="en-US" sz="1200" dirty="0">
              <a:latin typeface="Cambria Math" panose="02040503050406030204" pitchFamily="18" charset="0"/>
              <a:ea typeface="Cambria Math" panose="02040503050406030204" pitchFamily="18" charset="0"/>
            </a:endParaRPr>
          </a:p>
        </p:txBody>
      </p:sp>
      <p:sp>
        <p:nvSpPr>
          <p:cNvPr id="11" name="Shape 9"/>
          <p:cNvSpPr/>
          <p:nvPr/>
        </p:nvSpPr>
        <p:spPr>
          <a:xfrm>
            <a:off x="741693" y="2551176"/>
            <a:ext cx="1159002" cy="0"/>
          </a:xfrm>
          <a:prstGeom prst="line">
            <a:avLst/>
          </a:prstGeom>
          <a:noFill/>
          <a:ln w="9525">
            <a:solidFill>
              <a:srgbClr val="B5B5B5"/>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2" name="Text 10"/>
          <p:cNvSpPr/>
          <p:nvPr/>
        </p:nvSpPr>
        <p:spPr>
          <a:xfrm>
            <a:off x="727977" y="2633472"/>
            <a:ext cx="1186434" cy="987552"/>
          </a:xfrm>
          <a:prstGeom prst="rect">
            <a:avLst/>
          </a:prstGeom>
          <a:noFill/>
          <a:ln/>
        </p:spPr>
        <p:txBody>
          <a:bodyPr wrap="square" lIns="0" tIns="0" rIns="0" bIns="0" rtlCol="0" anchor="t"/>
          <a:lstStyle/>
          <a:p>
            <a:pPr marL="171450" indent="-171450">
              <a:lnSpc>
                <a:spcPct val="135000"/>
              </a:lnSpc>
              <a:buFont typeface="Cambria Math" panose="02040503050406030204" pitchFamily="18" charset="0"/>
              <a:buChar char="―"/>
            </a:pPr>
            <a:r>
              <a:rPr lang="en-US" sz="1200" dirty="0" err="1">
                <a:solidFill>
                  <a:srgbClr val="262626"/>
                </a:solidFill>
                <a:latin typeface="Cambria Math" panose="02040503050406030204" pitchFamily="18" charset="0"/>
                <a:ea typeface="Cambria Math" panose="02040503050406030204" pitchFamily="18" charset="0"/>
                <a:cs typeface="Arial" pitchFamily="34" charset="-120"/>
              </a:rPr>
              <a:t>FAIDSet</a:t>
            </a:r>
            <a:r>
              <a:rPr lang="en-US" sz="1200" dirty="0">
                <a:solidFill>
                  <a:srgbClr val="262626"/>
                </a:solidFill>
                <a:latin typeface="Cambria Math" panose="02040503050406030204" pitchFamily="18" charset="0"/>
                <a:ea typeface="Cambria Math" panose="02040503050406030204" pitchFamily="18" charset="0"/>
                <a:cs typeface="Arial" pitchFamily="34" charset="-120"/>
              </a:rPr>
              <a:t>: EN + VI</a:t>
            </a:r>
            <a:endParaRPr lang="en-US" sz="1200" dirty="0">
              <a:latin typeface="Cambria Math" panose="02040503050406030204" pitchFamily="18" charset="0"/>
              <a:ea typeface="Cambria Math" panose="02040503050406030204" pitchFamily="18" charset="0"/>
            </a:endParaRPr>
          </a:p>
          <a:p>
            <a:pPr marL="171450" indent="-171450">
              <a:lnSpc>
                <a:spcPct val="135000"/>
              </a:lnSpc>
              <a:buFont typeface="Cambria Math" panose="02040503050406030204" pitchFamily="18" charset="0"/>
              <a:buChar char="―"/>
            </a:pPr>
            <a:r>
              <a:rPr lang="en-US" sz="1200" dirty="0">
                <a:solidFill>
                  <a:srgbClr val="262626"/>
                </a:solidFill>
                <a:latin typeface="Cambria Math" panose="02040503050406030204" pitchFamily="18" charset="0"/>
                <a:ea typeface="Cambria Math" panose="02040503050406030204" pitchFamily="18" charset="0"/>
                <a:cs typeface="Arial" pitchFamily="34" charset="-120"/>
              </a:rPr>
              <a:t>MAGE: EN</a:t>
            </a:r>
            <a:endParaRPr lang="en-US" sz="1200" dirty="0">
              <a:latin typeface="Cambria Math" panose="02040503050406030204" pitchFamily="18" charset="0"/>
              <a:ea typeface="Cambria Math" panose="02040503050406030204" pitchFamily="18" charset="0"/>
            </a:endParaRPr>
          </a:p>
        </p:txBody>
      </p:sp>
      <p:sp>
        <p:nvSpPr>
          <p:cNvPr id="13" name="Text 11"/>
          <p:cNvSpPr/>
          <p:nvPr/>
        </p:nvSpPr>
        <p:spPr>
          <a:xfrm>
            <a:off x="2072145" y="2472309"/>
            <a:ext cx="205740" cy="205740"/>
          </a:xfrm>
          <a:prstGeom prst="rect">
            <a:avLst/>
          </a:prstGeom>
          <a:noFill/>
          <a:ln/>
        </p:spPr>
        <p:txBody>
          <a:bodyPr wrap="square" lIns="0" tIns="0" rIns="0" bIns="0" rtlCol="0" anchor="ctr"/>
          <a:lstStyle/>
          <a:p>
            <a:pPr algn="ctr"/>
            <a:r>
              <a:rPr lang="en-US" sz="1200" b="1" dirty="0">
                <a:solidFill>
                  <a:srgbClr val="2E75B6"/>
                </a:solidFill>
                <a:latin typeface="Cambria Math" panose="02040503050406030204" pitchFamily="18" charset="0"/>
                <a:ea typeface="Cambria Math" panose="02040503050406030204" pitchFamily="18" charset="0"/>
                <a:cs typeface="Arial" pitchFamily="34" charset="-120"/>
              </a:rPr>
              <a:t>▶</a:t>
            </a:r>
            <a:endParaRPr lang="en-US" sz="1200" dirty="0">
              <a:latin typeface="Cambria Math" panose="02040503050406030204" pitchFamily="18" charset="0"/>
              <a:ea typeface="Cambria Math" panose="02040503050406030204" pitchFamily="18" charset="0"/>
            </a:endParaRPr>
          </a:p>
        </p:txBody>
      </p:sp>
      <p:sp>
        <p:nvSpPr>
          <p:cNvPr id="14" name="Shape 12"/>
          <p:cNvSpPr/>
          <p:nvPr/>
        </p:nvSpPr>
        <p:spPr>
          <a:xfrm>
            <a:off x="2243595" y="1405890"/>
            <a:ext cx="1405890" cy="2569464"/>
          </a:xfrm>
          <a:prstGeom prst="rect">
            <a:avLst/>
          </a:prstGeom>
          <a:solidFill>
            <a:srgbClr val="EAF3FB"/>
          </a:solidFill>
          <a:ln w="15875">
            <a:solidFill>
              <a:srgbClr val="2E75B6"/>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5" name="Shape 13"/>
          <p:cNvSpPr/>
          <p:nvPr/>
        </p:nvSpPr>
        <p:spPr>
          <a:xfrm>
            <a:off x="2243595" y="1405890"/>
            <a:ext cx="1405890" cy="377190"/>
          </a:xfrm>
          <a:prstGeom prst="rect">
            <a:avLst/>
          </a:prstGeom>
          <a:solidFill>
            <a:srgbClr val="2E75B6"/>
          </a:solidFill>
          <a:ln/>
        </p:spPr>
        <p:txBody>
          <a:bodyPr/>
          <a:lstStyle/>
          <a:p>
            <a:endParaRPr lang="en-US" sz="1200">
              <a:latin typeface="Cambria Math" panose="02040503050406030204" pitchFamily="18" charset="0"/>
              <a:ea typeface="Cambria Math" panose="02040503050406030204" pitchFamily="18" charset="0"/>
            </a:endParaRPr>
          </a:p>
        </p:txBody>
      </p:sp>
      <p:sp>
        <p:nvSpPr>
          <p:cNvPr id="16" name="Text 14"/>
          <p:cNvSpPr/>
          <p:nvPr/>
        </p:nvSpPr>
        <p:spPr>
          <a:xfrm>
            <a:off x="2243595" y="1405890"/>
            <a:ext cx="1405890" cy="377190"/>
          </a:xfrm>
          <a:prstGeom prst="rect">
            <a:avLst/>
          </a:prstGeom>
          <a:noFill/>
          <a:ln/>
        </p:spPr>
        <p:txBody>
          <a:bodyPr wrap="square" lIns="0" tIns="0" rIns="0" bIns="0" rtlCol="0" anchor="ctr"/>
          <a:lstStyle/>
          <a:p>
            <a:pPr algn="ctr"/>
            <a:r>
              <a:rPr lang="en-US" sz="1200" b="1" dirty="0">
                <a:solidFill>
                  <a:srgbClr val="FFFFFF"/>
                </a:solidFill>
                <a:latin typeface="Cambria Math" panose="02040503050406030204" pitchFamily="18" charset="0"/>
                <a:ea typeface="Cambria Math" panose="02040503050406030204" pitchFamily="18" charset="0"/>
                <a:cs typeface="Arial" pitchFamily="34" charset="-120"/>
              </a:rPr>
              <a:t>02</a:t>
            </a:r>
            <a:endParaRPr lang="en-US" sz="1200" dirty="0">
              <a:latin typeface="Cambria Math" panose="02040503050406030204" pitchFamily="18" charset="0"/>
              <a:ea typeface="Cambria Math" panose="02040503050406030204" pitchFamily="18" charset="0"/>
            </a:endParaRPr>
          </a:p>
        </p:txBody>
      </p:sp>
      <p:sp>
        <p:nvSpPr>
          <p:cNvPr id="17" name="Text 15"/>
          <p:cNvSpPr/>
          <p:nvPr/>
        </p:nvSpPr>
        <p:spPr>
          <a:xfrm>
            <a:off x="2312175" y="1892808"/>
            <a:ext cx="1268730" cy="274320"/>
          </a:xfrm>
          <a:prstGeom prst="rect">
            <a:avLst/>
          </a:prstGeom>
          <a:noFill/>
          <a:ln/>
        </p:spPr>
        <p:txBody>
          <a:bodyPr wrap="square" lIns="0" tIns="0" rIns="0" bIns="0" rtlCol="0" anchor="t"/>
          <a:lstStyle/>
          <a:p>
            <a:pPr algn="ctr"/>
            <a:r>
              <a:rPr lang="en-US" sz="1200" b="1" dirty="0">
                <a:solidFill>
                  <a:srgbClr val="1A1A1A"/>
                </a:solidFill>
                <a:latin typeface="Cambria Math" panose="02040503050406030204" pitchFamily="18" charset="0"/>
                <a:ea typeface="Cambria Math" panose="02040503050406030204" pitchFamily="18" charset="0"/>
                <a:cs typeface="Arial" pitchFamily="34" charset="-120"/>
              </a:rPr>
              <a:t>Tiền xử lý</a:t>
            </a:r>
            <a:endParaRPr lang="en-US" sz="1200" dirty="0">
              <a:latin typeface="Cambria Math" panose="02040503050406030204" pitchFamily="18" charset="0"/>
              <a:ea typeface="Cambria Math" panose="02040503050406030204" pitchFamily="18" charset="0"/>
            </a:endParaRPr>
          </a:p>
        </p:txBody>
      </p:sp>
      <p:sp>
        <p:nvSpPr>
          <p:cNvPr id="18" name="Text 16"/>
          <p:cNvSpPr/>
          <p:nvPr/>
        </p:nvSpPr>
        <p:spPr>
          <a:xfrm>
            <a:off x="2312175" y="2167128"/>
            <a:ext cx="1268730" cy="377190"/>
          </a:xfrm>
          <a:prstGeom prst="rect">
            <a:avLst/>
          </a:prstGeom>
          <a:noFill/>
          <a:ln/>
        </p:spPr>
        <p:txBody>
          <a:bodyPr wrap="square" lIns="0" tIns="0" rIns="0" bIns="0" rtlCol="0" anchor="t"/>
          <a:lstStyle/>
          <a:p>
            <a:pPr algn="ctr"/>
            <a:r>
              <a:rPr lang="en-US" sz="1200" i="1" dirty="0">
                <a:solidFill>
                  <a:srgbClr val="555555"/>
                </a:solidFill>
                <a:latin typeface="Cambria Math" panose="02040503050406030204" pitchFamily="18" charset="0"/>
                <a:ea typeface="Cambria Math" panose="02040503050406030204" pitchFamily="18" charset="0"/>
                <a:cs typeface="Arial" pitchFamily="34" charset="-120"/>
              </a:rPr>
              <a:t>Clean &amp; Filter</a:t>
            </a:r>
            <a:endParaRPr lang="en-US" sz="1200" dirty="0">
              <a:latin typeface="Cambria Math" panose="02040503050406030204" pitchFamily="18" charset="0"/>
              <a:ea typeface="Cambria Math" panose="02040503050406030204" pitchFamily="18" charset="0"/>
            </a:endParaRPr>
          </a:p>
        </p:txBody>
      </p:sp>
      <p:sp>
        <p:nvSpPr>
          <p:cNvPr id="19" name="Shape 17"/>
          <p:cNvSpPr/>
          <p:nvPr/>
        </p:nvSpPr>
        <p:spPr>
          <a:xfrm>
            <a:off x="2367039" y="2551176"/>
            <a:ext cx="1159002" cy="0"/>
          </a:xfrm>
          <a:prstGeom prst="line">
            <a:avLst/>
          </a:prstGeom>
          <a:noFill/>
          <a:ln w="9525">
            <a:solidFill>
              <a:srgbClr val="B5B5B5"/>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20" name="Text 18"/>
          <p:cNvSpPr/>
          <p:nvPr/>
        </p:nvSpPr>
        <p:spPr>
          <a:xfrm>
            <a:off x="2353323" y="2633472"/>
            <a:ext cx="1186434" cy="987552"/>
          </a:xfrm>
          <a:prstGeom prst="rect">
            <a:avLst/>
          </a:prstGeom>
          <a:noFill/>
          <a:ln/>
        </p:spPr>
        <p:txBody>
          <a:bodyPr wrap="square" lIns="0" tIns="0" rIns="0" bIns="0" rtlCol="0" anchor="t"/>
          <a:lstStyle/>
          <a:p>
            <a:pPr marL="171450" indent="-171450">
              <a:lnSpc>
                <a:spcPct val="135000"/>
              </a:lnSpc>
              <a:buFont typeface="Cambria Math" panose="02040503050406030204" pitchFamily="18" charset="0"/>
              <a:buChar char="―"/>
            </a:pPr>
            <a:r>
              <a:rPr lang="en-US" sz="1200" dirty="0" err="1">
                <a:solidFill>
                  <a:srgbClr val="262626"/>
                </a:solidFill>
                <a:latin typeface="Cambria Math" panose="02040503050406030204" pitchFamily="18" charset="0"/>
                <a:ea typeface="Cambria Math" panose="02040503050406030204" pitchFamily="18" charset="0"/>
                <a:cs typeface="Arial" pitchFamily="34" charset="-120"/>
              </a:rPr>
              <a:t>Chuẩn</a:t>
            </a:r>
            <a:r>
              <a:rPr lang="en-US" sz="1200" dirty="0">
                <a:solidFill>
                  <a:srgbClr val="262626"/>
                </a:solidFill>
                <a:latin typeface="Cambria Math" panose="02040503050406030204" pitchFamily="18" charset="0"/>
                <a:ea typeface="Cambria Math" panose="02040503050406030204" pitchFamily="18" charset="0"/>
                <a:cs typeface="Arial" pitchFamily="34" charset="-120"/>
              </a:rPr>
              <a:t> hóa khoảng trắng</a:t>
            </a:r>
            <a:endParaRPr lang="en-US" sz="1200" dirty="0">
              <a:latin typeface="Cambria Math" panose="02040503050406030204" pitchFamily="18" charset="0"/>
              <a:ea typeface="Cambria Math" panose="02040503050406030204" pitchFamily="18" charset="0"/>
            </a:endParaRPr>
          </a:p>
          <a:p>
            <a:pPr marL="171450" indent="-171450">
              <a:lnSpc>
                <a:spcPct val="135000"/>
              </a:lnSpc>
              <a:buFont typeface="Cambria Math" panose="02040503050406030204" pitchFamily="18" charset="0"/>
              <a:buChar char="―"/>
            </a:pPr>
            <a:r>
              <a:rPr lang="en-US" sz="1200" dirty="0" err="1">
                <a:solidFill>
                  <a:srgbClr val="262626"/>
                </a:solidFill>
                <a:latin typeface="Cambria Math" panose="02040503050406030204" pitchFamily="18" charset="0"/>
                <a:ea typeface="Cambria Math" panose="02040503050406030204" pitchFamily="18" charset="0"/>
                <a:cs typeface="Arial" pitchFamily="34" charset="-120"/>
              </a:rPr>
              <a:t>Lọc</a:t>
            </a:r>
            <a:r>
              <a:rPr lang="en-US" sz="1200" dirty="0">
                <a:solidFill>
                  <a:srgbClr val="262626"/>
                </a:solidFill>
                <a:latin typeface="Cambria Math" panose="02040503050406030204" pitchFamily="18" charset="0"/>
                <a:ea typeface="Cambria Math" panose="02040503050406030204" pitchFamily="18" charset="0"/>
                <a:cs typeface="Arial" pitchFamily="34" charset="-120"/>
              </a:rPr>
              <a:t> &lt; 50 ký tự</a:t>
            </a:r>
            <a:endParaRPr lang="en-US" sz="1200" dirty="0">
              <a:latin typeface="Cambria Math" panose="02040503050406030204" pitchFamily="18" charset="0"/>
              <a:ea typeface="Cambria Math" panose="02040503050406030204" pitchFamily="18" charset="0"/>
            </a:endParaRPr>
          </a:p>
          <a:p>
            <a:pPr marL="171450" indent="-171450">
              <a:lnSpc>
                <a:spcPct val="135000"/>
              </a:lnSpc>
              <a:buFont typeface="Cambria Math" panose="02040503050406030204" pitchFamily="18" charset="0"/>
              <a:buChar char="―"/>
            </a:pPr>
            <a:r>
              <a:rPr lang="en-US" sz="1200" dirty="0">
                <a:solidFill>
                  <a:srgbClr val="262626"/>
                </a:solidFill>
                <a:latin typeface="Cambria Math" panose="02040503050406030204" pitchFamily="18" charset="0"/>
                <a:ea typeface="Cambria Math" panose="02040503050406030204" pitchFamily="18" charset="0"/>
                <a:cs typeface="Arial" pitchFamily="34" charset="-120"/>
              </a:rPr>
              <a:t>Word segment (VI)</a:t>
            </a:r>
            <a:endParaRPr lang="en-US" sz="1200" dirty="0">
              <a:latin typeface="Cambria Math" panose="02040503050406030204" pitchFamily="18" charset="0"/>
              <a:ea typeface="Cambria Math" panose="02040503050406030204" pitchFamily="18" charset="0"/>
            </a:endParaRPr>
          </a:p>
        </p:txBody>
      </p:sp>
      <p:sp>
        <p:nvSpPr>
          <p:cNvPr id="21" name="Text 19"/>
          <p:cNvSpPr/>
          <p:nvPr/>
        </p:nvSpPr>
        <p:spPr>
          <a:xfrm>
            <a:off x="3697491" y="2472309"/>
            <a:ext cx="205740" cy="205740"/>
          </a:xfrm>
          <a:prstGeom prst="rect">
            <a:avLst/>
          </a:prstGeom>
          <a:noFill/>
          <a:ln/>
        </p:spPr>
        <p:txBody>
          <a:bodyPr wrap="square" lIns="0" tIns="0" rIns="0" bIns="0" rtlCol="0" anchor="ctr"/>
          <a:lstStyle/>
          <a:p>
            <a:pPr algn="ctr"/>
            <a:r>
              <a:rPr lang="en-US" sz="1200" b="1" dirty="0">
                <a:solidFill>
                  <a:srgbClr val="1F6B3C"/>
                </a:solidFill>
                <a:latin typeface="Cambria Math" panose="02040503050406030204" pitchFamily="18" charset="0"/>
                <a:ea typeface="Cambria Math" panose="02040503050406030204" pitchFamily="18" charset="0"/>
                <a:cs typeface="Arial" pitchFamily="34" charset="-120"/>
              </a:rPr>
              <a:t>▶</a:t>
            </a:r>
            <a:endParaRPr lang="en-US" sz="1200" dirty="0">
              <a:latin typeface="Cambria Math" panose="02040503050406030204" pitchFamily="18" charset="0"/>
              <a:ea typeface="Cambria Math" panose="02040503050406030204" pitchFamily="18" charset="0"/>
            </a:endParaRPr>
          </a:p>
        </p:txBody>
      </p:sp>
      <p:sp>
        <p:nvSpPr>
          <p:cNvPr id="22" name="Shape 20"/>
          <p:cNvSpPr/>
          <p:nvPr/>
        </p:nvSpPr>
        <p:spPr>
          <a:xfrm>
            <a:off x="3868941" y="1405890"/>
            <a:ext cx="1405890" cy="2569464"/>
          </a:xfrm>
          <a:prstGeom prst="rect">
            <a:avLst/>
          </a:prstGeom>
          <a:solidFill>
            <a:srgbClr val="EAF6EE"/>
          </a:solidFill>
          <a:ln w="15875">
            <a:solidFill>
              <a:srgbClr val="1F6B3C"/>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23" name="Shape 21"/>
          <p:cNvSpPr/>
          <p:nvPr/>
        </p:nvSpPr>
        <p:spPr>
          <a:xfrm>
            <a:off x="3868941" y="1405890"/>
            <a:ext cx="1405890" cy="377190"/>
          </a:xfrm>
          <a:prstGeom prst="rect">
            <a:avLst/>
          </a:prstGeom>
          <a:solidFill>
            <a:srgbClr val="1F6B3C"/>
          </a:solidFill>
          <a:ln/>
        </p:spPr>
        <p:txBody>
          <a:bodyPr/>
          <a:lstStyle/>
          <a:p>
            <a:endParaRPr lang="en-US" sz="1200">
              <a:latin typeface="Cambria Math" panose="02040503050406030204" pitchFamily="18" charset="0"/>
              <a:ea typeface="Cambria Math" panose="02040503050406030204" pitchFamily="18" charset="0"/>
            </a:endParaRPr>
          </a:p>
        </p:txBody>
      </p:sp>
      <p:sp>
        <p:nvSpPr>
          <p:cNvPr id="24" name="Text 22"/>
          <p:cNvSpPr/>
          <p:nvPr/>
        </p:nvSpPr>
        <p:spPr>
          <a:xfrm>
            <a:off x="3868941" y="1405890"/>
            <a:ext cx="1405890" cy="377190"/>
          </a:xfrm>
          <a:prstGeom prst="rect">
            <a:avLst/>
          </a:prstGeom>
          <a:noFill/>
          <a:ln/>
        </p:spPr>
        <p:txBody>
          <a:bodyPr wrap="square" lIns="0" tIns="0" rIns="0" bIns="0" rtlCol="0" anchor="ctr"/>
          <a:lstStyle/>
          <a:p>
            <a:pPr algn="ctr"/>
            <a:r>
              <a:rPr lang="en-US" sz="1200" b="1" dirty="0">
                <a:solidFill>
                  <a:srgbClr val="FFFFFF"/>
                </a:solidFill>
                <a:latin typeface="Cambria Math" panose="02040503050406030204" pitchFamily="18" charset="0"/>
                <a:ea typeface="Cambria Math" panose="02040503050406030204" pitchFamily="18" charset="0"/>
                <a:cs typeface="Arial" pitchFamily="34" charset="-120"/>
              </a:rPr>
              <a:t>03</a:t>
            </a:r>
            <a:endParaRPr lang="en-US" sz="1200" dirty="0">
              <a:latin typeface="Cambria Math" panose="02040503050406030204" pitchFamily="18" charset="0"/>
              <a:ea typeface="Cambria Math" panose="02040503050406030204" pitchFamily="18" charset="0"/>
            </a:endParaRPr>
          </a:p>
        </p:txBody>
      </p:sp>
      <p:sp>
        <p:nvSpPr>
          <p:cNvPr id="25" name="Text 23"/>
          <p:cNvSpPr/>
          <p:nvPr/>
        </p:nvSpPr>
        <p:spPr>
          <a:xfrm>
            <a:off x="3937521" y="1892808"/>
            <a:ext cx="1268730" cy="274320"/>
          </a:xfrm>
          <a:prstGeom prst="rect">
            <a:avLst/>
          </a:prstGeom>
          <a:noFill/>
          <a:ln/>
        </p:spPr>
        <p:txBody>
          <a:bodyPr wrap="square" lIns="0" tIns="0" rIns="0" bIns="0" rtlCol="0" anchor="t"/>
          <a:lstStyle/>
          <a:p>
            <a:pPr algn="ctr"/>
            <a:r>
              <a:rPr lang="en-US" sz="1200" b="1" dirty="0">
                <a:solidFill>
                  <a:srgbClr val="1A1A1A"/>
                </a:solidFill>
                <a:latin typeface="Cambria Math" panose="02040503050406030204" pitchFamily="18" charset="0"/>
                <a:ea typeface="Cambria Math" panose="02040503050406030204" pitchFamily="18" charset="0"/>
                <a:cs typeface="Arial" pitchFamily="34" charset="-120"/>
              </a:rPr>
              <a:t>Mô hình</a:t>
            </a:r>
            <a:endParaRPr lang="en-US" sz="1200" dirty="0">
              <a:latin typeface="Cambria Math" panose="02040503050406030204" pitchFamily="18" charset="0"/>
              <a:ea typeface="Cambria Math" panose="02040503050406030204" pitchFamily="18" charset="0"/>
            </a:endParaRPr>
          </a:p>
        </p:txBody>
      </p:sp>
      <p:sp>
        <p:nvSpPr>
          <p:cNvPr id="26" name="Text 24"/>
          <p:cNvSpPr/>
          <p:nvPr/>
        </p:nvSpPr>
        <p:spPr>
          <a:xfrm>
            <a:off x="3937521" y="2167128"/>
            <a:ext cx="1268730" cy="377190"/>
          </a:xfrm>
          <a:prstGeom prst="rect">
            <a:avLst/>
          </a:prstGeom>
          <a:noFill/>
          <a:ln/>
        </p:spPr>
        <p:txBody>
          <a:bodyPr wrap="square" lIns="0" tIns="0" rIns="0" bIns="0" rtlCol="0" anchor="t"/>
          <a:lstStyle/>
          <a:p>
            <a:pPr algn="ctr"/>
            <a:r>
              <a:rPr lang="en-US" sz="1200" i="1" dirty="0">
                <a:solidFill>
                  <a:srgbClr val="555555"/>
                </a:solidFill>
                <a:latin typeface="Cambria Math" panose="02040503050406030204" pitchFamily="18" charset="0"/>
                <a:ea typeface="Cambria Math" panose="02040503050406030204" pitchFamily="18" charset="0"/>
                <a:cs typeface="Arial" pitchFamily="34" charset="-120"/>
              </a:rPr>
              <a:t>2 Model song song</a:t>
            </a:r>
            <a:endParaRPr lang="en-US" sz="1200" dirty="0">
              <a:latin typeface="Cambria Math" panose="02040503050406030204" pitchFamily="18" charset="0"/>
              <a:ea typeface="Cambria Math" panose="02040503050406030204" pitchFamily="18" charset="0"/>
            </a:endParaRPr>
          </a:p>
        </p:txBody>
      </p:sp>
      <p:sp>
        <p:nvSpPr>
          <p:cNvPr id="27" name="Shape 25"/>
          <p:cNvSpPr/>
          <p:nvPr/>
        </p:nvSpPr>
        <p:spPr>
          <a:xfrm>
            <a:off x="3992385" y="2551176"/>
            <a:ext cx="1159002" cy="0"/>
          </a:xfrm>
          <a:prstGeom prst="line">
            <a:avLst/>
          </a:prstGeom>
          <a:noFill/>
          <a:ln w="9525">
            <a:solidFill>
              <a:srgbClr val="B5B5B5"/>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28" name="Text 26"/>
          <p:cNvSpPr/>
          <p:nvPr/>
        </p:nvSpPr>
        <p:spPr>
          <a:xfrm>
            <a:off x="3978669" y="2633472"/>
            <a:ext cx="1186434" cy="987552"/>
          </a:xfrm>
          <a:prstGeom prst="rect">
            <a:avLst/>
          </a:prstGeom>
          <a:noFill/>
          <a:ln/>
        </p:spPr>
        <p:txBody>
          <a:bodyPr wrap="square" lIns="0" tIns="0" rIns="0" bIns="0" rtlCol="0" anchor="t"/>
          <a:lstStyle/>
          <a:p>
            <a:pPr marL="171450" indent="-171450">
              <a:lnSpc>
                <a:spcPct val="135000"/>
              </a:lnSpc>
              <a:buFont typeface="Cambria Math" panose="02040503050406030204" pitchFamily="18" charset="0"/>
              <a:buChar char="―"/>
            </a:pPr>
            <a:r>
              <a:rPr lang="en-US" sz="1200" dirty="0">
                <a:solidFill>
                  <a:srgbClr val="262626"/>
                </a:solidFill>
                <a:latin typeface="Cambria Math" panose="02040503050406030204" pitchFamily="18" charset="0"/>
                <a:ea typeface="Cambria Math" panose="02040503050406030204" pitchFamily="18" charset="0"/>
                <a:cs typeface="Arial" pitchFamily="34" charset="-120"/>
              </a:rPr>
              <a:t>XLM-</a:t>
            </a:r>
            <a:r>
              <a:rPr lang="en-US" sz="1200" dirty="0" err="1">
                <a:solidFill>
                  <a:srgbClr val="262626"/>
                </a:solidFill>
                <a:latin typeface="Cambria Math" panose="02040503050406030204" pitchFamily="18" charset="0"/>
                <a:ea typeface="Cambria Math" panose="02040503050406030204" pitchFamily="18" charset="0"/>
                <a:cs typeface="Arial" pitchFamily="34" charset="-120"/>
              </a:rPr>
              <a:t>RoBERTa</a:t>
            </a:r>
            <a:r>
              <a:rPr lang="en-US" sz="1200" dirty="0">
                <a:solidFill>
                  <a:srgbClr val="262626"/>
                </a:solidFill>
                <a:latin typeface="Cambria Math" panose="02040503050406030204" pitchFamily="18" charset="0"/>
                <a:ea typeface="Cambria Math" panose="02040503050406030204" pitchFamily="18" charset="0"/>
                <a:cs typeface="Arial" pitchFamily="34" charset="-120"/>
              </a:rPr>
              <a:t> (EN+VI)</a:t>
            </a:r>
            <a:endParaRPr lang="en-US" sz="1200" dirty="0">
              <a:latin typeface="Cambria Math" panose="02040503050406030204" pitchFamily="18" charset="0"/>
              <a:ea typeface="Cambria Math" panose="02040503050406030204" pitchFamily="18" charset="0"/>
            </a:endParaRPr>
          </a:p>
          <a:p>
            <a:pPr marL="171450" indent="-171450">
              <a:lnSpc>
                <a:spcPct val="135000"/>
              </a:lnSpc>
              <a:buFont typeface="Cambria Math" panose="02040503050406030204" pitchFamily="18" charset="0"/>
              <a:buChar char="―"/>
            </a:pPr>
            <a:r>
              <a:rPr lang="en-US" sz="1200" dirty="0" err="1">
                <a:solidFill>
                  <a:srgbClr val="262626"/>
                </a:solidFill>
                <a:latin typeface="Cambria Math" panose="02040503050406030204" pitchFamily="18" charset="0"/>
                <a:ea typeface="Cambria Math" panose="02040503050406030204" pitchFamily="18" charset="0"/>
                <a:cs typeface="Arial" pitchFamily="34" charset="-120"/>
              </a:rPr>
              <a:t>RoBERTa</a:t>
            </a:r>
            <a:r>
              <a:rPr lang="en-US" sz="1200" dirty="0">
                <a:solidFill>
                  <a:srgbClr val="262626"/>
                </a:solidFill>
                <a:latin typeface="Cambria Math" panose="02040503050406030204" pitchFamily="18" charset="0"/>
                <a:ea typeface="Cambria Math" panose="02040503050406030204" pitchFamily="18" charset="0"/>
                <a:cs typeface="Arial" pitchFamily="34" charset="-120"/>
              </a:rPr>
              <a:t> + PhoBERT</a:t>
            </a:r>
            <a:endParaRPr lang="en-US" sz="1200" dirty="0">
              <a:latin typeface="Cambria Math" panose="02040503050406030204" pitchFamily="18" charset="0"/>
              <a:ea typeface="Cambria Math" panose="02040503050406030204" pitchFamily="18" charset="0"/>
            </a:endParaRPr>
          </a:p>
        </p:txBody>
      </p:sp>
      <p:sp>
        <p:nvSpPr>
          <p:cNvPr id="29" name="Text 27"/>
          <p:cNvSpPr/>
          <p:nvPr/>
        </p:nvSpPr>
        <p:spPr>
          <a:xfrm>
            <a:off x="5322837" y="2472309"/>
            <a:ext cx="205740" cy="205740"/>
          </a:xfrm>
          <a:prstGeom prst="rect">
            <a:avLst/>
          </a:prstGeom>
          <a:noFill/>
          <a:ln/>
        </p:spPr>
        <p:txBody>
          <a:bodyPr wrap="square" lIns="0" tIns="0" rIns="0" bIns="0" rtlCol="0" anchor="ctr"/>
          <a:lstStyle/>
          <a:p>
            <a:pPr algn="ctr"/>
            <a:r>
              <a:rPr lang="en-US" sz="1200" b="1" dirty="0">
                <a:solidFill>
                  <a:srgbClr val="B0001A"/>
                </a:solidFill>
                <a:latin typeface="Cambria Math" panose="02040503050406030204" pitchFamily="18" charset="0"/>
                <a:ea typeface="Cambria Math" panose="02040503050406030204" pitchFamily="18" charset="0"/>
                <a:cs typeface="Arial" pitchFamily="34" charset="-120"/>
              </a:rPr>
              <a:t>▶</a:t>
            </a:r>
            <a:endParaRPr lang="en-US" sz="1200" dirty="0">
              <a:latin typeface="Cambria Math" panose="02040503050406030204" pitchFamily="18" charset="0"/>
              <a:ea typeface="Cambria Math" panose="02040503050406030204" pitchFamily="18" charset="0"/>
            </a:endParaRPr>
          </a:p>
        </p:txBody>
      </p:sp>
      <p:sp>
        <p:nvSpPr>
          <p:cNvPr id="30" name="Shape 28"/>
          <p:cNvSpPr/>
          <p:nvPr/>
        </p:nvSpPr>
        <p:spPr>
          <a:xfrm>
            <a:off x="5494287" y="1405890"/>
            <a:ext cx="1405890" cy="2569464"/>
          </a:xfrm>
          <a:prstGeom prst="rect">
            <a:avLst/>
          </a:prstGeom>
          <a:solidFill>
            <a:srgbClr val="FCEAEC"/>
          </a:solidFill>
          <a:ln w="15875">
            <a:solidFill>
              <a:srgbClr val="B0001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31" name="Shape 29"/>
          <p:cNvSpPr/>
          <p:nvPr/>
        </p:nvSpPr>
        <p:spPr>
          <a:xfrm>
            <a:off x="5494287" y="1405890"/>
            <a:ext cx="1405890" cy="377190"/>
          </a:xfrm>
          <a:prstGeom prst="rect">
            <a:avLst/>
          </a:prstGeom>
          <a:solidFill>
            <a:srgbClr val="B0001A"/>
          </a:solidFill>
          <a:ln/>
        </p:spPr>
        <p:txBody>
          <a:bodyPr/>
          <a:lstStyle/>
          <a:p>
            <a:endParaRPr lang="en-US" sz="1200">
              <a:latin typeface="Cambria Math" panose="02040503050406030204" pitchFamily="18" charset="0"/>
              <a:ea typeface="Cambria Math" panose="02040503050406030204" pitchFamily="18" charset="0"/>
            </a:endParaRPr>
          </a:p>
        </p:txBody>
      </p:sp>
      <p:sp>
        <p:nvSpPr>
          <p:cNvPr id="32" name="Text 30"/>
          <p:cNvSpPr/>
          <p:nvPr/>
        </p:nvSpPr>
        <p:spPr>
          <a:xfrm>
            <a:off x="5494287" y="1405890"/>
            <a:ext cx="1405890" cy="377190"/>
          </a:xfrm>
          <a:prstGeom prst="rect">
            <a:avLst/>
          </a:prstGeom>
          <a:noFill/>
          <a:ln/>
        </p:spPr>
        <p:txBody>
          <a:bodyPr wrap="square" lIns="0" tIns="0" rIns="0" bIns="0" rtlCol="0" anchor="ctr"/>
          <a:lstStyle/>
          <a:p>
            <a:pPr algn="ctr"/>
            <a:r>
              <a:rPr lang="en-US" sz="1200" b="1" dirty="0">
                <a:solidFill>
                  <a:srgbClr val="FFFFFF"/>
                </a:solidFill>
                <a:latin typeface="Cambria Math" panose="02040503050406030204" pitchFamily="18" charset="0"/>
                <a:ea typeface="Cambria Math" panose="02040503050406030204" pitchFamily="18" charset="0"/>
                <a:cs typeface="Arial" pitchFamily="34" charset="-120"/>
              </a:rPr>
              <a:t>04</a:t>
            </a:r>
            <a:endParaRPr lang="en-US" sz="1200" dirty="0">
              <a:latin typeface="Cambria Math" panose="02040503050406030204" pitchFamily="18" charset="0"/>
              <a:ea typeface="Cambria Math" panose="02040503050406030204" pitchFamily="18" charset="0"/>
            </a:endParaRPr>
          </a:p>
        </p:txBody>
      </p:sp>
      <p:sp>
        <p:nvSpPr>
          <p:cNvPr id="33" name="Text 31"/>
          <p:cNvSpPr/>
          <p:nvPr/>
        </p:nvSpPr>
        <p:spPr>
          <a:xfrm>
            <a:off x="5562867" y="1892808"/>
            <a:ext cx="1268730" cy="274320"/>
          </a:xfrm>
          <a:prstGeom prst="rect">
            <a:avLst/>
          </a:prstGeom>
          <a:noFill/>
          <a:ln/>
        </p:spPr>
        <p:txBody>
          <a:bodyPr wrap="square" lIns="0" tIns="0" rIns="0" bIns="0" rtlCol="0" anchor="t"/>
          <a:lstStyle/>
          <a:p>
            <a:pPr algn="ctr"/>
            <a:r>
              <a:rPr lang="en-US" sz="1200" b="1" dirty="0">
                <a:solidFill>
                  <a:srgbClr val="1A1A1A"/>
                </a:solidFill>
                <a:latin typeface="Cambria Math" panose="02040503050406030204" pitchFamily="18" charset="0"/>
                <a:ea typeface="Cambria Math" panose="02040503050406030204" pitchFamily="18" charset="0"/>
                <a:cs typeface="Arial" pitchFamily="34" charset="-120"/>
              </a:rPr>
              <a:t>Đánh giá</a:t>
            </a:r>
            <a:endParaRPr lang="en-US" sz="1200" dirty="0">
              <a:latin typeface="Cambria Math" panose="02040503050406030204" pitchFamily="18" charset="0"/>
              <a:ea typeface="Cambria Math" panose="02040503050406030204" pitchFamily="18" charset="0"/>
            </a:endParaRPr>
          </a:p>
        </p:txBody>
      </p:sp>
      <p:sp>
        <p:nvSpPr>
          <p:cNvPr id="34" name="Text 32"/>
          <p:cNvSpPr/>
          <p:nvPr/>
        </p:nvSpPr>
        <p:spPr>
          <a:xfrm>
            <a:off x="5562867" y="2167128"/>
            <a:ext cx="1268730" cy="377190"/>
          </a:xfrm>
          <a:prstGeom prst="rect">
            <a:avLst/>
          </a:prstGeom>
          <a:noFill/>
          <a:ln/>
        </p:spPr>
        <p:txBody>
          <a:bodyPr wrap="square" lIns="0" tIns="0" rIns="0" bIns="0" rtlCol="0" anchor="t"/>
          <a:lstStyle/>
          <a:p>
            <a:pPr algn="ctr"/>
            <a:r>
              <a:rPr lang="en-US" sz="1200" i="1" dirty="0">
                <a:solidFill>
                  <a:srgbClr val="555555"/>
                </a:solidFill>
                <a:latin typeface="Cambria Math" panose="02040503050406030204" pitchFamily="18" charset="0"/>
                <a:ea typeface="Cambria Math" panose="02040503050406030204" pitchFamily="18" charset="0"/>
                <a:cs typeface="Arial" pitchFamily="34" charset="-120"/>
              </a:rPr>
              <a:t>Precision · Recall · F1</a:t>
            </a:r>
            <a:endParaRPr lang="en-US" sz="1200" dirty="0">
              <a:latin typeface="Cambria Math" panose="02040503050406030204" pitchFamily="18" charset="0"/>
              <a:ea typeface="Cambria Math" panose="02040503050406030204" pitchFamily="18" charset="0"/>
            </a:endParaRPr>
          </a:p>
        </p:txBody>
      </p:sp>
      <p:sp>
        <p:nvSpPr>
          <p:cNvPr id="35" name="Shape 33"/>
          <p:cNvSpPr/>
          <p:nvPr/>
        </p:nvSpPr>
        <p:spPr>
          <a:xfrm>
            <a:off x="5617731" y="2551176"/>
            <a:ext cx="1159002" cy="0"/>
          </a:xfrm>
          <a:prstGeom prst="line">
            <a:avLst/>
          </a:prstGeom>
          <a:noFill/>
          <a:ln w="9525">
            <a:solidFill>
              <a:srgbClr val="B5B5B5"/>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36" name="Text 34"/>
          <p:cNvSpPr/>
          <p:nvPr/>
        </p:nvSpPr>
        <p:spPr>
          <a:xfrm>
            <a:off x="5604015" y="2633472"/>
            <a:ext cx="1186434" cy="987552"/>
          </a:xfrm>
          <a:prstGeom prst="rect">
            <a:avLst/>
          </a:prstGeom>
          <a:noFill/>
          <a:ln/>
        </p:spPr>
        <p:txBody>
          <a:bodyPr wrap="square" lIns="0" tIns="0" rIns="0" bIns="0" rtlCol="0" anchor="t"/>
          <a:lstStyle/>
          <a:p>
            <a:pPr marL="171450" indent="-171450">
              <a:lnSpc>
                <a:spcPct val="135000"/>
              </a:lnSpc>
              <a:buFont typeface="Cambria Math" panose="02040503050406030204" pitchFamily="18" charset="0"/>
              <a:buChar char="―"/>
            </a:pPr>
            <a:r>
              <a:rPr lang="en-US" sz="1200" dirty="0">
                <a:solidFill>
                  <a:srgbClr val="262626"/>
                </a:solidFill>
                <a:latin typeface="Cambria Math" panose="02040503050406030204" pitchFamily="18" charset="0"/>
                <a:ea typeface="Cambria Math" panose="02040503050406030204" pitchFamily="18" charset="0"/>
                <a:cs typeface="Arial" pitchFamily="34" charset="-120"/>
              </a:rPr>
              <a:t>Theo từng ngôn ngữ</a:t>
            </a:r>
            <a:endParaRPr lang="en-US" sz="1200" dirty="0">
              <a:latin typeface="Cambria Math" panose="02040503050406030204" pitchFamily="18" charset="0"/>
              <a:ea typeface="Cambria Math" panose="02040503050406030204" pitchFamily="18" charset="0"/>
            </a:endParaRPr>
          </a:p>
        </p:txBody>
      </p:sp>
      <p:sp>
        <p:nvSpPr>
          <p:cNvPr id="37" name="Text 35"/>
          <p:cNvSpPr/>
          <p:nvPr/>
        </p:nvSpPr>
        <p:spPr>
          <a:xfrm>
            <a:off x="6948183" y="2472309"/>
            <a:ext cx="205740" cy="205740"/>
          </a:xfrm>
          <a:prstGeom prst="rect">
            <a:avLst/>
          </a:prstGeom>
          <a:noFill/>
          <a:ln/>
        </p:spPr>
        <p:txBody>
          <a:bodyPr wrap="square" lIns="0" tIns="0" rIns="0" bIns="0" rtlCol="0" anchor="ctr"/>
          <a:lstStyle/>
          <a:p>
            <a:pPr algn="ctr"/>
            <a:r>
              <a:rPr lang="en-US" sz="1200" b="1" dirty="0">
                <a:solidFill>
                  <a:srgbClr val="7A3E9D"/>
                </a:solidFill>
                <a:latin typeface="Cambria Math" panose="02040503050406030204" pitchFamily="18" charset="0"/>
                <a:ea typeface="Cambria Math" panose="02040503050406030204" pitchFamily="18" charset="0"/>
                <a:cs typeface="Arial" pitchFamily="34" charset="-120"/>
              </a:rPr>
              <a:t>▶</a:t>
            </a:r>
            <a:endParaRPr lang="en-US" sz="1200" dirty="0">
              <a:latin typeface="Cambria Math" panose="02040503050406030204" pitchFamily="18" charset="0"/>
              <a:ea typeface="Cambria Math" panose="02040503050406030204" pitchFamily="18" charset="0"/>
            </a:endParaRPr>
          </a:p>
        </p:txBody>
      </p:sp>
      <p:sp>
        <p:nvSpPr>
          <p:cNvPr id="38" name="Shape 36"/>
          <p:cNvSpPr/>
          <p:nvPr/>
        </p:nvSpPr>
        <p:spPr>
          <a:xfrm>
            <a:off x="7119633" y="1405890"/>
            <a:ext cx="1405890" cy="2569464"/>
          </a:xfrm>
          <a:prstGeom prst="rect">
            <a:avLst/>
          </a:prstGeom>
          <a:solidFill>
            <a:srgbClr val="F4ECF8"/>
          </a:solidFill>
          <a:ln w="15875">
            <a:solidFill>
              <a:srgbClr val="7A3E9D"/>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39" name="Shape 37"/>
          <p:cNvSpPr/>
          <p:nvPr/>
        </p:nvSpPr>
        <p:spPr>
          <a:xfrm>
            <a:off x="7119633" y="1405890"/>
            <a:ext cx="1405890" cy="377190"/>
          </a:xfrm>
          <a:prstGeom prst="rect">
            <a:avLst/>
          </a:prstGeom>
          <a:solidFill>
            <a:srgbClr val="7A3E9D"/>
          </a:solidFill>
          <a:ln/>
        </p:spPr>
        <p:txBody>
          <a:bodyPr/>
          <a:lstStyle/>
          <a:p>
            <a:endParaRPr lang="en-US" sz="1200">
              <a:latin typeface="Cambria Math" panose="02040503050406030204" pitchFamily="18" charset="0"/>
              <a:ea typeface="Cambria Math" panose="02040503050406030204" pitchFamily="18" charset="0"/>
            </a:endParaRPr>
          </a:p>
        </p:txBody>
      </p:sp>
      <p:sp>
        <p:nvSpPr>
          <p:cNvPr id="40" name="Text 38"/>
          <p:cNvSpPr/>
          <p:nvPr/>
        </p:nvSpPr>
        <p:spPr>
          <a:xfrm>
            <a:off x="7119633" y="1405890"/>
            <a:ext cx="1405890" cy="377190"/>
          </a:xfrm>
          <a:prstGeom prst="rect">
            <a:avLst/>
          </a:prstGeom>
          <a:noFill/>
          <a:ln/>
        </p:spPr>
        <p:txBody>
          <a:bodyPr wrap="square" lIns="0" tIns="0" rIns="0" bIns="0" rtlCol="0" anchor="ctr"/>
          <a:lstStyle/>
          <a:p>
            <a:pPr algn="ctr"/>
            <a:r>
              <a:rPr lang="en-US" sz="1200" b="1" dirty="0">
                <a:solidFill>
                  <a:srgbClr val="FFFFFF"/>
                </a:solidFill>
                <a:latin typeface="Cambria Math" panose="02040503050406030204" pitchFamily="18" charset="0"/>
                <a:ea typeface="Cambria Math" panose="02040503050406030204" pitchFamily="18" charset="0"/>
                <a:cs typeface="Arial" pitchFamily="34" charset="-120"/>
              </a:rPr>
              <a:t>05</a:t>
            </a:r>
            <a:endParaRPr lang="en-US" sz="1200" dirty="0">
              <a:latin typeface="Cambria Math" panose="02040503050406030204" pitchFamily="18" charset="0"/>
              <a:ea typeface="Cambria Math" panose="02040503050406030204" pitchFamily="18" charset="0"/>
            </a:endParaRPr>
          </a:p>
        </p:txBody>
      </p:sp>
      <p:sp>
        <p:nvSpPr>
          <p:cNvPr id="41" name="Text 39"/>
          <p:cNvSpPr/>
          <p:nvPr/>
        </p:nvSpPr>
        <p:spPr>
          <a:xfrm>
            <a:off x="7188213" y="1892808"/>
            <a:ext cx="1268730" cy="274320"/>
          </a:xfrm>
          <a:prstGeom prst="rect">
            <a:avLst/>
          </a:prstGeom>
          <a:noFill/>
          <a:ln/>
        </p:spPr>
        <p:txBody>
          <a:bodyPr wrap="square" lIns="0" tIns="0" rIns="0" bIns="0" rtlCol="0" anchor="t"/>
          <a:lstStyle/>
          <a:p>
            <a:pPr algn="ctr"/>
            <a:r>
              <a:rPr lang="en-US" sz="1200" b="1" dirty="0">
                <a:solidFill>
                  <a:srgbClr val="1A1A1A"/>
                </a:solidFill>
                <a:latin typeface="Cambria Math" panose="02040503050406030204" pitchFamily="18" charset="0"/>
                <a:ea typeface="Cambria Math" panose="02040503050406030204" pitchFamily="18" charset="0"/>
                <a:cs typeface="Arial" pitchFamily="34" charset="-120"/>
              </a:rPr>
              <a:t>Feature Analysis</a:t>
            </a:r>
            <a:endParaRPr lang="en-US" sz="1200" dirty="0">
              <a:latin typeface="Cambria Math" panose="02040503050406030204" pitchFamily="18" charset="0"/>
              <a:ea typeface="Cambria Math" panose="02040503050406030204" pitchFamily="18" charset="0"/>
            </a:endParaRPr>
          </a:p>
        </p:txBody>
      </p:sp>
      <p:sp>
        <p:nvSpPr>
          <p:cNvPr id="42" name="Text 40"/>
          <p:cNvSpPr/>
          <p:nvPr/>
        </p:nvSpPr>
        <p:spPr>
          <a:xfrm>
            <a:off x="7188213" y="2167128"/>
            <a:ext cx="1268730" cy="377190"/>
          </a:xfrm>
          <a:prstGeom prst="rect">
            <a:avLst/>
          </a:prstGeom>
          <a:noFill/>
          <a:ln/>
        </p:spPr>
        <p:txBody>
          <a:bodyPr wrap="square" lIns="0" tIns="0" rIns="0" bIns="0" rtlCol="0" anchor="t"/>
          <a:lstStyle/>
          <a:p>
            <a:pPr algn="ctr"/>
            <a:r>
              <a:rPr lang="en-US" sz="1200" i="1" dirty="0">
                <a:solidFill>
                  <a:srgbClr val="555555"/>
                </a:solidFill>
                <a:latin typeface="Cambria Math" panose="02040503050406030204" pitchFamily="18" charset="0"/>
                <a:ea typeface="Cambria Math" panose="02040503050406030204" pitchFamily="18" charset="0"/>
                <a:cs typeface="Arial" pitchFamily="34" charset="-120"/>
              </a:rPr>
              <a:t>Feature nào quan trọng?</a:t>
            </a:r>
            <a:endParaRPr lang="en-US" sz="1200" dirty="0">
              <a:latin typeface="Cambria Math" panose="02040503050406030204" pitchFamily="18" charset="0"/>
              <a:ea typeface="Cambria Math" panose="02040503050406030204" pitchFamily="18" charset="0"/>
            </a:endParaRPr>
          </a:p>
        </p:txBody>
      </p:sp>
      <p:sp>
        <p:nvSpPr>
          <p:cNvPr id="43" name="Shape 41"/>
          <p:cNvSpPr/>
          <p:nvPr/>
        </p:nvSpPr>
        <p:spPr>
          <a:xfrm>
            <a:off x="7243077" y="2551176"/>
            <a:ext cx="1159002" cy="0"/>
          </a:xfrm>
          <a:prstGeom prst="line">
            <a:avLst/>
          </a:prstGeom>
          <a:noFill/>
          <a:ln w="9525">
            <a:solidFill>
              <a:srgbClr val="B5B5B5"/>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44" name="Text 42"/>
          <p:cNvSpPr/>
          <p:nvPr/>
        </p:nvSpPr>
        <p:spPr>
          <a:xfrm>
            <a:off x="7229361" y="2633471"/>
            <a:ext cx="1186434" cy="1217411"/>
          </a:xfrm>
          <a:prstGeom prst="rect">
            <a:avLst/>
          </a:prstGeom>
          <a:noFill/>
          <a:ln/>
        </p:spPr>
        <p:txBody>
          <a:bodyPr wrap="square" lIns="0" tIns="0" rIns="0" bIns="0" rtlCol="0" anchor="t"/>
          <a:lstStyle/>
          <a:p>
            <a:pPr marL="171450" indent="-171450">
              <a:lnSpc>
                <a:spcPct val="135000"/>
              </a:lnSpc>
              <a:buFont typeface="Cambria Math" panose="02040503050406030204" pitchFamily="18" charset="0"/>
              <a:buChar char="―"/>
            </a:pPr>
            <a:r>
              <a:rPr lang="en-US" sz="1200" dirty="0">
                <a:solidFill>
                  <a:srgbClr val="262626"/>
                </a:solidFill>
                <a:latin typeface="Cambria Math" panose="02040503050406030204" pitchFamily="18" charset="0"/>
                <a:ea typeface="Cambria Math" panose="02040503050406030204" pitchFamily="18" charset="0"/>
                <a:cs typeface="Arial" pitchFamily="34" charset="-120"/>
              </a:rPr>
              <a:t>Entropy, burstiness, độ dài câu</a:t>
            </a:r>
            <a:endParaRPr lang="en-US" sz="1200" dirty="0">
              <a:latin typeface="Cambria Math" panose="02040503050406030204" pitchFamily="18" charset="0"/>
              <a:ea typeface="Cambria Math" panose="02040503050406030204" pitchFamily="18" charset="0"/>
            </a:endParaRPr>
          </a:p>
          <a:p>
            <a:pPr marL="171450" indent="-171450">
              <a:lnSpc>
                <a:spcPct val="135000"/>
              </a:lnSpc>
              <a:buFont typeface="Cambria Math" panose="02040503050406030204" pitchFamily="18" charset="0"/>
              <a:buChar char="―"/>
            </a:pPr>
            <a:r>
              <a:rPr lang="en-US" sz="1200" dirty="0">
                <a:solidFill>
                  <a:srgbClr val="262626"/>
                </a:solidFill>
                <a:latin typeface="Cambria Math" panose="02040503050406030204" pitchFamily="18" charset="0"/>
                <a:ea typeface="Cambria Math" panose="02040503050406030204" pitchFamily="18" charset="0"/>
                <a:cs typeface="Arial" pitchFamily="34" charset="-120"/>
              </a:rPr>
              <a:t>Attention visualization</a:t>
            </a:r>
            <a:endParaRPr lang="en-US" sz="1200" dirty="0">
              <a:latin typeface="Cambria Math" panose="02040503050406030204" pitchFamily="18" charset="0"/>
              <a:ea typeface="Cambria Math" panose="02040503050406030204" pitchFamily="18" charset="0"/>
            </a:endParaRPr>
          </a:p>
        </p:txBody>
      </p:sp>
      <p:grpSp>
        <p:nvGrpSpPr>
          <p:cNvPr id="45" name="Group 25">
            <a:extLst>
              <a:ext uri="{FF2B5EF4-FFF2-40B4-BE49-F238E27FC236}">
                <a16:creationId xmlns:a16="http://schemas.microsoft.com/office/drawing/2014/main" id="{8A17BFFC-D0E8-A563-6519-1EEED298B35C}"/>
              </a:ext>
            </a:extLst>
          </p:cNvPr>
          <p:cNvGrpSpPr/>
          <p:nvPr/>
        </p:nvGrpSpPr>
        <p:grpSpPr>
          <a:xfrm>
            <a:off x="699516" y="272606"/>
            <a:ext cx="28575" cy="285368"/>
            <a:chOff x="0" y="0"/>
            <a:chExt cx="76200" cy="760981"/>
          </a:xfrm>
        </p:grpSpPr>
        <p:sp>
          <p:nvSpPr>
            <p:cNvPr id="46" name="Freeform 26">
              <a:extLst>
                <a:ext uri="{FF2B5EF4-FFF2-40B4-BE49-F238E27FC236}">
                  <a16:creationId xmlns:a16="http://schemas.microsoft.com/office/drawing/2014/main" id="{7041BA45-B66B-51DA-9E8A-E5BCF9512605}"/>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3"/>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47" name="TextBox 27">
            <a:extLst>
              <a:ext uri="{FF2B5EF4-FFF2-40B4-BE49-F238E27FC236}">
                <a16:creationId xmlns:a16="http://schemas.microsoft.com/office/drawing/2014/main" id="{6ED515B9-02A0-4D06-B135-EF2020881258}"/>
              </a:ext>
            </a:extLst>
          </p:cNvPr>
          <p:cNvSpPr txBox="1"/>
          <p:nvPr/>
        </p:nvSpPr>
        <p:spPr>
          <a:xfrm>
            <a:off x="812644" y="283464"/>
            <a:ext cx="3105208" cy="294953"/>
          </a:xfrm>
          <a:prstGeom prst="rect">
            <a:avLst/>
          </a:prstGeom>
        </p:spPr>
        <p:txBody>
          <a:bodyPr wrap="square" lIns="0" tIns="0" rIns="0" bIns="0" rtlCol="0" anchor="t">
            <a:spAutoFit/>
          </a:bodyPr>
          <a:lstStyle/>
          <a:p>
            <a:pPr>
              <a:lnSpc>
                <a:spcPts val="2280"/>
              </a:lnSpc>
            </a:pPr>
            <a:r>
              <a:rPr lang="en-US" sz="2100" b="1" spc="18" dirty="0">
                <a:solidFill>
                  <a:srgbClr val="000000"/>
                </a:solidFill>
                <a:latin typeface="Arial" panose="020B0604020202020204" pitchFamily="34" charset="0"/>
                <a:ea typeface="Arial Bold"/>
                <a:cs typeface="Arial" panose="020B0604020202020204" pitchFamily="34" charset="0"/>
                <a:sym typeface="Arial Bold"/>
              </a:rPr>
              <a:t>Pipeline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tổng</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quan</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48" name="TextBox 28">
            <a:extLst>
              <a:ext uri="{FF2B5EF4-FFF2-40B4-BE49-F238E27FC236}">
                <a16:creationId xmlns:a16="http://schemas.microsoft.com/office/drawing/2014/main" id="{C9B46475-EA6B-0102-2775-915FA1A1A051}"/>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2.1</a:t>
            </a:r>
          </a:p>
        </p:txBody>
      </p:sp>
      <p:sp>
        <p:nvSpPr>
          <p:cNvPr id="54" name="TextBox 22">
            <a:extLst>
              <a:ext uri="{FF2B5EF4-FFF2-40B4-BE49-F238E27FC236}">
                <a16:creationId xmlns:a16="http://schemas.microsoft.com/office/drawing/2014/main" id="{D5B93FCC-727B-1C45-1806-17654280B5F8}"/>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55" name="Group 23">
            <a:extLst>
              <a:ext uri="{FF2B5EF4-FFF2-40B4-BE49-F238E27FC236}">
                <a16:creationId xmlns:a16="http://schemas.microsoft.com/office/drawing/2014/main" id="{FBDF8E88-A6B4-E61F-74F1-3245044BC94E}"/>
              </a:ext>
            </a:extLst>
          </p:cNvPr>
          <p:cNvGrpSpPr/>
          <p:nvPr/>
        </p:nvGrpSpPr>
        <p:grpSpPr>
          <a:xfrm>
            <a:off x="0" y="4870323"/>
            <a:ext cx="9144000" cy="274320"/>
            <a:chOff x="0" y="0"/>
            <a:chExt cx="24384000" cy="731520"/>
          </a:xfrm>
        </p:grpSpPr>
        <p:sp>
          <p:nvSpPr>
            <p:cNvPr id="56" name="Freeform 24">
              <a:extLst>
                <a:ext uri="{FF2B5EF4-FFF2-40B4-BE49-F238E27FC236}">
                  <a16:creationId xmlns:a16="http://schemas.microsoft.com/office/drawing/2014/main" id="{B22FF032-42B0-5D18-2D52-1CC2C7F68114}"/>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57" name="TextBox 25">
            <a:extLst>
              <a:ext uri="{FF2B5EF4-FFF2-40B4-BE49-F238E27FC236}">
                <a16:creationId xmlns:a16="http://schemas.microsoft.com/office/drawing/2014/main" id="{788A5488-2406-B5B9-BAD0-E733859FBBC7}"/>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58" name="TextBox 26">
            <a:extLst>
              <a:ext uri="{FF2B5EF4-FFF2-40B4-BE49-F238E27FC236}">
                <a16:creationId xmlns:a16="http://schemas.microsoft.com/office/drawing/2014/main" id="{9D0CA0A9-5E53-798E-F093-BF03F5110341}"/>
              </a:ext>
            </a:extLst>
          </p:cNvPr>
          <p:cNvSpPr txBox="1"/>
          <p:nvPr/>
        </p:nvSpPr>
        <p:spPr>
          <a:xfrm>
            <a:off x="8103474" y="4916519"/>
            <a:ext cx="912237"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7/25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9B2D5-7612-A96A-BED5-1E6B3077AEB8}"/>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AE7DFD03-19BC-3B02-91B5-6B51CC748FD5}"/>
              </a:ext>
            </a:extLst>
          </p:cNvPr>
          <p:cNvSpPr txBox="1"/>
          <p:nvPr/>
        </p:nvSpPr>
        <p:spPr>
          <a:xfrm>
            <a:off x="3737172" y="1137955"/>
            <a:ext cx="1623060" cy="1538883"/>
          </a:xfrm>
          <a:prstGeom prst="rect">
            <a:avLst/>
          </a:prstGeom>
        </p:spPr>
        <p:txBody>
          <a:bodyPr lIns="0" tIns="0" rIns="0" bIns="0" rtlCol="0" anchor="t">
            <a:spAutoFit/>
          </a:bodyPr>
          <a:lstStyle/>
          <a:p>
            <a:pPr>
              <a:lnSpc>
                <a:spcPts val="12000"/>
              </a:lnSpc>
            </a:pPr>
            <a:r>
              <a:rPr lang="en-US" sz="10000" b="1" dirty="0">
                <a:solidFill>
                  <a:srgbClr val="0070C0"/>
                </a:solidFill>
                <a:latin typeface="Arimo Bold"/>
                <a:ea typeface="Arimo Bold"/>
                <a:cs typeface="Arimo Bold"/>
                <a:sym typeface="Arimo Bold"/>
              </a:rPr>
              <a:t>03 </a:t>
            </a:r>
          </a:p>
        </p:txBody>
      </p:sp>
      <p:grpSp>
        <p:nvGrpSpPr>
          <p:cNvPr id="7" name="Group 7">
            <a:extLst>
              <a:ext uri="{FF2B5EF4-FFF2-40B4-BE49-F238E27FC236}">
                <a16:creationId xmlns:a16="http://schemas.microsoft.com/office/drawing/2014/main" id="{A834EDB9-A33C-606D-D2F9-B3CED03BD97D}"/>
              </a:ext>
            </a:extLst>
          </p:cNvPr>
          <p:cNvGrpSpPr/>
          <p:nvPr/>
        </p:nvGrpSpPr>
        <p:grpSpPr>
          <a:xfrm>
            <a:off x="3348804" y="2571750"/>
            <a:ext cx="2309100" cy="36000"/>
            <a:chOff x="0" y="0"/>
            <a:chExt cx="6157600" cy="96000"/>
          </a:xfrm>
        </p:grpSpPr>
        <p:sp>
          <p:nvSpPr>
            <p:cNvPr id="8" name="Freeform 8">
              <a:extLst>
                <a:ext uri="{FF2B5EF4-FFF2-40B4-BE49-F238E27FC236}">
                  <a16:creationId xmlns:a16="http://schemas.microsoft.com/office/drawing/2014/main" id="{FD83A54C-2B42-7D21-CA14-33813AC172A2}"/>
                </a:ext>
              </a:extLst>
            </p:cNvPr>
            <p:cNvSpPr/>
            <p:nvPr/>
          </p:nvSpPr>
          <p:spPr>
            <a:xfrm>
              <a:off x="0" y="0"/>
              <a:ext cx="6157595" cy="96012"/>
            </a:xfrm>
            <a:custGeom>
              <a:avLst/>
              <a:gdLst/>
              <a:ahLst/>
              <a:cxnLst/>
              <a:rect l="l" t="t" r="r" b="b"/>
              <a:pathLst>
                <a:path w="6157595" h="96012">
                  <a:moveTo>
                    <a:pt x="0" y="0"/>
                  </a:moveTo>
                  <a:lnTo>
                    <a:pt x="6157595" y="0"/>
                  </a:lnTo>
                  <a:lnTo>
                    <a:pt x="6157595" y="96012"/>
                  </a:lnTo>
                  <a:lnTo>
                    <a:pt x="0" y="96012"/>
                  </a:lnTo>
                  <a:close/>
                </a:path>
              </a:pathLst>
            </a:custGeom>
            <a:solidFill>
              <a:srgbClr val="0066CC"/>
            </a:solidFill>
          </p:spPr>
          <p:txBody>
            <a:bodyPr/>
            <a:lstStyle/>
            <a:p>
              <a:endParaRPr lang="en-US" sz="900"/>
            </a:p>
          </p:txBody>
        </p:sp>
      </p:grpSp>
      <p:sp>
        <p:nvSpPr>
          <p:cNvPr id="9" name="TextBox 9">
            <a:extLst>
              <a:ext uri="{FF2B5EF4-FFF2-40B4-BE49-F238E27FC236}">
                <a16:creationId xmlns:a16="http://schemas.microsoft.com/office/drawing/2014/main" id="{BDA428CC-0497-3B92-61D8-3F42312D4957}"/>
              </a:ext>
            </a:extLst>
          </p:cNvPr>
          <p:cNvSpPr txBox="1"/>
          <p:nvPr/>
        </p:nvSpPr>
        <p:spPr>
          <a:xfrm>
            <a:off x="1925782" y="2742526"/>
            <a:ext cx="5974726" cy="638188"/>
          </a:xfrm>
          <a:prstGeom prst="rect">
            <a:avLst/>
          </a:prstGeom>
        </p:spPr>
        <p:txBody>
          <a:bodyPr wrap="square" lIns="0" tIns="0" rIns="0" bIns="0" rtlCol="0" anchor="t">
            <a:spAutoFit/>
          </a:bodyPr>
          <a:lstStyle/>
          <a:p>
            <a:pPr>
              <a:lnSpc>
                <a:spcPts val="5280"/>
              </a:lnSpc>
            </a:pPr>
            <a:r>
              <a:rPr lang="en-US" sz="4400" b="1" dirty="0" err="1">
                <a:solidFill>
                  <a:srgbClr val="404040"/>
                </a:solidFill>
                <a:latin typeface="Arial Bold"/>
                <a:ea typeface="Arial Bold"/>
                <a:cs typeface="Arial Bold"/>
                <a:sym typeface="Arial Bold"/>
              </a:rPr>
              <a:t>Dữ</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liệu</a:t>
            </a:r>
            <a:r>
              <a:rPr lang="en-US" sz="4400" b="1" dirty="0">
                <a:solidFill>
                  <a:srgbClr val="404040"/>
                </a:solidFill>
                <a:latin typeface="Arial Bold"/>
                <a:ea typeface="Arial Bold"/>
                <a:cs typeface="Arial Bold"/>
                <a:sym typeface="Arial Bold"/>
              </a:rPr>
              <a:t> &amp; </a:t>
            </a:r>
            <a:r>
              <a:rPr lang="en-US" sz="4400" b="1" dirty="0" err="1">
                <a:solidFill>
                  <a:srgbClr val="404040"/>
                </a:solidFill>
                <a:latin typeface="Arial Bold"/>
                <a:ea typeface="Arial Bold"/>
                <a:cs typeface="Arial Bold"/>
                <a:sym typeface="Arial Bold"/>
              </a:rPr>
              <a:t>tiền</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xử</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lý</a:t>
            </a:r>
            <a:endParaRPr lang="en-US" sz="4400" b="1" dirty="0">
              <a:solidFill>
                <a:srgbClr val="404040"/>
              </a:solidFill>
              <a:latin typeface="Arial Bold"/>
              <a:ea typeface="Arial Bold"/>
              <a:cs typeface="Arial Bold"/>
              <a:sym typeface="Arial Bold"/>
            </a:endParaRPr>
          </a:p>
        </p:txBody>
      </p:sp>
      <p:sp>
        <p:nvSpPr>
          <p:cNvPr id="15" name="TextBox 22">
            <a:extLst>
              <a:ext uri="{FF2B5EF4-FFF2-40B4-BE49-F238E27FC236}">
                <a16:creationId xmlns:a16="http://schemas.microsoft.com/office/drawing/2014/main" id="{030EE61D-DA19-539E-D2AE-2659B04778FD}"/>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6" name="Group 23">
            <a:extLst>
              <a:ext uri="{FF2B5EF4-FFF2-40B4-BE49-F238E27FC236}">
                <a16:creationId xmlns:a16="http://schemas.microsoft.com/office/drawing/2014/main" id="{FFE72093-324B-D809-16A4-B6671FC34363}"/>
              </a:ext>
            </a:extLst>
          </p:cNvPr>
          <p:cNvGrpSpPr/>
          <p:nvPr/>
        </p:nvGrpSpPr>
        <p:grpSpPr>
          <a:xfrm>
            <a:off x="0" y="4870323"/>
            <a:ext cx="9144000" cy="274320"/>
            <a:chOff x="0" y="0"/>
            <a:chExt cx="24384000" cy="731520"/>
          </a:xfrm>
        </p:grpSpPr>
        <p:sp>
          <p:nvSpPr>
            <p:cNvPr id="17" name="Freeform 24">
              <a:extLst>
                <a:ext uri="{FF2B5EF4-FFF2-40B4-BE49-F238E27FC236}">
                  <a16:creationId xmlns:a16="http://schemas.microsoft.com/office/drawing/2014/main" id="{4ED1B44D-B527-1861-FF20-CE793B35BC51}"/>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8" name="TextBox 25">
            <a:extLst>
              <a:ext uri="{FF2B5EF4-FFF2-40B4-BE49-F238E27FC236}">
                <a16:creationId xmlns:a16="http://schemas.microsoft.com/office/drawing/2014/main" id="{21C66C6A-ECCF-B95A-50BB-6DB3131EC156}"/>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9" name="TextBox 26">
            <a:extLst>
              <a:ext uri="{FF2B5EF4-FFF2-40B4-BE49-F238E27FC236}">
                <a16:creationId xmlns:a16="http://schemas.microsoft.com/office/drawing/2014/main" id="{E2DF6237-01C9-03C6-1CB4-A5ECB4BC06D9}"/>
              </a:ext>
            </a:extLst>
          </p:cNvPr>
          <p:cNvSpPr txBox="1"/>
          <p:nvPr/>
        </p:nvSpPr>
        <p:spPr>
          <a:xfrm>
            <a:off x="8103474" y="4916519"/>
            <a:ext cx="912237"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8/25</a:t>
            </a:r>
          </a:p>
        </p:txBody>
      </p:sp>
      <p:grpSp>
        <p:nvGrpSpPr>
          <p:cNvPr id="22" name="Group 2">
            <a:extLst>
              <a:ext uri="{FF2B5EF4-FFF2-40B4-BE49-F238E27FC236}">
                <a16:creationId xmlns:a16="http://schemas.microsoft.com/office/drawing/2014/main" id="{9B88690C-292B-A944-7CE6-3F87A6599BD4}"/>
              </a:ext>
            </a:extLst>
          </p:cNvPr>
          <p:cNvGrpSpPr/>
          <p:nvPr/>
        </p:nvGrpSpPr>
        <p:grpSpPr>
          <a:xfrm>
            <a:off x="7900508" y="116678"/>
            <a:ext cx="486733" cy="486733"/>
            <a:chOff x="0" y="0"/>
            <a:chExt cx="1297955" cy="1297955"/>
          </a:xfrm>
        </p:grpSpPr>
        <p:sp>
          <p:nvSpPr>
            <p:cNvPr id="23" name="Freeform 3">
              <a:extLst>
                <a:ext uri="{FF2B5EF4-FFF2-40B4-BE49-F238E27FC236}">
                  <a16:creationId xmlns:a16="http://schemas.microsoft.com/office/drawing/2014/main" id="{F895DC78-D7F8-9F44-0352-83FED50CC3DF}"/>
                </a:ext>
              </a:extLst>
            </p:cNvPr>
            <p:cNvSpPr/>
            <p:nvPr/>
          </p:nvSpPr>
          <p:spPr>
            <a:xfrm>
              <a:off x="0" y="0"/>
              <a:ext cx="1297940" cy="1297940"/>
            </a:xfrm>
            <a:custGeom>
              <a:avLst/>
              <a:gdLst/>
              <a:ahLst/>
              <a:cxnLst/>
              <a:rect l="l" t="t" r="r" b="b"/>
              <a:pathLst>
                <a:path w="1297940" h="1297940">
                  <a:moveTo>
                    <a:pt x="0" y="0"/>
                  </a:moveTo>
                  <a:lnTo>
                    <a:pt x="1297940" y="0"/>
                  </a:lnTo>
                  <a:lnTo>
                    <a:pt x="1297940" y="1297940"/>
                  </a:lnTo>
                  <a:lnTo>
                    <a:pt x="0" y="1297940"/>
                  </a:lnTo>
                  <a:lnTo>
                    <a:pt x="0" y="0"/>
                  </a:lnTo>
                  <a:close/>
                </a:path>
              </a:pathLst>
            </a:custGeom>
            <a:blipFill>
              <a:blip r:embed="rId3"/>
              <a:stretch>
                <a:fillRect r="-1" b="-1"/>
              </a:stretch>
            </a:blipFill>
          </p:spPr>
          <p:txBody>
            <a:bodyPr/>
            <a:lstStyle/>
            <a:p>
              <a:endParaRPr lang="en-US" sz="900"/>
            </a:p>
          </p:txBody>
        </p:sp>
      </p:grpSp>
      <p:grpSp>
        <p:nvGrpSpPr>
          <p:cNvPr id="24" name="Group 4">
            <a:extLst>
              <a:ext uri="{FF2B5EF4-FFF2-40B4-BE49-F238E27FC236}">
                <a16:creationId xmlns:a16="http://schemas.microsoft.com/office/drawing/2014/main" id="{423595B9-D747-61B6-628F-3DC0E9D221EE}"/>
              </a:ext>
            </a:extLst>
          </p:cNvPr>
          <p:cNvGrpSpPr>
            <a:grpSpLocks noChangeAspect="1"/>
          </p:cNvGrpSpPr>
          <p:nvPr/>
        </p:nvGrpSpPr>
        <p:grpSpPr>
          <a:xfrm>
            <a:off x="8528984" y="116678"/>
            <a:ext cx="486733" cy="488906"/>
            <a:chOff x="0" y="0"/>
            <a:chExt cx="1297955" cy="1303749"/>
          </a:xfrm>
        </p:grpSpPr>
        <p:sp>
          <p:nvSpPr>
            <p:cNvPr id="25" name="Freeform 5" descr="Viện Trí tuệ nhân tạo | Hanoi">
              <a:extLst>
                <a:ext uri="{FF2B5EF4-FFF2-40B4-BE49-F238E27FC236}">
                  <a16:creationId xmlns:a16="http://schemas.microsoft.com/office/drawing/2014/main" id="{9375DBA9-C25B-0467-DF0C-D62BEA4E5574}"/>
                </a:ext>
              </a:extLst>
            </p:cNvPr>
            <p:cNvSpPr/>
            <p:nvPr/>
          </p:nvSpPr>
          <p:spPr>
            <a:xfrm>
              <a:off x="0" y="0"/>
              <a:ext cx="1297940" cy="1303782"/>
            </a:xfrm>
            <a:custGeom>
              <a:avLst/>
              <a:gdLst/>
              <a:ahLst/>
              <a:cxnLst/>
              <a:rect l="l" t="t" r="r" b="b"/>
              <a:pathLst>
                <a:path w="1297940" h="1303782">
                  <a:moveTo>
                    <a:pt x="0" y="0"/>
                  </a:moveTo>
                  <a:lnTo>
                    <a:pt x="1297940" y="0"/>
                  </a:lnTo>
                  <a:lnTo>
                    <a:pt x="1297940" y="1303782"/>
                  </a:lnTo>
                  <a:lnTo>
                    <a:pt x="0" y="1303782"/>
                  </a:lnTo>
                  <a:lnTo>
                    <a:pt x="0" y="0"/>
                  </a:lnTo>
                  <a:close/>
                </a:path>
              </a:pathLst>
            </a:custGeom>
            <a:blipFill>
              <a:blip r:embed="rId4"/>
              <a:stretch>
                <a:fillRect r="-1" b="2"/>
              </a:stretch>
            </a:blipFill>
          </p:spPr>
          <p:txBody>
            <a:bodyPr/>
            <a:lstStyle/>
            <a:p>
              <a:endParaRPr lang="en-US" sz="900"/>
            </a:p>
          </p:txBody>
        </p:sp>
      </p:grpSp>
    </p:spTree>
    <p:extLst>
      <p:ext uri="{BB962C8B-B14F-4D97-AF65-F5344CB8AC3E}">
        <p14:creationId xmlns:p14="http://schemas.microsoft.com/office/powerpoint/2010/main" val="734458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54330" y="725090"/>
            <a:ext cx="8435340" cy="274320"/>
          </a:xfrm>
          <a:prstGeom prst="rect">
            <a:avLst/>
          </a:prstGeom>
          <a:noFill/>
          <a:ln/>
        </p:spPr>
        <p:txBody>
          <a:bodyPr wrap="square" lIns="0" tIns="0" rIns="0" bIns="0" rtlCol="0" anchor="ctr"/>
          <a:lstStyle/>
          <a:p>
            <a:r>
              <a:rPr lang="en-US" sz="1200" dirty="0">
                <a:solidFill>
                  <a:srgbClr val="1A1A1A"/>
                </a:solidFill>
                <a:latin typeface="Cambria Math" panose="02040503050406030204" pitchFamily="18" charset="0"/>
                <a:ea typeface="Cambria Math" panose="02040503050406030204" pitchFamily="18" charset="0"/>
                <a:cs typeface="Calibri" pitchFamily="34" charset="-120"/>
              </a:rPr>
              <a:t>Dữ liệu được lấy từ 2 nguồn: FAIDSet (Anh + Việt) và MAGE (Anh), sau đó kết hợp thành 3 tập train / val / test.</a:t>
            </a:r>
            <a:endParaRPr lang="en-US" sz="1200" dirty="0">
              <a:latin typeface="Cambria Math" panose="02040503050406030204" pitchFamily="18" charset="0"/>
              <a:ea typeface="Cambria Math" panose="02040503050406030204" pitchFamily="18" charset="0"/>
            </a:endParaRPr>
          </a:p>
        </p:txBody>
      </p:sp>
      <p:sp>
        <p:nvSpPr>
          <p:cNvPr id="4" name="Shape 2"/>
          <p:cNvSpPr/>
          <p:nvPr/>
        </p:nvSpPr>
        <p:spPr>
          <a:xfrm>
            <a:off x="354330" y="1067989"/>
            <a:ext cx="4114800" cy="547503"/>
          </a:xfrm>
          <a:prstGeom prst="rect">
            <a:avLst/>
          </a:prstGeom>
          <a:solidFill>
            <a:srgbClr val="EBF2FB"/>
          </a:solidFill>
          <a:ln w="19050">
            <a:solidFill>
              <a:srgbClr val="2E6DA4"/>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5" name="Text 3"/>
          <p:cNvSpPr/>
          <p:nvPr/>
        </p:nvSpPr>
        <p:spPr>
          <a:xfrm>
            <a:off x="491490" y="1136570"/>
            <a:ext cx="3840480" cy="651510"/>
          </a:xfrm>
          <a:prstGeom prst="rect">
            <a:avLst/>
          </a:prstGeom>
          <a:noFill/>
          <a:ln/>
        </p:spPr>
        <p:txBody>
          <a:bodyPr wrap="square" lIns="0" tIns="0" rIns="0" bIns="0" rtlCol="0" anchor="t"/>
          <a:lstStyle/>
          <a:p>
            <a:r>
              <a:rPr lang="en-US" sz="1200" b="1" dirty="0">
                <a:solidFill>
                  <a:srgbClr val="2E6DA4"/>
                </a:solidFill>
                <a:latin typeface="Cambria Math" panose="02040503050406030204" pitchFamily="18" charset="0"/>
                <a:ea typeface="Cambria Math" panose="02040503050406030204" pitchFamily="18" charset="0"/>
                <a:cs typeface="Calibri" pitchFamily="34" charset="-120"/>
              </a:rPr>
              <a:t>FAIDSet  </a:t>
            </a:r>
            <a:r>
              <a:rPr lang="en-US" sz="1200" dirty="0">
                <a:solidFill>
                  <a:srgbClr val="1A1A1A"/>
                </a:solidFill>
                <a:latin typeface="Cambria Math" panose="02040503050406030204" pitchFamily="18" charset="0"/>
                <a:ea typeface="Cambria Math" panose="02040503050406030204" pitchFamily="18" charset="0"/>
                <a:cs typeface="Calibri" pitchFamily="34" charset="-120"/>
              </a:rPr>
              <a:t>2024  ·  Anh + Việt  ·  GPT, Gemini, LLaMA, DeepSeek  </a:t>
            </a:r>
            <a:endParaRPr lang="en-US" sz="1200" dirty="0">
              <a:latin typeface="Cambria Math" panose="02040503050406030204" pitchFamily="18" charset="0"/>
              <a:ea typeface="Cambria Math" panose="02040503050406030204" pitchFamily="18" charset="0"/>
            </a:endParaRPr>
          </a:p>
          <a:p>
            <a:r>
              <a:rPr lang="en-US" sz="1200" dirty="0">
                <a:solidFill>
                  <a:srgbClr val="000000"/>
                </a:solidFill>
                <a:latin typeface="Cambria Math" panose="02040503050406030204" pitchFamily="18" charset="0"/>
                <a:ea typeface="Cambria Math" panose="02040503050406030204" pitchFamily="18" charset="0"/>
                <a:cs typeface="Calibri" pitchFamily="34" charset="-120"/>
              </a:rPr>
              <a:t> </a:t>
            </a:r>
            <a:endParaRPr lang="en-US" sz="1200" dirty="0">
              <a:latin typeface="Cambria Math" panose="02040503050406030204" pitchFamily="18" charset="0"/>
              <a:ea typeface="Cambria Math" panose="02040503050406030204" pitchFamily="18" charset="0"/>
            </a:endParaRPr>
          </a:p>
        </p:txBody>
      </p:sp>
      <p:sp>
        <p:nvSpPr>
          <p:cNvPr id="6" name="Shape 4"/>
          <p:cNvSpPr/>
          <p:nvPr/>
        </p:nvSpPr>
        <p:spPr>
          <a:xfrm>
            <a:off x="4674870" y="1067990"/>
            <a:ext cx="4114800" cy="547502"/>
          </a:xfrm>
          <a:prstGeom prst="rect">
            <a:avLst/>
          </a:prstGeom>
          <a:solidFill>
            <a:srgbClr val="EAF6EB"/>
          </a:solidFill>
          <a:ln w="19050">
            <a:solidFill>
              <a:srgbClr val="2E7D32"/>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7" name="Text 5"/>
          <p:cNvSpPr/>
          <p:nvPr/>
        </p:nvSpPr>
        <p:spPr>
          <a:xfrm>
            <a:off x="4812030" y="1136570"/>
            <a:ext cx="3840480" cy="651510"/>
          </a:xfrm>
          <a:prstGeom prst="rect">
            <a:avLst/>
          </a:prstGeom>
          <a:noFill/>
          <a:ln/>
        </p:spPr>
        <p:txBody>
          <a:bodyPr wrap="square" lIns="0" tIns="0" rIns="0" bIns="0" rtlCol="0" anchor="t"/>
          <a:lstStyle/>
          <a:p>
            <a:r>
              <a:rPr lang="en-US" sz="1200" b="1" dirty="0">
                <a:solidFill>
                  <a:srgbClr val="2E7D32"/>
                </a:solidFill>
                <a:latin typeface="Cambria Math" panose="02040503050406030204" pitchFamily="18" charset="0"/>
                <a:ea typeface="Cambria Math" panose="02040503050406030204" pitchFamily="18" charset="0"/>
                <a:cs typeface="Calibri" pitchFamily="34" charset="-120"/>
              </a:rPr>
              <a:t>MAGE  </a:t>
            </a:r>
            <a:r>
              <a:rPr lang="en-US" sz="1200" dirty="0">
                <a:solidFill>
                  <a:srgbClr val="1A1A1A"/>
                </a:solidFill>
                <a:latin typeface="Cambria Math" panose="02040503050406030204" pitchFamily="18" charset="0"/>
                <a:ea typeface="Cambria Math" panose="02040503050406030204" pitchFamily="18" charset="0"/>
                <a:cs typeface="Calibri" pitchFamily="34" charset="-120"/>
              </a:rPr>
              <a:t>ACL 2024  ·  Tiếng Anh  ·  27 LLM  </a:t>
            </a:r>
            <a:endParaRPr lang="en-US" sz="1200" dirty="0">
              <a:latin typeface="Cambria Math" panose="02040503050406030204" pitchFamily="18" charset="0"/>
              <a:ea typeface="Cambria Math" panose="02040503050406030204" pitchFamily="18" charset="0"/>
            </a:endParaRPr>
          </a:p>
          <a:p>
            <a:r>
              <a:rPr lang="en-US" sz="1200" dirty="0">
                <a:solidFill>
                  <a:srgbClr val="000000"/>
                </a:solidFill>
                <a:latin typeface="Cambria Math" panose="02040503050406030204" pitchFamily="18" charset="0"/>
                <a:ea typeface="Cambria Math" panose="02040503050406030204" pitchFamily="18" charset="0"/>
                <a:cs typeface="Calibri" pitchFamily="34" charset="-120"/>
              </a:rPr>
              <a:t> </a:t>
            </a:r>
            <a:endParaRPr lang="en-US" sz="1200" dirty="0">
              <a:latin typeface="Cambria Math" panose="02040503050406030204" pitchFamily="18" charset="0"/>
              <a:ea typeface="Cambria Math" panose="02040503050406030204" pitchFamily="18" charset="0"/>
            </a:endParaRPr>
          </a:p>
        </p:txBody>
      </p:sp>
      <p:sp>
        <p:nvSpPr>
          <p:cNvPr id="8" name="Text 6"/>
          <p:cNvSpPr/>
          <p:nvPr/>
        </p:nvSpPr>
        <p:spPr>
          <a:xfrm>
            <a:off x="-45720" y="1668839"/>
            <a:ext cx="9121140" cy="219456"/>
          </a:xfrm>
          <a:prstGeom prst="rect">
            <a:avLst/>
          </a:prstGeom>
          <a:noFill/>
          <a:ln/>
        </p:spPr>
        <p:txBody>
          <a:bodyPr wrap="square" lIns="0" tIns="0" rIns="0" bIns="0" rtlCol="0" anchor="ctr"/>
          <a:lstStyle/>
          <a:p>
            <a:pPr algn="ctr"/>
            <a:r>
              <a:rPr lang="en-US" sz="1200" b="1" dirty="0">
                <a:solidFill>
                  <a:srgbClr val="1F2D5C"/>
                </a:solidFill>
                <a:latin typeface="Cambria Math" panose="02040503050406030204" pitchFamily="18" charset="0"/>
                <a:ea typeface="Cambria Math" panose="02040503050406030204" pitchFamily="18" charset="0"/>
                <a:cs typeface="Calibri" pitchFamily="34" charset="-120"/>
              </a:rPr>
              <a:t>↓  Kết hợp</a:t>
            </a:r>
            <a:endParaRPr lang="en-US" sz="1200" dirty="0">
              <a:latin typeface="Cambria Math" panose="02040503050406030204" pitchFamily="18" charset="0"/>
              <a:ea typeface="Cambria Math" panose="02040503050406030204" pitchFamily="18" charset="0"/>
            </a:endParaRPr>
          </a:p>
        </p:txBody>
      </p:sp>
      <p:sp>
        <p:nvSpPr>
          <p:cNvPr id="9" name="Text 7"/>
          <p:cNvSpPr/>
          <p:nvPr/>
        </p:nvSpPr>
        <p:spPr>
          <a:xfrm>
            <a:off x="342900" y="2057400"/>
            <a:ext cx="2708910" cy="219456"/>
          </a:xfrm>
          <a:prstGeom prst="rect">
            <a:avLst/>
          </a:prstGeom>
          <a:noFill/>
          <a:ln/>
        </p:spPr>
        <p:txBody>
          <a:bodyPr wrap="square" lIns="0" tIns="0" rIns="0" bIns="0" rtlCol="0" anchor="ctr"/>
          <a:lstStyle/>
          <a:p>
            <a:r>
              <a:rPr lang="en-US" sz="1200" b="1" dirty="0">
                <a:solidFill>
                  <a:srgbClr val="2E6DA4"/>
                </a:solidFill>
                <a:latin typeface="Cambria Math" panose="02040503050406030204" pitchFamily="18" charset="0"/>
                <a:ea typeface="Cambria Math" panose="02040503050406030204" pitchFamily="18" charset="0"/>
                <a:cs typeface="Calibri" pitchFamily="34" charset="-120"/>
              </a:rPr>
              <a:t>TRAIN</a:t>
            </a:r>
            <a:endParaRPr lang="en-US" sz="1200" dirty="0">
              <a:latin typeface="Cambria Math" panose="02040503050406030204" pitchFamily="18" charset="0"/>
              <a:ea typeface="Cambria Math" panose="02040503050406030204" pitchFamily="18" charset="0"/>
            </a:endParaRPr>
          </a:p>
        </p:txBody>
      </p:sp>
      <p:sp>
        <p:nvSpPr>
          <p:cNvPr id="10" name="Shape 8"/>
          <p:cNvSpPr/>
          <p:nvPr/>
        </p:nvSpPr>
        <p:spPr>
          <a:xfrm>
            <a:off x="342900" y="2304288"/>
            <a:ext cx="2708910" cy="0"/>
          </a:xfrm>
          <a:prstGeom prst="line">
            <a:avLst/>
          </a:prstGeom>
          <a:noFill/>
          <a:ln w="19050">
            <a:solidFill>
              <a:srgbClr val="2E6DA4"/>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1" name="Text 9"/>
          <p:cNvSpPr/>
          <p:nvPr/>
        </p:nvSpPr>
        <p:spPr>
          <a:xfrm>
            <a:off x="3202686" y="2057400"/>
            <a:ext cx="2708910" cy="219456"/>
          </a:xfrm>
          <a:prstGeom prst="rect">
            <a:avLst/>
          </a:prstGeom>
          <a:noFill/>
          <a:ln/>
        </p:spPr>
        <p:txBody>
          <a:bodyPr wrap="square" lIns="0" tIns="0" rIns="0" bIns="0" rtlCol="0" anchor="ctr"/>
          <a:lstStyle/>
          <a:p>
            <a:r>
              <a:rPr lang="en-US" sz="1200" b="1" dirty="0">
                <a:solidFill>
                  <a:srgbClr val="B8860B"/>
                </a:solidFill>
                <a:latin typeface="Cambria Math" panose="02040503050406030204" pitchFamily="18" charset="0"/>
                <a:ea typeface="Cambria Math" panose="02040503050406030204" pitchFamily="18" charset="0"/>
                <a:cs typeface="Calibri" pitchFamily="34" charset="-120"/>
              </a:rPr>
              <a:t>VAL</a:t>
            </a:r>
            <a:endParaRPr lang="en-US" sz="1200" dirty="0">
              <a:latin typeface="Cambria Math" panose="02040503050406030204" pitchFamily="18" charset="0"/>
              <a:ea typeface="Cambria Math" panose="02040503050406030204" pitchFamily="18" charset="0"/>
            </a:endParaRPr>
          </a:p>
        </p:txBody>
      </p:sp>
      <p:sp>
        <p:nvSpPr>
          <p:cNvPr id="12" name="Shape 10"/>
          <p:cNvSpPr/>
          <p:nvPr/>
        </p:nvSpPr>
        <p:spPr>
          <a:xfrm>
            <a:off x="3202686" y="2304288"/>
            <a:ext cx="2708910" cy="0"/>
          </a:xfrm>
          <a:prstGeom prst="line">
            <a:avLst/>
          </a:prstGeom>
          <a:noFill/>
          <a:ln w="19050">
            <a:solidFill>
              <a:srgbClr val="B8860B"/>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3" name="Text 11"/>
          <p:cNvSpPr/>
          <p:nvPr/>
        </p:nvSpPr>
        <p:spPr>
          <a:xfrm>
            <a:off x="6062472" y="2057400"/>
            <a:ext cx="2708910" cy="219456"/>
          </a:xfrm>
          <a:prstGeom prst="rect">
            <a:avLst/>
          </a:prstGeom>
          <a:noFill/>
          <a:ln/>
        </p:spPr>
        <p:txBody>
          <a:bodyPr wrap="square" lIns="0" tIns="0" rIns="0" bIns="0" rtlCol="0" anchor="ctr"/>
          <a:lstStyle/>
          <a:p>
            <a:r>
              <a:rPr lang="en-US" sz="1200" b="1" dirty="0">
                <a:solidFill>
                  <a:srgbClr val="2E7D32"/>
                </a:solidFill>
                <a:latin typeface="Cambria Math" panose="02040503050406030204" pitchFamily="18" charset="0"/>
                <a:ea typeface="Cambria Math" panose="02040503050406030204" pitchFamily="18" charset="0"/>
                <a:cs typeface="Calibri" pitchFamily="34" charset="-120"/>
              </a:rPr>
              <a:t>TEST</a:t>
            </a:r>
            <a:endParaRPr lang="en-US" sz="1200" dirty="0">
              <a:latin typeface="Cambria Math" panose="02040503050406030204" pitchFamily="18" charset="0"/>
              <a:ea typeface="Cambria Math" panose="02040503050406030204" pitchFamily="18" charset="0"/>
            </a:endParaRPr>
          </a:p>
        </p:txBody>
      </p:sp>
      <p:sp>
        <p:nvSpPr>
          <p:cNvPr id="14" name="Shape 12"/>
          <p:cNvSpPr/>
          <p:nvPr/>
        </p:nvSpPr>
        <p:spPr>
          <a:xfrm>
            <a:off x="6062472" y="2304288"/>
            <a:ext cx="2708910" cy="0"/>
          </a:xfrm>
          <a:prstGeom prst="line">
            <a:avLst/>
          </a:prstGeom>
          <a:noFill/>
          <a:ln w="19050">
            <a:solidFill>
              <a:srgbClr val="2E7D32"/>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5" name="Text 13"/>
          <p:cNvSpPr/>
          <p:nvPr/>
        </p:nvSpPr>
        <p:spPr>
          <a:xfrm>
            <a:off x="342900" y="2400300"/>
            <a:ext cx="2708910" cy="1554666"/>
          </a:xfrm>
          <a:prstGeom prst="rect">
            <a:avLst/>
          </a:prstGeom>
          <a:noFill/>
          <a:ln/>
        </p:spPr>
        <p:txBody>
          <a:bodyPr wrap="square" lIns="0" tIns="0" rIns="0" bIns="0" rtlCol="0" anchor="t"/>
          <a:lstStyle/>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FAIDSet train + valid (EN + VI)</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 </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MAGE train: 15.000 mẫu (EN)</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 </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 Back-translation: 3.984 mẫu Human</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 </a:t>
            </a:r>
            <a:endParaRPr lang="en-US" sz="1200" dirty="0">
              <a:latin typeface="Cambria Math" panose="02040503050406030204" pitchFamily="18" charset="0"/>
              <a:ea typeface="Cambria Math" panose="02040503050406030204" pitchFamily="18" charset="0"/>
            </a:endParaRPr>
          </a:p>
          <a:p>
            <a:pPr>
              <a:lnSpc>
                <a:spcPct val="115000"/>
              </a:lnSpc>
            </a:pPr>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EN: 29.216 mẫu  (14.227 Human + 14.989 AI)</a:t>
            </a:r>
            <a:endParaRPr lang="en-US" sz="1200" dirty="0">
              <a:latin typeface="Cambria Math" panose="02040503050406030204" pitchFamily="18" charset="0"/>
              <a:ea typeface="Cambria Math" panose="02040503050406030204" pitchFamily="18" charset="0"/>
            </a:endParaRPr>
          </a:p>
          <a:p>
            <a:pPr>
              <a:lnSpc>
                <a:spcPct val="115000"/>
              </a:lnSpc>
            </a:pPr>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VI: 19.041 mẫu  (11.984 Human + 7.057 AI)</a:t>
            </a:r>
            <a:endParaRPr lang="en-US" sz="1200" dirty="0">
              <a:latin typeface="Cambria Math" panose="02040503050406030204" pitchFamily="18" charset="0"/>
              <a:ea typeface="Cambria Math" panose="02040503050406030204" pitchFamily="18" charset="0"/>
            </a:endParaRPr>
          </a:p>
          <a:p>
            <a:pPr>
              <a:lnSpc>
                <a:spcPct val="115000"/>
              </a:lnSpc>
            </a:pPr>
            <a:r>
              <a:rPr lang="en-US" sz="1200" b="1" dirty="0">
                <a:solidFill>
                  <a:srgbClr val="2E6DA4"/>
                </a:solidFill>
                <a:latin typeface="Cambria Math" panose="02040503050406030204" pitchFamily="18" charset="0"/>
                <a:ea typeface="Cambria Math" panose="02040503050406030204" pitchFamily="18" charset="0"/>
                <a:cs typeface="Calibri" pitchFamily="34" charset="-120"/>
              </a:rPr>
              <a:t>Tổng: 48.257 mẫu</a:t>
            </a:r>
            <a:endParaRPr lang="en-US" sz="1200" dirty="0">
              <a:latin typeface="Cambria Math" panose="02040503050406030204" pitchFamily="18" charset="0"/>
              <a:ea typeface="Cambria Math" panose="02040503050406030204" pitchFamily="18" charset="0"/>
            </a:endParaRPr>
          </a:p>
        </p:txBody>
      </p:sp>
      <p:sp>
        <p:nvSpPr>
          <p:cNvPr id="16" name="Text 14"/>
          <p:cNvSpPr/>
          <p:nvPr/>
        </p:nvSpPr>
        <p:spPr>
          <a:xfrm>
            <a:off x="3202686" y="2400300"/>
            <a:ext cx="2708910" cy="1234998"/>
          </a:xfrm>
          <a:prstGeom prst="rect">
            <a:avLst/>
          </a:prstGeom>
          <a:noFill/>
          <a:ln/>
        </p:spPr>
        <p:txBody>
          <a:bodyPr wrap="square" lIns="0" tIns="0" rIns="0" bIns="0" rtlCol="0" anchor="t"/>
          <a:lstStyle/>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Trích 10% từ tập train</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 </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Stratify theo ngôn ngữ &amp; nhãn</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 </a:t>
            </a:r>
            <a:endParaRPr lang="en-US" sz="1200" dirty="0">
              <a:latin typeface="Cambria Math" panose="02040503050406030204" pitchFamily="18" charset="0"/>
              <a:ea typeface="Cambria Math" panose="02040503050406030204" pitchFamily="18" charset="0"/>
            </a:endParaRPr>
          </a:p>
          <a:p>
            <a:pPr>
              <a:lnSpc>
                <a:spcPct val="115000"/>
              </a:lnSpc>
            </a:pPr>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EN: 1.359 Human + 1.666 AI</a:t>
            </a:r>
            <a:endParaRPr lang="en-US" sz="1200" dirty="0">
              <a:latin typeface="Cambria Math" panose="02040503050406030204" pitchFamily="18" charset="0"/>
              <a:ea typeface="Cambria Math" panose="02040503050406030204" pitchFamily="18" charset="0"/>
            </a:endParaRPr>
          </a:p>
          <a:p>
            <a:pPr>
              <a:lnSpc>
                <a:spcPct val="115000"/>
              </a:lnSpc>
            </a:pPr>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VI: 1.111 Human + 784 AI</a:t>
            </a:r>
            <a:endParaRPr lang="en-US" sz="1200" dirty="0">
              <a:latin typeface="Cambria Math" panose="02040503050406030204" pitchFamily="18" charset="0"/>
              <a:ea typeface="Cambria Math" panose="02040503050406030204" pitchFamily="18" charset="0"/>
            </a:endParaRPr>
          </a:p>
          <a:p>
            <a:pPr>
              <a:lnSpc>
                <a:spcPct val="115000"/>
              </a:lnSpc>
            </a:pPr>
            <a:r>
              <a:rPr lang="en-US" sz="1200" b="1" dirty="0">
                <a:solidFill>
                  <a:srgbClr val="B8860B"/>
                </a:solidFill>
                <a:latin typeface="Cambria Math" panose="02040503050406030204" pitchFamily="18" charset="0"/>
                <a:ea typeface="Cambria Math" panose="02040503050406030204" pitchFamily="18" charset="0"/>
                <a:cs typeface="Calibri" pitchFamily="34" charset="-120"/>
              </a:rPr>
              <a:t>Tổng: 4.920 mẫu</a:t>
            </a:r>
            <a:endParaRPr lang="en-US" sz="1200" dirty="0">
              <a:latin typeface="Cambria Math" panose="02040503050406030204" pitchFamily="18" charset="0"/>
              <a:ea typeface="Cambria Math" panose="02040503050406030204" pitchFamily="18" charset="0"/>
            </a:endParaRPr>
          </a:p>
        </p:txBody>
      </p:sp>
      <p:sp>
        <p:nvSpPr>
          <p:cNvPr id="17" name="Text 15"/>
          <p:cNvSpPr/>
          <p:nvPr/>
        </p:nvSpPr>
        <p:spPr>
          <a:xfrm>
            <a:off x="6062472" y="2400300"/>
            <a:ext cx="2708910" cy="1139013"/>
          </a:xfrm>
          <a:prstGeom prst="rect">
            <a:avLst/>
          </a:prstGeom>
          <a:noFill/>
          <a:ln/>
        </p:spPr>
        <p:txBody>
          <a:bodyPr wrap="square" lIns="0" tIns="0" rIns="0" bIns="0" rtlCol="0" anchor="t"/>
          <a:lstStyle/>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EN: FAIDSet test EN + MAGE test</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 </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VI: FAIDSet test VI</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 </a:t>
            </a:r>
            <a:endParaRPr lang="en-US" sz="1200" dirty="0">
              <a:latin typeface="Cambria Math" panose="02040503050406030204" pitchFamily="18" charset="0"/>
              <a:ea typeface="Cambria Math" panose="02040503050406030204" pitchFamily="18" charset="0"/>
            </a:endParaRPr>
          </a:p>
          <a:p>
            <a:pPr>
              <a:lnSpc>
                <a:spcPct val="115000"/>
              </a:lnSpc>
            </a:pPr>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EN: 62.621 mẫu  (30.899 Human + 31.722 AI)</a:t>
            </a:r>
            <a:endParaRPr lang="en-US" sz="1200" dirty="0">
              <a:latin typeface="Cambria Math" panose="02040503050406030204" pitchFamily="18" charset="0"/>
              <a:ea typeface="Cambria Math" panose="02040503050406030204" pitchFamily="18" charset="0"/>
            </a:endParaRPr>
          </a:p>
          <a:p>
            <a:pPr>
              <a:lnSpc>
                <a:spcPct val="115000"/>
              </a:lnSpc>
            </a:pPr>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VI: 3.278 mẫu  (1.958 Human + 1.320 AI)</a:t>
            </a:r>
            <a:endParaRPr lang="en-US" sz="1200" dirty="0">
              <a:latin typeface="Cambria Math" panose="02040503050406030204" pitchFamily="18" charset="0"/>
              <a:ea typeface="Cambria Math" panose="02040503050406030204" pitchFamily="18" charset="0"/>
            </a:endParaRPr>
          </a:p>
          <a:p>
            <a:pPr>
              <a:lnSpc>
                <a:spcPct val="115000"/>
              </a:lnSpc>
            </a:pPr>
            <a:r>
              <a:rPr lang="en-US" sz="1200" b="1" dirty="0">
                <a:solidFill>
                  <a:srgbClr val="2E7D32"/>
                </a:solidFill>
                <a:latin typeface="Cambria Math" panose="02040503050406030204" pitchFamily="18" charset="0"/>
                <a:ea typeface="Cambria Math" panose="02040503050406030204" pitchFamily="18" charset="0"/>
                <a:cs typeface="Calibri" pitchFamily="34" charset="-120"/>
              </a:rPr>
              <a:t>Tổng: 65.899 mẫu</a:t>
            </a:r>
            <a:endParaRPr lang="en-US" sz="1200" dirty="0">
              <a:latin typeface="Cambria Math" panose="02040503050406030204" pitchFamily="18" charset="0"/>
              <a:ea typeface="Cambria Math" panose="02040503050406030204" pitchFamily="18" charset="0"/>
            </a:endParaRPr>
          </a:p>
        </p:txBody>
      </p:sp>
      <p:grpSp>
        <p:nvGrpSpPr>
          <p:cNvPr id="21" name="Group 25">
            <a:extLst>
              <a:ext uri="{FF2B5EF4-FFF2-40B4-BE49-F238E27FC236}">
                <a16:creationId xmlns:a16="http://schemas.microsoft.com/office/drawing/2014/main" id="{4783AE15-41FE-CD63-3A86-0BC1811E839A}"/>
              </a:ext>
            </a:extLst>
          </p:cNvPr>
          <p:cNvGrpSpPr/>
          <p:nvPr/>
        </p:nvGrpSpPr>
        <p:grpSpPr>
          <a:xfrm>
            <a:off x="699516" y="272606"/>
            <a:ext cx="28575" cy="285368"/>
            <a:chOff x="0" y="0"/>
            <a:chExt cx="76200" cy="760981"/>
          </a:xfrm>
        </p:grpSpPr>
        <p:sp>
          <p:nvSpPr>
            <p:cNvPr id="22" name="Freeform 26">
              <a:extLst>
                <a:ext uri="{FF2B5EF4-FFF2-40B4-BE49-F238E27FC236}">
                  <a16:creationId xmlns:a16="http://schemas.microsoft.com/office/drawing/2014/main" id="{8EB018A5-82D8-383E-C050-F57CF57F4718}"/>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3"/>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23" name="TextBox 27">
            <a:extLst>
              <a:ext uri="{FF2B5EF4-FFF2-40B4-BE49-F238E27FC236}">
                <a16:creationId xmlns:a16="http://schemas.microsoft.com/office/drawing/2014/main" id="{381251CC-F2FF-8AA0-A95A-C17A2518EA14}"/>
              </a:ext>
            </a:extLst>
          </p:cNvPr>
          <p:cNvSpPr txBox="1"/>
          <p:nvPr/>
        </p:nvSpPr>
        <p:spPr>
          <a:xfrm>
            <a:off x="812644" y="283464"/>
            <a:ext cx="3105208" cy="294953"/>
          </a:xfrm>
          <a:prstGeom prst="rect">
            <a:avLst/>
          </a:prstGeom>
        </p:spPr>
        <p:txBody>
          <a:bodyPr wrap="square" lIns="0" tIns="0" rIns="0" bIns="0" rtlCol="0" anchor="t">
            <a:spAutoFit/>
          </a:bodyPr>
          <a:lstStyle/>
          <a:p>
            <a:pPr>
              <a:lnSpc>
                <a:spcPts val="2280"/>
              </a:lnSpc>
            </a:pP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Dữ</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liệu</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24" name="TextBox 28">
            <a:extLst>
              <a:ext uri="{FF2B5EF4-FFF2-40B4-BE49-F238E27FC236}">
                <a16:creationId xmlns:a16="http://schemas.microsoft.com/office/drawing/2014/main" id="{A2FBBB57-E63F-FD24-1E6A-5DF3D36298A7}"/>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3.1</a:t>
            </a:r>
          </a:p>
        </p:txBody>
      </p:sp>
      <p:sp>
        <p:nvSpPr>
          <p:cNvPr id="25" name="TextBox 22">
            <a:extLst>
              <a:ext uri="{FF2B5EF4-FFF2-40B4-BE49-F238E27FC236}">
                <a16:creationId xmlns:a16="http://schemas.microsoft.com/office/drawing/2014/main" id="{31071FD4-9D80-508A-E682-03343FDC689F}"/>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26" name="Group 23">
            <a:extLst>
              <a:ext uri="{FF2B5EF4-FFF2-40B4-BE49-F238E27FC236}">
                <a16:creationId xmlns:a16="http://schemas.microsoft.com/office/drawing/2014/main" id="{CA7D444E-2159-B14C-F7F8-69BDB209A690}"/>
              </a:ext>
            </a:extLst>
          </p:cNvPr>
          <p:cNvGrpSpPr/>
          <p:nvPr/>
        </p:nvGrpSpPr>
        <p:grpSpPr>
          <a:xfrm>
            <a:off x="0" y="4870323"/>
            <a:ext cx="9144000" cy="274320"/>
            <a:chOff x="0" y="0"/>
            <a:chExt cx="24384000" cy="731520"/>
          </a:xfrm>
        </p:grpSpPr>
        <p:sp>
          <p:nvSpPr>
            <p:cNvPr id="27" name="Freeform 24">
              <a:extLst>
                <a:ext uri="{FF2B5EF4-FFF2-40B4-BE49-F238E27FC236}">
                  <a16:creationId xmlns:a16="http://schemas.microsoft.com/office/drawing/2014/main" id="{460DF0C5-B275-FD2B-8A86-CB4C0ACA6F91}"/>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28" name="TextBox 25">
            <a:extLst>
              <a:ext uri="{FF2B5EF4-FFF2-40B4-BE49-F238E27FC236}">
                <a16:creationId xmlns:a16="http://schemas.microsoft.com/office/drawing/2014/main" id="{6A2A2F99-3940-7192-DFAB-DABC08C3AC85}"/>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29" name="TextBox 26">
            <a:extLst>
              <a:ext uri="{FF2B5EF4-FFF2-40B4-BE49-F238E27FC236}">
                <a16:creationId xmlns:a16="http://schemas.microsoft.com/office/drawing/2014/main" id="{A4BB5A73-6DA5-424D-4A86-DDB68E4B2B3A}"/>
              </a:ext>
            </a:extLst>
          </p:cNvPr>
          <p:cNvSpPr txBox="1"/>
          <p:nvPr/>
        </p:nvSpPr>
        <p:spPr>
          <a:xfrm>
            <a:off x="8103474" y="4916519"/>
            <a:ext cx="912237"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9/25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11480" y="777240"/>
            <a:ext cx="8321040" cy="274320"/>
          </a:xfrm>
          <a:prstGeom prst="rect">
            <a:avLst/>
          </a:prstGeom>
          <a:noFill/>
          <a:ln/>
        </p:spPr>
        <p:txBody>
          <a:bodyPr wrap="square" lIns="0" tIns="0" rIns="0" bIns="0" rtlCol="0" anchor="ctr"/>
          <a:lstStyle/>
          <a:p>
            <a:pPr marL="0" indent="0">
              <a:buNone/>
            </a:pPr>
            <a:r>
              <a:rPr lang="en-US" sz="1600" b="1" dirty="0">
                <a:solidFill>
                  <a:srgbClr val="2E75B6"/>
                </a:solidFill>
                <a:latin typeface="Cambria Math" panose="02040503050406030204" pitchFamily="18" charset="0"/>
                <a:ea typeface="Cambria Math" panose="02040503050406030204" pitchFamily="18" charset="0"/>
                <a:cs typeface="Calibri" pitchFamily="34" charset="-120"/>
              </a:rPr>
              <a:t>Chuẩn hóa văn bản</a:t>
            </a:r>
            <a:endParaRPr lang="en-US" sz="1600" dirty="0">
              <a:latin typeface="Cambria Math" panose="02040503050406030204" pitchFamily="18" charset="0"/>
              <a:ea typeface="Cambria Math" panose="02040503050406030204" pitchFamily="18" charset="0"/>
            </a:endParaRPr>
          </a:p>
        </p:txBody>
      </p:sp>
      <p:sp>
        <p:nvSpPr>
          <p:cNvPr id="5" name="Shape 3"/>
          <p:cNvSpPr/>
          <p:nvPr/>
        </p:nvSpPr>
        <p:spPr>
          <a:xfrm>
            <a:off x="411480" y="1069848"/>
            <a:ext cx="8321040" cy="0"/>
          </a:xfrm>
          <a:prstGeom prst="line">
            <a:avLst/>
          </a:prstGeom>
          <a:noFill/>
          <a:ln w="6350">
            <a:solidFill>
              <a:srgbClr val="DDDDDD"/>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6" name="Text 4"/>
          <p:cNvSpPr/>
          <p:nvPr/>
        </p:nvSpPr>
        <p:spPr>
          <a:xfrm>
            <a:off x="411480" y="1115568"/>
            <a:ext cx="8321040" cy="692130"/>
          </a:xfrm>
          <a:prstGeom prst="rect">
            <a:avLst/>
          </a:prstGeom>
          <a:noFill/>
          <a:ln/>
        </p:spPr>
        <p:txBody>
          <a:bodyPr wrap="square" lIns="0" tIns="0" rIns="0" bIns="0" rtlCol="0" anchor="ctr"/>
          <a:lstStyle/>
          <a:p>
            <a:pPr marL="0" indent="0">
              <a:buNone/>
            </a:pPr>
            <a:r>
              <a:rPr lang="en-US" sz="1200" dirty="0">
                <a:solidFill>
                  <a:srgbClr val="1A1A2E"/>
                </a:solidFill>
                <a:latin typeface="Cambria Math" panose="02040503050406030204" pitchFamily="18" charset="0"/>
                <a:ea typeface="Cambria Math" panose="02040503050406030204" pitchFamily="18" charset="0"/>
                <a:cs typeface="Calibri" pitchFamily="34" charset="-120"/>
              </a:rPr>
              <a:t>Toàn bộ văn bản được đưa qua bước chuẩn hóa khoảng trắng: loại bỏ các ký tự thừa, tab, xuống dòng dư thừa và thay thế bằng một khoảng trắng đơn. Mục tiêu là đảm bảo đầu vào cho tokenizer không bị nhiễu bởi các ký tự không mang nghĩa, đặc biệt với văn bản thu thập từ nhiều nguồn khác nhau có thể có định dạng không đồng nhất.</a:t>
            </a:r>
            <a:endParaRPr lang="en-US" sz="1200" dirty="0">
              <a:latin typeface="Cambria Math" panose="02040503050406030204" pitchFamily="18" charset="0"/>
              <a:ea typeface="Cambria Math" panose="02040503050406030204" pitchFamily="18" charset="0"/>
            </a:endParaRPr>
          </a:p>
        </p:txBody>
      </p:sp>
      <p:sp>
        <p:nvSpPr>
          <p:cNvPr id="7" name="Text 5"/>
          <p:cNvSpPr/>
          <p:nvPr/>
        </p:nvSpPr>
        <p:spPr>
          <a:xfrm>
            <a:off x="411480" y="2011680"/>
            <a:ext cx="8321040" cy="274320"/>
          </a:xfrm>
          <a:prstGeom prst="rect">
            <a:avLst/>
          </a:prstGeom>
          <a:noFill/>
          <a:ln/>
        </p:spPr>
        <p:txBody>
          <a:bodyPr wrap="square" lIns="0" tIns="0" rIns="0" bIns="0" rtlCol="0" anchor="ctr"/>
          <a:lstStyle/>
          <a:p>
            <a:pPr marL="0" indent="0">
              <a:buNone/>
            </a:pPr>
            <a:r>
              <a:rPr lang="en-US" sz="1600" b="1" dirty="0">
                <a:solidFill>
                  <a:srgbClr val="2E75B6"/>
                </a:solidFill>
                <a:latin typeface="Cambria Math" panose="02040503050406030204" pitchFamily="18" charset="0"/>
                <a:ea typeface="Cambria Math" panose="02040503050406030204" pitchFamily="18" charset="0"/>
                <a:cs typeface="Calibri" pitchFamily="34" charset="-120"/>
              </a:rPr>
              <a:t>Lọc văn bản quá ngắn</a:t>
            </a:r>
            <a:endParaRPr lang="en-US" sz="1600" dirty="0">
              <a:latin typeface="Cambria Math" panose="02040503050406030204" pitchFamily="18" charset="0"/>
              <a:ea typeface="Cambria Math" panose="02040503050406030204" pitchFamily="18" charset="0"/>
            </a:endParaRPr>
          </a:p>
        </p:txBody>
      </p:sp>
      <p:sp>
        <p:nvSpPr>
          <p:cNvPr id="8" name="Shape 6"/>
          <p:cNvSpPr/>
          <p:nvPr/>
        </p:nvSpPr>
        <p:spPr>
          <a:xfrm>
            <a:off x="411480" y="2304288"/>
            <a:ext cx="8321040" cy="0"/>
          </a:xfrm>
          <a:prstGeom prst="line">
            <a:avLst/>
          </a:prstGeom>
          <a:noFill/>
          <a:ln w="6350">
            <a:solidFill>
              <a:srgbClr val="DDDDDD"/>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9" name="Text 7"/>
          <p:cNvSpPr/>
          <p:nvPr/>
        </p:nvSpPr>
        <p:spPr>
          <a:xfrm>
            <a:off x="411480" y="2350008"/>
            <a:ext cx="8321040" cy="594360"/>
          </a:xfrm>
          <a:prstGeom prst="rect">
            <a:avLst/>
          </a:prstGeom>
          <a:noFill/>
          <a:ln/>
        </p:spPr>
        <p:txBody>
          <a:bodyPr wrap="square" lIns="0" tIns="0" rIns="0" bIns="0" rtlCol="0" anchor="ctr"/>
          <a:lstStyle/>
          <a:p>
            <a:pPr marL="0" indent="0">
              <a:buNone/>
            </a:pPr>
            <a:r>
              <a:rPr lang="en-US" sz="1200" dirty="0">
                <a:solidFill>
                  <a:srgbClr val="1A1A2E"/>
                </a:solidFill>
                <a:latin typeface="Cambria Math" panose="02040503050406030204" pitchFamily="18" charset="0"/>
                <a:ea typeface="Cambria Math" panose="02040503050406030204" pitchFamily="18" charset="0"/>
                <a:cs typeface="Calibri" pitchFamily="34" charset="-120"/>
              </a:rPr>
              <a:t>Các mẫu có độ dài dưới 50 ký tự bị loại bỏ khỏi tập dữ liệu. Văn bản quá ngắn thường không mang đủ đặc trưng ngôn ngữ để mô hình học được sự khác biệt giữa Human và AI — đồng thời dễ gây nhiễu trong quá trình huấn luyện. </a:t>
            </a:r>
            <a:endParaRPr lang="en-US" sz="1200" dirty="0">
              <a:latin typeface="Cambria Math" panose="02040503050406030204" pitchFamily="18" charset="0"/>
              <a:ea typeface="Cambria Math" panose="02040503050406030204" pitchFamily="18" charset="0"/>
            </a:endParaRPr>
          </a:p>
        </p:txBody>
      </p:sp>
      <p:grpSp>
        <p:nvGrpSpPr>
          <p:cNvPr id="16" name="Group 25">
            <a:extLst>
              <a:ext uri="{FF2B5EF4-FFF2-40B4-BE49-F238E27FC236}">
                <a16:creationId xmlns:a16="http://schemas.microsoft.com/office/drawing/2014/main" id="{D97FC68C-5690-EBE3-B591-CDD79EBE421D}"/>
              </a:ext>
            </a:extLst>
          </p:cNvPr>
          <p:cNvGrpSpPr/>
          <p:nvPr/>
        </p:nvGrpSpPr>
        <p:grpSpPr>
          <a:xfrm>
            <a:off x="699516" y="272606"/>
            <a:ext cx="28575" cy="285368"/>
            <a:chOff x="0" y="0"/>
            <a:chExt cx="76200" cy="760981"/>
          </a:xfrm>
        </p:grpSpPr>
        <p:sp>
          <p:nvSpPr>
            <p:cNvPr id="17" name="Freeform 26">
              <a:extLst>
                <a:ext uri="{FF2B5EF4-FFF2-40B4-BE49-F238E27FC236}">
                  <a16:creationId xmlns:a16="http://schemas.microsoft.com/office/drawing/2014/main" id="{697DAF75-216F-D100-6E63-F63B92A3442F}"/>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3"/>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18" name="TextBox 27">
            <a:extLst>
              <a:ext uri="{FF2B5EF4-FFF2-40B4-BE49-F238E27FC236}">
                <a16:creationId xmlns:a16="http://schemas.microsoft.com/office/drawing/2014/main" id="{C7DF2C93-ACD2-32A8-DFE1-A39B066F2640}"/>
              </a:ext>
            </a:extLst>
          </p:cNvPr>
          <p:cNvSpPr txBox="1"/>
          <p:nvPr/>
        </p:nvSpPr>
        <p:spPr>
          <a:xfrm>
            <a:off x="812644" y="283464"/>
            <a:ext cx="3105208" cy="294953"/>
          </a:xfrm>
          <a:prstGeom prst="rect">
            <a:avLst/>
          </a:prstGeom>
        </p:spPr>
        <p:txBody>
          <a:bodyPr wrap="square" lIns="0" tIns="0" rIns="0" bIns="0" rtlCol="0" anchor="t">
            <a:spAutoFit/>
          </a:bodyPr>
          <a:lstStyle/>
          <a:p>
            <a:pPr>
              <a:lnSpc>
                <a:spcPts val="2280"/>
              </a:lnSpc>
            </a:pP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Tiền</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xử</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lý</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dữ</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liệu</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19" name="TextBox 28">
            <a:extLst>
              <a:ext uri="{FF2B5EF4-FFF2-40B4-BE49-F238E27FC236}">
                <a16:creationId xmlns:a16="http://schemas.microsoft.com/office/drawing/2014/main" id="{95883706-8B47-9EA0-485B-E581E11028A6}"/>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3.2</a:t>
            </a:r>
          </a:p>
        </p:txBody>
      </p:sp>
      <p:sp>
        <p:nvSpPr>
          <p:cNvPr id="20" name="TextBox 22">
            <a:extLst>
              <a:ext uri="{FF2B5EF4-FFF2-40B4-BE49-F238E27FC236}">
                <a16:creationId xmlns:a16="http://schemas.microsoft.com/office/drawing/2014/main" id="{DBF77916-8D77-55F0-2F6B-785ACAFEE3FF}"/>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21" name="Group 23">
            <a:extLst>
              <a:ext uri="{FF2B5EF4-FFF2-40B4-BE49-F238E27FC236}">
                <a16:creationId xmlns:a16="http://schemas.microsoft.com/office/drawing/2014/main" id="{8062E63C-FF29-8456-66E6-244876BE1C8A}"/>
              </a:ext>
            </a:extLst>
          </p:cNvPr>
          <p:cNvGrpSpPr/>
          <p:nvPr/>
        </p:nvGrpSpPr>
        <p:grpSpPr>
          <a:xfrm>
            <a:off x="0" y="4870323"/>
            <a:ext cx="9144000" cy="274320"/>
            <a:chOff x="0" y="0"/>
            <a:chExt cx="24384000" cy="731520"/>
          </a:xfrm>
        </p:grpSpPr>
        <p:sp>
          <p:nvSpPr>
            <p:cNvPr id="22" name="Freeform 24">
              <a:extLst>
                <a:ext uri="{FF2B5EF4-FFF2-40B4-BE49-F238E27FC236}">
                  <a16:creationId xmlns:a16="http://schemas.microsoft.com/office/drawing/2014/main" id="{2573EB6B-C2B2-4AC9-1E71-096F575FFD4D}"/>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23" name="TextBox 25">
            <a:extLst>
              <a:ext uri="{FF2B5EF4-FFF2-40B4-BE49-F238E27FC236}">
                <a16:creationId xmlns:a16="http://schemas.microsoft.com/office/drawing/2014/main" id="{7278D44F-638C-A64D-5E6F-4A2B9413E6B8}"/>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24" name="TextBox 26">
            <a:extLst>
              <a:ext uri="{FF2B5EF4-FFF2-40B4-BE49-F238E27FC236}">
                <a16:creationId xmlns:a16="http://schemas.microsoft.com/office/drawing/2014/main" id="{20D6ECD3-1A08-62BE-BCBA-A92DC791E1CD}"/>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10/25</a:t>
            </a:r>
          </a:p>
        </p:txBody>
      </p:sp>
      <p:sp>
        <p:nvSpPr>
          <p:cNvPr id="3" name="Text 10">
            <a:extLst>
              <a:ext uri="{FF2B5EF4-FFF2-40B4-BE49-F238E27FC236}">
                <a16:creationId xmlns:a16="http://schemas.microsoft.com/office/drawing/2014/main" id="{1060D940-1FD7-B970-E754-EDAA858F1888}"/>
              </a:ext>
            </a:extLst>
          </p:cNvPr>
          <p:cNvSpPr/>
          <p:nvPr/>
        </p:nvSpPr>
        <p:spPr>
          <a:xfrm>
            <a:off x="411480" y="3124009"/>
            <a:ext cx="6172200" cy="240030"/>
          </a:xfrm>
          <a:prstGeom prst="rect">
            <a:avLst/>
          </a:prstGeom>
          <a:noFill/>
          <a:ln/>
        </p:spPr>
        <p:txBody>
          <a:bodyPr wrap="square" lIns="0" tIns="0" rIns="0" bIns="0" rtlCol="0" anchor="ctr"/>
          <a:lstStyle/>
          <a:p>
            <a:r>
              <a:rPr lang="en-US" sz="1600" b="1" dirty="0">
                <a:solidFill>
                  <a:srgbClr val="2E75B6"/>
                </a:solidFill>
                <a:latin typeface="Cambria Math" panose="02040503050406030204" pitchFamily="18" charset="0"/>
                <a:ea typeface="Cambria Math" panose="02040503050406030204" pitchFamily="18" charset="0"/>
                <a:cs typeface="Calibri" pitchFamily="34" charset="-120"/>
              </a:rPr>
              <a:t>Tăng cường dữ liệu (Back-translation)</a:t>
            </a:r>
          </a:p>
        </p:txBody>
      </p:sp>
      <p:sp>
        <p:nvSpPr>
          <p:cNvPr id="11" name="Shape 11">
            <a:extLst>
              <a:ext uri="{FF2B5EF4-FFF2-40B4-BE49-F238E27FC236}">
                <a16:creationId xmlns:a16="http://schemas.microsoft.com/office/drawing/2014/main" id="{420D890B-1D74-BAB1-3636-9698A513E159}"/>
              </a:ext>
            </a:extLst>
          </p:cNvPr>
          <p:cNvSpPr/>
          <p:nvPr/>
        </p:nvSpPr>
        <p:spPr>
          <a:xfrm>
            <a:off x="411480" y="3412045"/>
            <a:ext cx="8401050" cy="0"/>
          </a:xfrm>
          <a:prstGeom prst="line">
            <a:avLst/>
          </a:prstGeom>
          <a:noFill/>
          <a:ln w="12700">
            <a:solidFill>
              <a:srgbClr val="D9D9D9"/>
            </a:solidFill>
            <a:prstDash val="solid"/>
          </a:ln>
        </p:spPr>
        <p:txBody>
          <a:bodyPr/>
          <a:lstStyle/>
          <a:p>
            <a:endParaRPr lang="en-US" sz="1350"/>
          </a:p>
        </p:txBody>
      </p:sp>
      <p:sp>
        <p:nvSpPr>
          <p:cNvPr id="15" name="Shape 13">
            <a:extLst>
              <a:ext uri="{FF2B5EF4-FFF2-40B4-BE49-F238E27FC236}">
                <a16:creationId xmlns:a16="http://schemas.microsoft.com/office/drawing/2014/main" id="{7A98D4CF-A771-3D3F-2F2B-055965939C68}"/>
              </a:ext>
            </a:extLst>
          </p:cNvPr>
          <p:cNvSpPr/>
          <p:nvPr/>
        </p:nvSpPr>
        <p:spPr>
          <a:xfrm>
            <a:off x="411480" y="3553444"/>
            <a:ext cx="4080510" cy="582930"/>
          </a:xfrm>
          <a:prstGeom prst="rect">
            <a:avLst/>
          </a:prstGeom>
          <a:solidFill>
            <a:srgbClr val="FCEAEC"/>
          </a:solidFill>
          <a:ln w="12700">
            <a:solidFill>
              <a:srgbClr val="B0001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26" name="Text 14">
            <a:extLst>
              <a:ext uri="{FF2B5EF4-FFF2-40B4-BE49-F238E27FC236}">
                <a16:creationId xmlns:a16="http://schemas.microsoft.com/office/drawing/2014/main" id="{D6B628C9-E251-98C5-A9B7-95BAE834765B}"/>
              </a:ext>
            </a:extLst>
          </p:cNvPr>
          <p:cNvSpPr/>
          <p:nvPr/>
        </p:nvSpPr>
        <p:spPr>
          <a:xfrm>
            <a:off x="534924" y="3622024"/>
            <a:ext cx="3833622" cy="445770"/>
          </a:xfrm>
          <a:prstGeom prst="rect">
            <a:avLst/>
          </a:prstGeom>
          <a:noFill/>
          <a:ln/>
        </p:spPr>
        <p:txBody>
          <a:bodyPr wrap="square" lIns="0" tIns="0" rIns="0" bIns="0" rtlCol="0" anchor="t"/>
          <a:lstStyle/>
          <a:p>
            <a:pPr>
              <a:lnSpc>
                <a:spcPct val="125000"/>
              </a:lnSpc>
            </a:pPr>
            <a:r>
              <a:rPr lang="en-US" sz="1200" b="1" dirty="0">
                <a:solidFill>
                  <a:srgbClr val="B0001A"/>
                </a:solidFill>
                <a:latin typeface="Cambria Math" panose="02040503050406030204" pitchFamily="18" charset="0"/>
                <a:ea typeface="Cambria Math" panose="02040503050406030204" pitchFamily="18" charset="0"/>
                <a:cs typeface="Arial" pitchFamily="34" charset="-120"/>
              </a:rPr>
              <a:t>Tiếng Anh:  </a:t>
            </a:r>
            <a:r>
              <a:rPr lang="en-US" sz="1200" dirty="0">
                <a:solidFill>
                  <a:srgbClr val="262626"/>
                </a:solidFill>
                <a:latin typeface="Cambria Math" panose="02040503050406030204" pitchFamily="18" charset="0"/>
                <a:ea typeface="Cambria Math" panose="02040503050406030204" pitchFamily="18" charset="0"/>
                <a:cs typeface="Arial" pitchFamily="34" charset="-120"/>
              </a:rPr>
              <a:t>EN → FR → EN</a:t>
            </a:r>
            <a:endParaRPr lang="en-US" sz="1200" dirty="0">
              <a:latin typeface="Cambria Math" panose="02040503050406030204" pitchFamily="18" charset="0"/>
              <a:ea typeface="Cambria Math" panose="02040503050406030204" pitchFamily="18" charset="0"/>
            </a:endParaRPr>
          </a:p>
          <a:p>
            <a:pPr>
              <a:lnSpc>
                <a:spcPct val="125000"/>
              </a:lnSpc>
            </a:pPr>
            <a:r>
              <a:rPr lang="en-US" sz="1200" dirty="0">
                <a:solidFill>
                  <a:srgbClr val="595959"/>
                </a:solidFill>
                <a:latin typeface="Cambria Math" panose="02040503050406030204" pitchFamily="18" charset="0"/>
                <a:ea typeface="Cambria Math" panose="02040503050406030204" pitchFamily="18" charset="0"/>
                <a:cs typeface="Arial" pitchFamily="34" charset="-120"/>
              </a:rPr>
              <a:t>2,000 mẫu Human → 1,998 mẫu sau clean+filter</a:t>
            </a:r>
            <a:endParaRPr lang="en-US" sz="1200" dirty="0">
              <a:latin typeface="Cambria Math" panose="02040503050406030204" pitchFamily="18" charset="0"/>
              <a:ea typeface="Cambria Math" panose="02040503050406030204" pitchFamily="18" charset="0"/>
            </a:endParaRPr>
          </a:p>
        </p:txBody>
      </p:sp>
      <p:sp>
        <p:nvSpPr>
          <p:cNvPr id="28" name="Shape 15">
            <a:extLst>
              <a:ext uri="{FF2B5EF4-FFF2-40B4-BE49-F238E27FC236}">
                <a16:creationId xmlns:a16="http://schemas.microsoft.com/office/drawing/2014/main" id="{B5BC27DD-843E-52D6-B3EC-6BF1DE21EDBF}"/>
              </a:ext>
            </a:extLst>
          </p:cNvPr>
          <p:cNvSpPr/>
          <p:nvPr/>
        </p:nvSpPr>
        <p:spPr>
          <a:xfrm>
            <a:off x="4732020" y="3553444"/>
            <a:ext cx="4080510" cy="582930"/>
          </a:xfrm>
          <a:prstGeom prst="rect">
            <a:avLst/>
          </a:prstGeom>
          <a:solidFill>
            <a:srgbClr val="FCEAEC"/>
          </a:solidFill>
          <a:ln w="12700">
            <a:solidFill>
              <a:srgbClr val="B0001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30" name="Text 16">
            <a:extLst>
              <a:ext uri="{FF2B5EF4-FFF2-40B4-BE49-F238E27FC236}">
                <a16:creationId xmlns:a16="http://schemas.microsoft.com/office/drawing/2014/main" id="{F6802C53-BD13-474D-1950-3E0AB750BCBB}"/>
              </a:ext>
            </a:extLst>
          </p:cNvPr>
          <p:cNvSpPr/>
          <p:nvPr/>
        </p:nvSpPr>
        <p:spPr>
          <a:xfrm>
            <a:off x="4855464" y="3622024"/>
            <a:ext cx="3833622" cy="445770"/>
          </a:xfrm>
          <a:prstGeom prst="rect">
            <a:avLst/>
          </a:prstGeom>
          <a:noFill/>
          <a:ln/>
        </p:spPr>
        <p:txBody>
          <a:bodyPr wrap="square" lIns="0" tIns="0" rIns="0" bIns="0" rtlCol="0" anchor="t"/>
          <a:lstStyle/>
          <a:p>
            <a:pPr>
              <a:lnSpc>
                <a:spcPct val="125000"/>
              </a:lnSpc>
            </a:pPr>
            <a:r>
              <a:rPr lang="en-US" sz="1200" b="1" dirty="0">
                <a:solidFill>
                  <a:srgbClr val="B0001A"/>
                </a:solidFill>
                <a:latin typeface="Cambria Math" panose="02040503050406030204" pitchFamily="18" charset="0"/>
                <a:ea typeface="Cambria Math" panose="02040503050406030204" pitchFamily="18" charset="0"/>
                <a:cs typeface="Arial" pitchFamily="34" charset="-120"/>
              </a:rPr>
              <a:t>Tiếng Việt:  </a:t>
            </a:r>
            <a:r>
              <a:rPr lang="en-US" sz="1200" dirty="0">
                <a:solidFill>
                  <a:srgbClr val="262626"/>
                </a:solidFill>
                <a:latin typeface="Cambria Math" panose="02040503050406030204" pitchFamily="18" charset="0"/>
                <a:ea typeface="Cambria Math" panose="02040503050406030204" pitchFamily="18" charset="0"/>
                <a:cs typeface="Arial" pitchFamily="34" charset="-120"/>
              </a:rPr>
              <a:t>VI → EN → VI</a:t>
            </a:r>
            <a:endParaRPr lang="en-US" sz="1200" dirty="0">
              <a:latin typeface="Cambria Math" panose="02040503050406030204" pitchFamily="18" charset="0"/>
              <a:ea typeface="Cambria Math" panose="02040503050406030204" pitchFamily="18" charset="0"/>
            </a:endParaRPr>
          </a:p>
          <a:p>
            <a:pPr>
              <a:lnSpc>
                <a:spcPct val="125000"/>
              </a:lnSpc>
            </a:pPr>
            <a:r>
              <a:rPr lang="en-US" sz="1200" dirty="0">
                <a:solidFill>
                  <a:srgbClr val="595959"/>
                </a:solidFill>
                <a:latin typeface="Cambria Math" panose="02040503050406030204" pitchFamily="18" charset="0"/>
                <a:ea typeface="Cambria Math" panose="02040503050406030204" pitchFamily="18" charset="0"/>
                <a:cs typeface="Arial" pitchFamily="34" charset="-120"/>
              </a:rPr>
              <a:t>2,000 mẫu Human → 1,986 mẫu sau clean+filter</a:t>
            </a:r>
            <a:endParaRPr lang="en-US" sz="1200" dirty="0">
              <a:latin typeface="Cambria Math" panose="02040503050406030204" pitchFamily="18" charset="0"/>
              <a:ea typeface="Cambria Math" panose="02040503050406030204" pitchFamily="18" charset="0"/>
            </a:endParaRPr>
          </a:p>
        </p:txBody>
      </p:sp>
      <p:sp>
        <p:nvSpPr>
          <p:cNvPr id="32" name="Text 17">
            <a:extLst>
              <a:ext uri="{FF2B5EF4-FFF2-40B4-BE49-F238E27FC236}">
                <a16:creationId xmlns:a16="http://schemas.microsoft.com/office/drawing/2014/main" id="{D837CEEF-6349-8CFD-70EF-F0BA1F56FA04}"/>
              </a:ext>
            </a:extLst>
          </p:cNvPr>
          <p:cNvSpPr/>
          <p:nvPr/>
        </p:nvSpPr>
        <p:spPr>
          <a:xfrm>
            <a:off x="411480" y="4287250"/>
            <a:ext cx="8401050" cy="274320"/>
          </a:xfrm>
          <a:prstGeom prst="rect">
            <a:avLst/>
          </a:prstGeom>
          <a:noFill/>
          <a:ln/>
        </p:spPr>
        <p:txBody>
          <a:bodyPr wrap="square" lIns="0" tIns="0" rIns="0" bIns="0" rtlCol="0" anchor="ctr"/>
          <a:lstStyle/>
          <a:p>
            <a:r>
              <a:rPr lang="en-US" sz="1200" b="1" dirty="0">
                <a:solidFill>
                  <a:srgbClr val="1F6B3C"/>
                </a:solidFill>
                <a:latin typeface="Cambria Math" panose="02040503050406030204" pitchFamily="18" charset="0"/>
                <a:ea typeface="Cambria Math" panose="02040503050406030204" pitchFamily="18" charset="0"/>
                <a:cs typeface="Arial" pitchFamily="34" charset="-120"/>
              </a:rPr>
              <a:t>Kết quả:  </a:t>
            </a:r>
            <a:r>
              <a:rPr lang="en-US" sz="1200" dirty="0">
                <a:solidFill>
                  <a:srgbClr val="262626"/>
                </a:solidFill>
                <a:latin typeface="Cambria Math" panose="02040503050406030204" pitchFamily="18" charset="0"/>
                <a:ea typeface="Cambria Math" panose="02040503050406030204" pitchFamily="18" charset="0"/>
                <a:cs typeface="Arial" pitchFamily="34" charset="-120"/>
              </a:rPr>
              <a:t>+3,984 mẫu Human  →  Train: 44,273 → </a:t>
            </a:r>
            <a:r>
              <a:rPr lang="en-US" sz="1200" b="1" dirty="0">
                <a:solidFill>
                  <a:srgbClr val="1F6B3C"/>
                </a:solidFill>
                <a:latin typeface="Cambria Math" panose="02040503050406030204" pitchFamily="18" charset="0"/>
                <a:ea typeface="Cambria Math" panose="02040503050406030204" pitchFamily="18" charset="0"/>
                <a:cs typeface="Arial" pitchFamily="34" charset="-120"/>
              </a:rPr>
              <a:t>48,257 mẫu</a:t>
            </a:r>
            <a:r>
              <a:rPr lang="en-US" sz="1200" dirty="0">
                <a:solidFill>
                  <a:srgbClr val="595959"/>
                </a:solidFill>
                <a:latin typeface="Cambria Math" panose="02040503050406030204" pitchFamily="18" charset="0"/>
                <a:ea typeface="Cambria Math" panose="02040503050406030204" pitchFamily="18" charset="0"/>
                <a:cs typeface="Arial" pitchFamily="34" charset="-120"/>
              </a:rPr>
              <a:t>   (tỉ lệ Human/AI tiếng Anh: 45:55 → 49:51)</a:t>
            </a:r>
            <a:endParaRPr lang="en-US" sz="1200" dirty="0">
              <a:latin typeface="Cambria Math" panose="02040503050406030204" pitchFamily="18" charset="0"/>
              <a:ea typeface="Cambria Math"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D3C89-55F6-6D5B-DEFD-7FDAB43E298B}"/>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E26633F6-EF29-EFDE-AC63-99AB38C41293}"/>
              </a:ext>
            </a:extLst>
          </p:cNvPr>
          <p:cNvSpPr txBox="1"/>
          <p:nvPr/>
        </p:nvSpPr>
        <p:spPr>
          <a:xfrm>
            <a:off x="3737172" y="1137955"/>
            <a:ext cx="1623060" cy="1538883"/>
          </a:xfrm>
          <a:prstGeom prst="rect">
            <a:avLst/>
          </a:prstGeom>
        </p:spPr>
        <p:txBody>
          <a:bodyPr lIns="0" tIns="0" rIns="0" bIns="0" rtlCol="0" anchor="t">
            <a:spAutoFit/>
          </a:bodyPr>
          <a:lstStyle/>
          <a:p>
            <a:pPr>
              <a:lnSpc>
                <a:spcPts val="12000"/>
              </a:lnSpc>
            </a:pPr>
            <a:r>
              <a:rPr lang="en-US" sz="10000" b="1" dirty="0">
                <a:solidFill>
                  <a:srgbClr val="0070C0"/>
                </a:solidFill>
                <a:latin typeface="Arimo Bold"/>
                <a:ea typeface="Arimo Bold"/>
                <a:cs typeface="Arimo Bold"/>
                <a:sym typeface="Arimo Bold"/>
              </a:rPr>
              <a:t>04 </a:t>
            </a:r>
          </a:p>
        </p:txBody>
      </p:sp>
      <p:grpSp>
        <p:nvGrpSpPr>
          <p:cNvPr id="7" name="Group 7">
            <a:extLst>
              <a:ext uri="{FF2B5EF4-FFF2-40B4-BE49-F238E27FC236}">
                <a16:creationId xmlns:a16="http://schemas.microsoft.com/office/drawing/2014/main" id="{B3CD7F4C-C657-796C-E0E7-701955CD69FB}"/>
              </a:ext>
            </a:extLst>
          </p:cNvPr>
          <p:cNvGrpSpPr/>
          <p:nvPr/>
        </p:nvGrpSpPr>
        <p:grpSpPr>
          <a:xfrm>
            <a:off x="3348804" y="2571750"/>
            <a:ext cx="2309100" cy="36000"/>
            <a:chOff x="0" y="0"/>
            <a:chExt cx="6157600" cy="96000"/>
          </a:xfrm>
        </p:grpSpPr>
        <p:sp>
          <p:nvSpPr>
            <p:cNvPr id="8" name="Freeform 8">
              <a:extLst>
                <a:ext uri="{FF2B5EF4-FFF2-40B4-BE49-F238E27FC236}">
                  <a16:creationId xmlns:a16="http://schemas.microsoft.com/office/drawing/2014/main" id="{7890F9B5-1167-D9FE-AE8E-5183C0AEA347}"/>
                </a:ext>
              </a:extLst>
            </p:cNvPr>
            <p:cNvSpPr/>
            <p:nvPr/>
          </p:nvSpPr>
          <p:spPr>
            <a:xfrm>
              <a:off x="0" y="0"/>
              <a:ext cx="6157595" cy="96012"/>
            </a:xfrm>
            <a:custGeom>
              <a:avLst/>
              <a:gdLst/>
              <a:ahLst/>
              <a:cxnLst/>
              <a:rect l="l" t="t" r="r" b="b"/>
              <a:pathLst>
                <a:path w="6157595" h="96012">
                  <a:moveTo>
                    <a:pt x="0" y="0"/>
                  </a:moveTo>
                  <a:lnTo>
                    <a:pt x="6157595" y="0"/>
                  </a:lnTo>
                  <a:lnTo>
                    <a:pt x="6157595" y="96012"/>
                  </a:lnTo>
                  <a:lnTo>
                    <a:pt x="0" y="96012"/>
                  </a:lnTo>
                  <a:close/>
                </a:path>
              </a:pathLst>
            </a:custGeom>
            <a:solidFill>
              <a:srgbClr val="0066CC"/>
            </a:solidFill>
          </p:spPr>
          <p:txBody>
            <a:bodyPr/>
            <a:lstStyle/>
            <a:p>
              <a:endParaRPr lang="en-US" sz="900"/>
            </a:p>
          </p:txBody>
        </p:sp>
      </p:grpSp>
      <p:sp>
        <p:nvSpPr>
          <p:cNvPr id="9" name="TextBox 9">
            <a:extLst>
              <a:ext uri="{FF2B5EF4-FFF2-40B4-BE49-F238E27FC236}">
                <a16:creationId xmlns:a16="http://schemas.microsoft.com/office/drawing/2014/main" id="{BF035166-78CF-7292-B19A-D3C79D32640B}"/>
              </a:ext>
            </a:extLst>
          </p:cNvPr>
          <p:cNvSpPr txBox="1"/>
          <p:nvPr/>
        </p:nvSpPr>
        <p:spPr>
          <a:xfrm>
            <a:off x="1434904" y="2711509"/>
            <a:ext cx="6523266" cy="1997535"/>
          </a:xfrm>
          <a:prstGeom prst="rect">
            <a:avLst/>
          </a:prstGeom>
        </p:spPr>
        <p:txBody>
          <a:bodyPr wrap="square" lIns="0" tIns="0" rIns="0" bIns="0" rtlCol="0" anchor="t">
            <a:spAutoFit/>
          </a:bodyPr>
          <a:lstStyle/>
          <a:p>
            <a:pPr algn="ctr">
              <a:lnSpc>
                <a:spcPts val="5280"/>
              </a:lnSpc>
            </a:pPr>
            <a:r>
              <a:rPr lang="en-US" sz="4400" b="1" dirty="0" err="1">
                <a:solidFill>
                  <a:srgbClr val="404040"/>
                </a:solidFill>
                <a:latin typeface="Arial Bold"/>
                <a:cs typeface="Arial Bold"/>
                <a:sym typeface="Arial Bold"/>
              </a:rPr>
              <a:t>Mô</a:t>
            </a:r>
            <a:r>
              <a:rPr lang="en-US" sz="4400" b="1" dirty="0">
                <a:solidFill>
                  <a:srgbClr val="404040"/>
                </a:solidFill>
                <a:latin typeface="Arial Bold"/>
                <a:cs typeface="Arial Bold"/>
                <a:sym typeface="Arial Bold"/>
              </a:rPr>
              <a:t> </a:t>
            </a:r>
            <a:r>
              <a:rPr lang="en-US" sz="4400" b="1" dirty="0" err="1">
                <a:solidFill>
                  <a:srgbClr val="404040"/>
                </a:solidFill>
                <a:latin typeface="Arial Bold"/>
                <a:cs typeface="Arial Bold"/>
                <a:sym typeface="Arial Bold"/>
              </a:rPr>
              <a:t>hình</a:t>
            </a:r>
            <a:r>
              <a:rPr lang="en-US" sz="4400" b="1" dirty="0">
                <a:solidFill>
                  <a:srgbClr val="404040"/>
                </a:solidFill>
                <a:latin typeface="Arial Bold"/>
                <a:cs typeface="Arial Bold"/>
                <a:sym typeface="Arial Bold"/>
              </a:rPr>
              <a:t> song </a:t>
            </a:r>
            <a:r>
              <a:rPr lang="en-US" sz="4400" b="1" dirty="0" err="1">
                <a:solidFill>
                  <a:srgbClr val="404040"/>
                </a:solidFill>
                <a:latin typeface="Arial Bold"/>
                <a:cs typeface="Arial Bold"/>
                <a:sym typeface="Arial Bold"/>
              </a:rPr>
              <a:t>ngữ</a:t>
            </a:r>
            <a:r>
              <a:rPr lang="en-US" sz="4400" b="1" dirty="0">
                <a:solidFill>
                  <a:srgbClr val="404040"/>
                </a:solidFill>
                <a:latin typeface="Arial Bold"/>
                <a:cs typeface="Arial Bold"/>
                <a:sym typeface="Arial Bold"/>
              </a:rPr>
              <a:t> (XLM-</a:t>
            </a:r>
            <a:r>
              <a:rPr lang="en-US" sz="4400" b="1" dirty="0" err="1">
                <a:solidFill>
                  <a:srgbClr val="404040"/>
                </a:solidFill>
                <a:latin typeface="Arial Bold"/>
                <a:cs typeface="Arial Bold"/>
                <a:sym typeface="Arial Bold"/>
              </a:rPr>
              <a:t>RoBERTa</a:t>
            </a:r>
            <a:r>
              <a:rPr lang="en-US" sz="4400" b="1" dirty="0">
                <a:solidFill>
                  <a:srgbClr val="404040"/>
                </a:solidFill>
                <a:latin typeface="Arial Bold"/>
                <a:cs typeface="Arial Bold"/>
                <a:sym typeface="Arial Bold"/>
              </a:rPr>
              <a:t>)</a:t>
            </a:r>
          </a:p>
          <a:p>
            <a:pPr>
              <a:lnSpc>
                <a:spcPts val="5280"/>
              </a:lnSpc>
            </a:pPr>
            <a:r>
              <a:rPr lang="en-US" sz="4400" b="1" dirty="0">
                <a:solidFill>
                  <a:srgbClr val="404040"/>
                </a:solidFill>
                <a:latin typeface="Arial Bold"/>
                <a:ea typeface="Arial Bold"/>
                <a:cs typeface="Arial Bold"/>
                <a:sym typeface="Arial Bold"/>
              </a:rPr>
              <a:t> </a:t>
            </a:r>
          </a:p>
        </p:txBody>
      </p:sp>
      <p:sp>
        <p:nvSpPr>
          <p:cNvPr id="15" name="TextBox 22">
            <a:extLst>
              <a:ext uri="{FF2B5EF4-FFF2-40B4-BE49-F238E27FC236}">
                <a16:creationId xmlns:a16="http://schemas.microsoft.com/office/drawing/2014/main" id="{FCA1E301-3733-ED63-BCF6-AF85C32147C1}"/>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6" name="Group 23">
            <a:extLst>
              <a:ext uri="{FF2B5EF4-FFF2-40B4-BE49-F238E27FC236}">
                <a16:creationId xmlns:a16="http://schemas.microsoft.com/office/drawing/2014/main" id="{11E741F3-B439-C9BD-7A51-707F4F950D7A}"/>
              </a:ext>
            </a:extLst>
          </p:cNvPr>
          <p:cNvGrpSpPr/>
          <p:nvPr/>
        </p:nvGrpSpPr>
        <p:grpSpPr>
          <a:xfrm>
            <a:off x="0" y="4870323"/>
            <a:ext cx="9144000" cy="274320"/>
            <a:chOff x="0" y="0"/>
            <a:chExt cx="24384000" cy="731520"/>
          </a:xfrm>
        </p:grpSpPr>
        <p:sp>
          <p:nvSpPr>
            <p:cNvPr id="17" name="Freeform 24">
              <a:extLst>
                <a:ext uri="{FF2B5EF4-FFF2-40B4-BE49-F238E27FC236}">
                  <a16:creationId xmlns:a16="http://schemas.microsoft.com/office/drawing/2014/main" id="{CFEC6001-7265-AA26-50A7-EB72E9E8C4A4}"/>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8" name="TextBox 25">
            <a:extLst>
              <a:ext uri="{FF2B5EF4-FFF2-40B4-BE49-F238E27FC236}">
                <a16:creationId xmlns:a16="http://schemas.microsoft.com/office/drawing/2014/main" id="{CFB95F21-A868-DC61-405F-898BCB7EB735}"/>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9" name="TextBox 26">
            <a:extLst>
              <a:ext uri="{FF2B5EF4-FFF2-40B4-BE49-F238E27FC236}">
                <a16:creationId xmlns:a16="http://schemas.microsoft.com/office/drawing/2014/main" id="{D883AF8F-8513-6016-513B-BB5F2BCFDBA1}"/>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11/25</a:t>
            </a:r>
          </a:p>
        </p:txBody>
      </p:sp>
      <p:grpSp>
        <p:nvGrpSpPr>
          <p:cNvPr id="22" name="Group 2">
            <a:extLst>
              <a:ext uri="{FF2B5EF4-FFF2-40B4-BE49-F238E27FC236}">
                <a16:creationId xmlns:a16="http://schemas.microsoft.com/office/drawing/2014/main" id="{B3B44237-9A95-4D58-1FAD-7515C8BFF947}"/>
              </a:ext>
            </a:extLst>
          </p:cNvPr>
          <p:cNvGrpSpPr/>
          <p:nvPr/>
        </p:nvGrpSpPr>
        <p:grpSpPr>
          <a:xfrm>
            <a:off x="7900508" y="116678"/>
            <a:ext cx="486733" cy="486733"/>
            <a:chOff x="0" y="0"/>
            <a:chExt cx="1297955" cy="1297955"/>
          </a:xfrm>
        </p:grpSpPr>
        <p:sp>
          <p:nvSpPr>
            <p:cNvPr id="23" name="Freeform 3">
              <a:extLst>
                <a:ext uri="{FF2B5EF4-FFF2-40B4-BE49-F238E27FC236}">
                  <a16:creationId xmlns:a16="http://schemas.microsoft.com/office/drawing/2014/main" id="{7A1B14E8-0A64-7E07-A1E0-4B9D374C20A6}"/>
                </a:ext>
              </a:extLst>
            </p:cNvPr>
            <p:cNvSpPr/>
            <p:nvPr/>
          </p:nvSpPr>
          <p:spPr>
            <a:xfrm>
              <a:off x="0" y="0"/>
              <a:ext cx="1297940" cy="1297940"/>
            </a:xfrm>
            <a:custGeom>
              <a:avLst/>
              <a:gdLst/>
              <a:ahLst/>
              <a:cxnLst/>
              <a:rect l="l" t="t" r="r" b="b"/>
              <a:pathLst>
                <a:path w="1297940" h="1297940">
                  <a:moveTo>
                    <a:pt x="0" y="0"/>
                  </a:moveTo>
                  <a:lnTo>
                    <a:pt x="1297940" y="0"/>
                  </a:lnTo>
                  <a:lnTo>
                    <a:pt x="1297940" y="1297940"/>
                  </a:lnTo>
                  <a:lnTo>
                    <a:pt x="0" y="1297940"/>
                  </a:lnTo>
                  <a:lnTo>
                    <a:pt x="0" y="0"/>
                  </a:lnTo>
                  <a:close/>
                </a:path>
              </a:pathLst>
            </a:custGeom>
            <a:blipFill>
              <a:blip r:embed="rId3"/>
              <a:stretch>
                <a:fillRect r="-1" b="-1"/>
              </a:stretch>
            </a:blipFill>
          </p:spPr>
          <p:txBody>
            <a:bodyPr/>
            <a:lstStyle/>
            <a:p>
              <a:endParaRPr lang="en-US" sz="900"/>
            </a:p>
          </p:txBody>
        </p:sp>
      </p:grpSp>
      <p:grpSp>
        <p:nvGrpSpPr>
          <p:cNvPr id="24" name="Group 4">
            <a:extLst>
              <a:ext uri="{FF2B5EF4-FFF2-40B4-BE49-F238E27FC236}">
                <a16:creationId xmlns:a16="http://schemas.microsoft.com/office/drawing/2014/main" id="{3BC7BD2D-E500-9668-0AB9-6D2829256811}"/>
              </a:ext>
            </a:extLst>
          </p:cNvPr>
          <p:cNvGrpSpPr>
            <a:grpSpLocks noChangeAspect="1"/>
          </p:cNvGrpSpPr>
          <p:nvPr/>
        </p:nvGrpSpPr>
        <p:grpSpPr>
          <a:xfrm>
            <a:off x="8528984" y="116678"/>
            <a:ext cx="486733" cy="488906"/>
            <a:chOff x="0" y="0"/>
            <a:chExt cx="1297955" cy="1303749"/>
          </a:xfrm>
        </p:grpSpPr>
        <p:sp>
          <p:nvSpPr>
            <p:cNvPr id="25" name="Freeform 5" descr="Viện Trí tuệ nhân tạo | Hanoi">
              <a:extLst>
                <a:ext uri="{FF2B5EF4-FFF2-40B4-BE49-F238E27FC236}">
                  <a16:creationId xmlns:a16="http://schemas.microsoft.com/office/drawing/2014/main" id="{CA66E3ED-0073-0360-F0CA-2EDFF3D3A9BA}"/>
                </a:ext>
              </a:extLst>
            </p:cNvPr>
            <p:cNvSpPr/>
            <p:nvPr/>
          </p:nvSpPr>
          <p:spPr>
            <a:xfrm>
              <a:off x="0" y="0"/>
              <a:ext cx="1297940" cy="1303782"/>
            </a:xfrm>
            <a:custGeom>
              <a:avLst/>
              <a:gdLst/>
              <a:ahLst/>
              <a:cxnLst/>
              <a:rect l="l" t="t" r="r" b="b"/>
              <a:pathLst>
                <a:path w="1297940" h="1303782">
                  <a:moveTo>
                    <a:pt x="0" y="0"/>
                  </a:moveTo>
                  <a:lnTo>
                    <a:pt x="1297940" y="0"/>
                  </a:lnTo>
                  <a:lnTo>
                    <a:pt x="1297940" y="1303782"/>
                  </a:lnTo>
                  <a:lnTo>
                    <a:pt x="0" y="1303782"/>
                  </a:lnTo>
                  <a:lnTo>
                    <a:pt x="0" y="0"/>
                  </a:lnTo>
                  <a:close/>
                </a:path>
              </a:pathLst>
            </a:custGeom>
            <a:blipFill>
              <a:blip r:embed="rId4"/>
              <a:stretch>
                <a:fillRect r="-1" b="2"/>
              </a:stretch>
            </a:blipFill>
          </p:spPr>
          <p:txBody>
            <a:bodyPr/>
            <a:lstStyle/>
            <a:p>
              <a:endParaRPr lang="en-US" sz="900"/>
            </a:p>
          </p:txBody>
        </p:sp>
      </p:grpSp>
    </p:spTree>
    <p:extLst>
      <p:ext uri="{BB962C8B-B14F-4D97-AF65-F5344CB8AC3E}">
        <p14:creationId xmlns:p14="http://schemas.microsoft.com/office/powerpoint/2010/main" val="858207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318460" y="771049"/>
            <a:ext cx="8321040" cy="274320"/>
          </a:xfrm>
          <a:prstGeom prst="rect">
            <a:avLst/>
          </a:prstGeom>
          <a:noFill/>
          <a:ln/>
        </p:spPr>
        <p:txBody>
          <a:bodyPr wrap="square" lIns="0" tIns="0" rIns="0" bIns="0" rtlCol="0" anchor="ctr"/>
          <a:lstStyle/>
          <a:p>
            <a:pPr marL="0" indent="0">
              <a:buNone/>
            </a:pPr>
            <a:r>
              <a:rPr lang="en-US" sz="1400" b="1" dirty="0">
                <a:solidFill>
                  <a:srgbClr val="2E75B6"/>
                </a:solidFill>
                <a:latin typeface="Cambria Math" panose="02040503050406030204" pitchFamily="18" charset="0"/>
                <a:ea typeface="Cambria Math" panose="02040503050406030204" pitchFamily="18" charset="0"/>
                <a:cs typeface="Calibri" pitchFamily="34" charset="-120"/>
              </a:rPr>
              <a:t>Giới thiệu</a:t>
            </a:r>
            <a:endParaRPr lang="en-US" sz="1400" dirty="0">
              <a:latin typeface="Cambria Math" panose="02040503050406030204" pitchFamily="18" charset="0"/>
              <a:ea typeface="Cambria Math" panose="02040503050406030204" pitchFamily="18" charset="0"/>
            </a:endParaRPr>
          </a:p>
        </p:txBody>
      </p:sp>
      <p:sp>
        <p:nvSpPr>
          <p:cNvPr id="5" name="Shape 3"/>
          <p:cNvSpPr/>
          <p:nvPr/>
        </p:nvSpPr>
        <p:spPr>
          <a:xfrm>
            <a:off x="318460" y="1063657"/>
            <a:ext cx="8321040" cy="0"/>
          </a:xfrm>
          <a:prstGeom prst="line">
            <a:avLst/>
          </a:prstGeom>
          <a:noFill/>
          <a:ln w="6350">
            <a:solidFill>
              <a:srgbClr val="DDDDDD"/>
            </a:solidFill>
            <a:prstDash val="solid"/>
          </a:ln>
        </p:spPr>
        <p:txBody>
          <a:bodyPr/>
          <a:lstStyle/>
          <a:p>
            <a:endParaRPr lang="en-US" sz="1400">
              <a:latin typeface="Cambria Math" panose="02040503050406030204" pitchFamily="18" charset="0"/>
              <a:ea typeface="Cambria Math" panose="02040503050406030204" pitchFamily="18" charset="0"/>
            </a:endParaRPr>
          </a:p>
        </p:txBody>
      </p:sp>
      <p:sp>
        <p:nvSpPr>
          <p:cNvPr id="6" name="Text 4"/>
          <p:cNvSpPr/>
          <p:nvPr/>
        </p:nvSpPr>
        <p:spPr>
          <a:xfrm>
            <a:off x="318460" y="1004668"/>
            <a:ext cx="8321040" cy="868680"/>
          </a:xfrm>
          <a:prstGeom prst="rect">
            <a:avLst/>
          </a:prstGeom>
          <a:noFill/>
          <a:ln/>
        </p:spPr>
        <p:txBody>
          <a:bodyPr wrap="square" lIns="0" tIns="0" rIns="0" bIns="0" rtlCol="0" anchor="ctr"/>
          <a:lstStyle/>
          <a:p>
            <a:pPr marL="0" indent="0">
              <a:buNone/>
            </a:pPr>
            <a:r>
              <a:rPr lang="en-US" sz="1400" dirty="0">
                <a:solidFill>
                  <a:srgbClr val="1A1A2E"/>
                </a:solidFill>
                <a:latin typeface="Cambria Math" panose="02040503050406030204" pitchFamily="18" charset="0"/>
                <a:ea typeface="Cambria Math" panose="02040503050406030204" pitchFamily="18" charset="0"/>
                <a:cs typeface="Calibri" pitchFamily="34" charset="-120"/>
              </a:rPr>
              <a:t>XLM-RoBERTa (Cross-lingual Language Model RoBERTa) là mô hình ngôn ngữ đa ngôn ngữ do Facebook AI phát triển năm 2020. Đây là phiên bản mở rộng của RoBERTa — vốn là cải tiến của BERT — được huấn luyện trên 2.5TB dữ liệu văn bản từ 100 ngôn ngữ khác nhau, bao gồm cả tiếng Anh và tiếng Việt.</a:t>
            </a:r>
            <a:endParaRPr lang="en-US" sz="1400" dirty="0">
              <a:latin typeface="Cambria Math" panose="02040503050406030204" pitchFamily="18" charset="0"/>
              <a:ea typeface="Cambria Math" panose="02040503050406030204" pitchFamily="18" charset="0"/>
            </a:endParaRPr>
          </a:p>
        </p:txBody>
      </p:sp>
      <p:sp>
        <p:nvSpPr>
          <p:cNvPr id="7" name="Text 5"/>
          <p:cNvSpPr/>
          <p:nvPr/>
        </p:nvSpPr>
        <p:spPr>
          <a:xfrm>
            <a:off x="318460" y="1954516"/>
            <a:ext cx="8321040" cy="274320"/>
          </a:xfrm>
          <a:prstGeom prst="rect">
            <a:avLst/>
          </a:prstGeom>
          <a:noFill/>
          <a:ln/>
        </p:spPr>
        <p:txBody>
          <a:bodyPr wrap="square" lIns="0" tIns="0" rIns="0" bIns="0" rtlCol="0" anchor="ctr"/>
          <a:lstStyle/>
          <a:p>
            <a:pPr marL="0" indent="0">
              <a:buNone/>
            </a:pPr>
            <a:r>
              <a:rPr lang="en-US" sz="1400" b="1" dirty="0">
                <a:solidFill>
                  <a:srgbClr val="2E75B6"/>
                </a:solidFill>
                <a:latin typeface="Cambria Math" panose="02040503050406030204" pitchFamily="18" charset="0"/>
                <a:ea typeface="Cambria Math" panose="02040503050406030204" pitchFamily="18" charset="0"/>
                <a:cs typeface="Calibri" pitchFamily="34" charset="-120"/>
              </a:rPr>
              <a:t>Ý tưởng cốt lõi</a:t>
            </a:r>
            <a:endParaRPr lang="en-US" sz="1400" dirty="0">
              <a:latin typeface="Cambria Math" panose="02040503050406030204" pitchFamily="18" charset="0"/>
              <a:ea typeface="Cambria Math" panose="02040503050406030204" pitchFamily="18" charset="0"/>
            </a:endParaRPr>
          </a:p>
        </p:txBody>
      </p:sp>
      <p:sp>
        <p:nvSpPr>
          <p:cNvPr id="8" name="Shape 6"/>
          <p:cNvSpPr/>
          <p:nvPr/>
        </p:nvSpPr>
        <p:spPr>
          <a:xfrm>
            <a:off x="318460" y="2247124"/>
            <a:ext cx="8321040" cy="0"/>
          </a:xfrm>
          <a:prstGeom prst="line">
            <a:avLst/>
          </a:prstGeom>
          <a:noFill/>
          <a:ln w="6350">
            <a:solidFill>
              <a:srgbClr val="DDDDDD"/>
            </a:solidFill>
            <a:prstDash val="solid"/>
          </a:ln>
        </p:spPr>
        <p:txBody>
          <a:bodyPr/>
          <a:lstStyle/>
          <a:p>
            <a:endParaRPr lang="en-US" sz="1400">
              <a:latin typeface="Cambria Math" panose="02040503050406030204" pitchFamily="18" charset="0"/>
              <a:ea typeface="Cambria Math" panose="02040503050406030204" pitchFamily="18" charset="0"/>
            </a:endParaRPr>
          </a:p>
        </p:txBody>
      </p:sp>
      <p:sp>
        <p:nvSpPr>
          <p:cNvPr id="9" name="Text 7"/>
          <p:cNvSpPr/>
          <p:nvPr/>
        </p:nvSpPr>
        <p:spPr>
          <a:xfrm>
            <a:off x="318460" y="2320276"/>
            <a:ext cx="8321040" cy="868680"/>
          </a:xfrm>
          <a:prstGeom prst="rect">
            <a:avLst/>
          </a:prstGeom>
          <a:noFill/>
          <a:ln/>
        </p:spPr>
        <p:txBody>
          <a:bodyPr wrap="square" lIns="0" tIns="0" rIns="0" bIns="0" rtlCol="0" anchor="ctr"/>
          <a:lstStyle/>
          <a:p>
            <a:pPr marL="0" indent="0">
              <a:buNone/>
            </a:pPr>
            <a:r>
              <a:rPr lang="en-US" sz="1400" dirty="0">
                <a:solidFill>
                  <a:srgbClr val="1A1A2E"/>
                </a:solidFill>
                <a:latin typeface="Cambria Math" panose="02040503050406030204" pitchFamily="18" charset="0"/>
                <a:ea typeface="Cambria Math" panose="02040503050406030204" pitchFamily="18" charset="0"/>
                <a:cs typeface="Calibri" pitchFamily="34" charset="-120"/>
              </a:rPr>
              <a:t>Thay vì huấn luyện riêng một mô hình cho từng ngôn ngữ, XLM-RoBERTa học một không gian biểu diễn chung (shared representation space) cho tất cả các ngôn ngữ. Nhờ đó, tri thức học được từ ngôn ngữ nhiều tài nguyên (như tiếng Anh) có thể được chuyển sang ngôn ngữ ít tài nguyên hơn (như tiếng Việt) — gọi là cross-lingual transfer learning.</a:t>
            </a:r>
            <a:endParaRPr lang="en-US" sz="1400" dirty="0">
              <a:latin typeface="Cambria Math" panose="02040503050406030204" pitchFamily="18" charset="0"/>
              <a:ea typeface="Cambria Math" panose="02040503050406030204" pitchFamily="18" charset="0"/>
            </a:endParaRPr>
          </a:p>
        </p:txBody>
      </p:sp>
      <p:grpSp>
        <p:nvGrpSpPr>
          <p:cNvPr id="16" name="Group 25">
            <a:extLst>
              <a:ext uri="{FF2B5EF4-FFF2-40B4-BE49-F238E27FC236}">
                <a16:creationId xmlns:a16="http://schemas.microsoft.com/office/drawing/2014/main" id="{8EF8C96A-9533-9CB0-652D-BA899C6B7739}"/>
              </a:ext>
            </a:extLst>
          </p:cNvPr>
          <p:cNvGrpSpPr/>
          <p:nvPr/>
        </p:nvGrpSpPr>
        <p:grpSpPr>
          <a:xfrm>
            <a:off x="699516" y="272606"/>
            <a:ext cx="28575" cy="285368"/>
            <a:chOff x="0" y="0"/>
            <a:chExt cx="76200" cy="760981"/>
          </a:xfrm>
        </p:grpSpPr>
        <p:sp>
          <p:nvSpPr>
            <p:cNvPr id="17" name="Freeform 26">
              <a:extLst>
                <a:ext uri="{FF2B5EF4-FFF2-40B4-BE49-F238E27FC236}">
                  <a16:creationId xmlns:a16="http://schemas.microsoft.com/office/drawing/2014/main" id="{05FC847E-DDE7-4B26-38B4-371789249F2C}"/>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3"/>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18" name="TextBox 27">
            <a:extLst>
              <a:ext uri="{FF2B5EF4-FFF2-40B4-BE49-F238E27FC236}">
                <a16:creationId xmlns:a16="http://schemas.microsoft.com/office/drawing/2014/main" id="{73068E0E-6F34-530D-5CB1-B995427707CA}"/>
              </a:ext>
            </a:extLst>
          </p:cNvPr>
          <p:cNvSpPr txBox="1"/>
          <p:nvPr/>
        </p:nvSpPr>
        <p:spPr>
          <a:xfrm>
            <a:off x="812644" y="283464"/>
            <a:ext cx="3105208" cy="294953"/>
          </a:xfrm>
          <a:prstGeom prst="rect">
            <a:avLst/>
          </a:prstGeom>
        </p:spPr>
        <p:txBody>
          <a:bodyPr wrap="square" lIns="0" tIns="0" rIns="0" bIns="0" rtlCol="0" anchor="t">
            <a:spAutoFit/>
          </a:bodyPr>
          <a:lstStyle/>
          <a:p>
            <a:pPr>
              <a:lnSpc>
                <a:spcPts val="2280"/>
              </a:lnSpc>
            </a:pPr>
            <a:r>
              <a:rPr lang="en-US" sz="2100" b="1" spc="18" dirty="0">
                <a:solidFill>
                  <a:srgbClr val="000000"/>
                </a:solidFill>
                <a:latin typeface="Arial" panose="020B0604020202020204" pitchFamily="34" charset="0"/>
                <a:ea typeface="Arial Bold"/>
                <a:cs typeface="Arial" panose="020B0604020202020204" pitchFamily="34" charset="0"/>
                <a:sym typeface="Arial Bold"/>
              </a:rPr>
              <a:t>XLM-</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RoBERTa</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là</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gì</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a:t>
            </a:r>
          </a:p>
        </p:txBody>
      </p:sp>
      <p:sp>
        <p:nvSpPr>
          <p:cNvPr id="19" name="TextBox 28">
            <a:extLst>
              <a:ext uri="{FF2B5EF4-FFF2-40B4-BE49-F238E27FC236}">
                <a16:creationId xmlns:a16="http://schemas.microsoft.com/office/drawing/2014/main" id="{2C37C5A5-545C-BBBC-6A3A-1C2FD94EF619}"/>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4.1</a:t>
            </a:r>
          </a:p>
        </p:txBody>
      </p:sp>
      <p:sp>
        <p:nvSpPr>
          <p:cNvPr id="20" name="TextBox 22">
            <a:extLst>
              <a:ext uri="{FF2B5EF4-FFF2-40B4-BE49-F238E27FC236}">
                <a16:creationId xmlns:a16="http://schemas.microsoft.com/office/drawing/2014/main" id="{58A71EA6-C8C1-40C0-1878-E11ADF02E1CF}"/>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21" name="Group 23">
            <a:extLst>
              <a:ext uri="{FF2B5EF4-FFF2-40B4-BE49-F238E27FC236}">
                <a16:creationId xmlns:a16="http://schemas.microsoft.com/office/drawing/2014/main" id="{A76E4149-FCA7-654A-5102-07A32DC9CCF5}"/>
              </a:ext>
            </a:extLst>
          </p:cNvPr>
          <p:cNvGrpSpPr/>
          <p:nvPr/>
        </p:nvGrpSpPr>
        <p:grpSpPr>
          <a:xfrm>
            <a:off x="0" y="4870323"/>
            <a:ext cx="9144000" cy="274320"/>
            <a:chOff x="0" y="0"/>
            <a:chExt cx="24384000" cy="731520"/>
          </a:xfrm>
        </p:grpSpPr>
        <p:sp>
          <p:nvSpPr>
            <p:cNvPr id="22" name="Freeform 24">
              <a:extLst>
                <a:ext uri="{FF2B5EF4-FFF2-40B4-BE49-F238E27FC236}">
                  <a16:creationId xmlns:a16="http://schemas.microsoft.com/office/drawing/2014/main" id="{30B3CDAD-0720-7CD8-D83E-4D32D0B23604}"/>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23" name="TextBox 25">
            <a:extLst>
              <a:ext uri="{FF2B5EF4-FFF2-40B4-BE49-F238E27FC236}">
                <a16:creationId xmlns:a16="http://schemas.microsoft.com/office/drawing/2014/main" id="{77AE4D7C-F0E8-15D9-96D3-A0BC9D40984F}"/>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24" name="TextBox 26">
            <a:extLst>
              <a:ext uri="{FF2B5EF4-FFF2-40B4-BE49-F238E27FC236}">
                <a16:creationId xmlns:a16="http://schemas.microsoft.com/office/drawing/2014/main" id="{205F5170-A4AD-89FF-FA54-252F4EAAA445}"/>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12/25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48640" y="651510"/>
            <a:ext cx="8023860" cy="466344"/>
          </a:xfrm>
          <a:prstGeom prst="rect">
            <a:avLst/>
          </a:prstGeom>
          <a:solidFill>
            <a:srgbClr val="F3F5FA"/>
          </a:solidFill>
          <a:ln w="19050">
            <a:solidFill>
              <a:srgbClr val="1F2D5C"/>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4" name="Text 2"/>
          <p:cNvSpPr/>
          <p:nvPr/>
        </p:nvSpPr>
        <p:spPr>
          <a:xfrm>
            <a:off x="685800" y="699516"/>
            <a:ext cx="7749540" cy="233172"/>
          </a:xfrm>
          <a:prstGeom prst="rect">
            <a:avLst/>
          </a:prstGeom>
          <a:noFill/>
          <a:ln/>
        </p:spPr>
        <p:txBody>
          <a:bodyPr wrap="square" lIns="0" tIns="0" rIns="0" bIns="0" rtlCol="0" anchor="ctr"/>
          <a:lstStyle/>
          <a:p>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Input Text</a:t>
            </a:r>
            <a:endParaRPr lang="en-US" sz="1200" dirty="0">
              <a:latin typeface="Cambria Math" panose="02040503050406030204" pitchFamily="18" charset="0"/>
              <a:ea typeface="Cambria Math" panose="02040503050406030204" pitchFamily="18" charset="0"/>
            </a:endParaRPr>
          </a:p>
        </p:txBody>
      </p:sp>
      <p:sp>
        <p:nvSpPr>
          <p:cNvPr id="5" name="Text 3"/>
          <p:cNvSpPr/>
          <p:nvPr/>
        </p:nvSpPr>
        <p:spPr>
          <a:xfrm>
            <a:off x="685800" y="925830"/>
            <a:ext cx="7749540" cy="164592"/>
          </a:xfrm>
          <a:prstGeom prst="rect">
            <a:avLst/>
          </a:prstGeom>
          <a:noFill/>
          <a:ln/>
        </p:spPr>
        <p:txBody>
          <a:bodyPr wrap="square" lIns="0" tIns="0" rIns="0" bIns="0" rtlCol="0" anchor="t"/>
          <a:lstStyle/>
          <a:p>
            <a:r>
              <a:rPr lang="en-US" sz="1200" dirty="0">
                <a:solidFill>
                  <a:srgbClr val="5A5A5A"/>
                </a:solidFill>
                <a:latin typeface="Cambria Math" panose="02040503050406030204" pitchFamily="18" charset="0"/>
                <a:ea typeface="Cambria Math" panose="02040503050406030204" pitchFamily="18" charset="0"/>
                <a:cs typeface="Calibri" pitchFamily="34" charset="-120"/>
              </a:rPr>
              <a:t>"Hôm nay thời tiết đẹp..."</a:t>
            </a:r>
            <a:endParaRPr lang="en-US" sz="1200" dirty="0">
              <a:latin typeface="Cambria Math" panose="02040503050406030204" pitchFamily="18" charset="0"/>
              <a:ea typeface="Cambria Math" panose="02040503050406030204" pitchFamily="18" charset="0"/>
            </a:endParaRPr>
          </a:p>
        </p:txBody>
      </p:sp>
      <p:sp>
        <p:nvSpPr>
          <p:cNvPr id="6" name="Text 4"/>
          <p:cNvSpPr/>
          <p:nvPr/>
        </p:nvSpPr>
        <p:spPr>
          <a:xfrm>
            <a:off x="4389120" y="1117854"/>
            <a:ext cx="342900" cy="137160"/>
          </a:xfrm>
          <a:prstGeom prst="rect">
            <a:avLst/>
          </a:prstGeom>
          <a:noFill/>
          <a:ln/>
        </p:spPr>
        <p:txBody>
          <a:bodyPr wrap="square" lIns="0" tIns="0" rIns="0" bIns="0" rtlCol="0" anchor="ctr"/>
          <a:lstStyle/>
          <a:p>
            <a:pPr algn="ctr"/>
            <a:r>
              <a:rPr lang="en-US" sz="1200" dirty="0">
                <a:solidFill>
                  <a:srgbClr val="5A5A5A"/>
                </a:solidFill>
                <a:latin typeface="Cambria Math" panose="02040503050406030204" pitchFamily="18" charset="0"/>
                <a:ea typeface="Cambria Math" panose="02040503050406030204" pitchFamily="18" charset="0"/>
              </a:rPr>
              <a:t>↓</a:t>
            </a:r>
            <a:endParaRPr lang="en-US" sz="1200" dirty="0">
              <a:latin typeface="Cambria Math" panose="02040503050406030204" pitchFamily="18" charset="0"/>
              <a:ea typeface="Cambria Math" panose="02040503050406030204" pitchFamily="18" charset="0"/>
            </a:endParaRPr>
          </a:p>
        </p:txBody>
      </p:sp>
      <p:sp>
        <p:nvSpPr>
          <p:cNvPr id="7" name="Shape 5"/>
          <p:cNvSpPr/>
          <p:nvPr/>
        </p:nvSpPr>
        <p:spPr>
          <a:xfrm>
            <a:off x="548640" y="1255014"/>
            <a:ext cx="8023860" cy="466344"/>
          </a:xfrm>
          <a:prstGeom prst="rect">
            <a:avLst/>
          </a:prstGeom>
          <a:solidFill>
            <a:srgbClr val="EBF2FB"/>
          </a:solidFill>
          <a:ln w="19050">
            <a:solidFill>
              <a:srgbClr val="2E6DA4"/>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8" name="Text 6"/>
          <p:cNvSpPr/>
          <p:nvPr/>
        </p:nvSpPr>
        <p:spPr>
          <a:xfrm>
            <a:off x="685800" y="1303020"/>
            <a:ext cx="7749540" cy="233172"/>
          </a:xfrm>
          <a:prstGeom prst="rect">
            <a:avLst/>
          </a:prstGeom>
          <a:noFill/>
          <a:ln/>
        </p:spPr>
        <p:txBody>
          <a:bodyPr wrap="square" lIns="0" tIns="0" rIns="0" bIns="0" rtlCol="0" anchor="ctr"/>
          <a:lstStyle/>
          <a:p>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Tokenizer: </a:t>
            </a:r>
            <a:r>
              <a:rPr lang="en-US" sz="1200" b="1" u="sng" dirty="0">
                <a:solidFill>
                  <a:srgbClr val="2E6DA4"/>
                </a:solidFill>
                <a:latin typeface="Cambria Math" panose="02040503050406030204" pitchFamily="18" charset="0"/>
                <a:ea typeface="Cambria Math" panose="02040503050406030204" pitchFamily="18" charset="0"/>
                <a:cs typeface="Calibri" pitchFamily="34" charset="-120"/>
              </a:rPr>
              <a:t>Chuyển văn bản thành mảnh nhỏ (token)</a:t>
            </a:r>
            <a:endParaRPr lang="en-US" sz="1200" dirty="0">
              <a:latin typeface="Cambria Math" panose="02040503050406030204" pitchFamily="18" charset="0"/>
              <a:ea typeface="Cambria Math" panose="02040503050406030204" pitchFamily="18" charset="0"/>
            </a:endParaRPr>
          </a:p>
        </p:txBody>
      </p:sp>
      <p:sp>
        <p:nvSpPr>
          <p:cNvPr id="9" name="Text 7"/>
          <p:cNvSpPr/>
          <p:nvPr/>
        </p:nvSpPr>
        <p:spPr>
          <a:xfrm>
            <a:off x="685800" y="1529334"/>
            <a:ext cx="7749540" cy="164592"/>
          </a:xfrm>
          <a:prstGeom prst="rect">
            <a:avLst/>
          </a:prstGeom>
          <a:noFill/>
          <a:ln/>
        </p:spPr>
        <p:txBody>
          <a:bodyPr wrap="square" lIns="0" tIns="0" rIns="0" bIns="0" rtlCol="0" anchor="t"/>
          <a:lstStyle/>
          <a:p>
            <a:r>
              <a:rPr lang="en-US" sz="1200" dirty="0">
                <a:solidFill>
                  <a:srgbClr val="5A5A5A"/>
                </a:solidFill>
                <a:latin typeface="Cambria Math" panose="02040503050406030204" pitchFamily="18" charset="0"/>
                <a:ea typeface="Cambria Math" panose="02040503050406030204" pitchFamily="18" charset="0"/>
                <a:cs typeface="Calibri" pitchFamily="34" charset="-120"/>
              </a:rPr>
              <a:t>→  [&lt;s&gt;, "Hôm", "nay", "thời", …, &lt;/s&gt;]   ·   max_length = 128</a:t>
            </a:r>
            <a:endParaRPr lang="en-US" sz="1200" dirty="0">
              <a:latin typeface="Cambria Math" panose="02040503050406030204" pitchFamily="18" charset="0"/>
              <a:ea typeface="Cambria Math" panose="02040503050406030204" pitchFamily="18" charset="0"/>
            </a:endParaRPr>
          </a:p>
        </p:txBody>
      </p:sp>
      <p:sp>
        <p:nvSpPr>
          <p:cNvPr id="10" name="Text 8"/>
          <p:cNvSpPr/>
          <p:nvPr/>
        </p:nvSpPr>
        <p:spPr>
          <a:xfrm>
            <a:off x="4389120" y="1721358"/>
            <a:ext cx="342900" cy="137160"/>
          </a:xfrm>
          <a:prstGeom prst="rect">
            <a:avLst/>
          </a:prstGeom>
          <a:noFill/>
          <a:ln/>
        </p:spPr>
        <p:txBody>
          <a:bodyPr wrap="square" lIns="0" tIns="0" rIns="0" bIns="0" rtlCol="0" anchor="ctr"/>
          <a:lstStyle/>
          <a:p>
            <a:pPr algn="ctr"/>
            <a:r>
              <a:rPr lang="en-US" sz="1200" dirty="0">
                <a:solidFill>
                  <a:srgbClr val="5A5A5A"/>
                </a:solidFill>
                <a:latin typeface="Cambria Math" panose="02040503050406030204" pitchFamily="18" charset="0"/>
                <a:ea typeface="Cambria Math" panose="02040503050406030204" pitchFamily="18" charset="0"/>
              </a:rPr>
              <a:t>↓</a:t>
            </a:r>
            <a:endParaRPr lang="en-US" sz="1200" dirty="0">
              <a:latin typeface="Cambria Math" panose="02040503050406030204" pitchFamily="18" charset="0"/>
              <a:ea typeface="Cambria Math" panose="02040503050406030204" pitchFamily="18" charset="0"/>
            </a:endParaRPr>
          </a:p>
        </p:txBody>
      </p:sp>
      <p:sp>
        <p:nvSpPr>
          <p:cNvPr id="11" name="Shape 9"/>
          <p:cNvSpPr/>
          <p:nvPr/>
        </p:nvSpPr>
        <p:spPr>
          <a:xfrm>
            <a:off x="548640" y="1858518"/>
            <a:ext cx="8023860" cy="384048"/>
          </a:xfrm>
          <a:prstGeom prst="rect">
            <a:avLst/>
          </a:prstGeom>
          <a:solidFill>
            <a:srgbClr val="EBF2FB"/>
          </a:solidFill>
          <a:ln w="19050">
            <a:solidFill>
              <a:srgbClr val="2E6DA4"/>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2" name="Text 10"/>
          <p:cNvSpPr/>
          <p:nvPr/>
        </p:nvSpPr>
        <p:spPr>
          <a:xfrm>
            <a:off x="685800" y="1906524"/>
            <a:ext cx="7749540" cy="233172"/>
          </a:xfrm>
          <a:prstGeom prst="rect">
            <a:avLst/>
          </a:prstGeom>
          <a:noFill/>
          <a:ln/>
        </p:spPr>
        <p:txBody>
          <a:bodyPr wrap="square" lIns="0" tIns="0" rIns="0" bIns="0" rtlCol="0" anchor="ctr"/>
          <a:lstStyle/>
          <a:p>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Embedding Layer: </a:t>
            </a:r>
            <a:r>
              <a:rPr lang="en-US" sz="1200" b="1" u="sng" dirty="0">
                <a:solidFill>
                  <a:srgbClr val="2E6DA4"/>
                </a:solidFill>
                <a:latin typeface="Cambria Math" panose="02040503050406030204" pitchFamily="18" charset="0"/>
                <a:ea typeface="Cambria Math" panose="02040503050406030204" pitchFamily="18" charset="0"/>
                <a:cs typeface="Calibri" pitchFamily="34" charset="-120"/>
              </a:rPr>
              <a:t>Chuyển token thành vector số (768 chiều)</a:t>
            </a:r>
            <a:endParaRPr lang="en-US" sz="1200" dirty="0">
              <a:latin typeface="Cambria Math" panose="02040503050406030204" pitchFamily="18" charset="0"/>
              <a:ea typeface="Cambria Math" panose="02040503050406030204" pitchFamily="18" charset="0"/>
            </a:endParaRPr>
          </a:p>
        </p:txBody>
      </p:sp>
      <p:sp>
        <p:nvSpPr>
          <p:cNvPr id="13" name="Text 11"/>
          <p:cNvSpPr/>
          <p:nvPr/>
        </p:nvSpPr>
        <p:spPr>
          <a:xfrm>
            <a:off x="4389120" y="2242566"/>
            <a:ext cx="342900" cy="137160"/>
          </a:xfrm>
          <a:prstGeom prst="rect">
            <a:avLst/>
          </a:prstGeom>
          <a:noFill/>
          <a:ln/>
        </p:spPr>
        <p:txBody>
          <a:bodyPr wrap="square" lIns="0" tIns="0" rIns="0" bIns="0" rtlCol="0" anchor="ctr"/>
          <a:lstStyle/>
          <a:p>
            <a:pPr algn="ctr"/>
            <a:r>
              <a:rPr lang="en-US" sz="1200" dirty="0">
                <a:solidFill>
                  <a:srgbClr val="5A5A5A"/>
                </a:solidFill>
                <a:latin typeface="Cambria Math" panose="02040503050406030204" pitchFamily="18" charset="0"/>
                <a:ea typeface="Cambria Math" panose="02040503050406030204" pitchFamily="18" charset="0"/>
              </a:rPr>
              <a:t>↓</a:t>
            </a:r>
            <a:endParaRPr lang="en-US" sz="1200" dirty="0">
              <a:latin typeface="Cambria Math" panose="02040503050406030204" pitchFamily="18" charset="0"/>
              <a:ea typeface="Cambria Math" panose="02040503050406030204" pitchFamily="18" charset="0"/>
            </a:endParaRPr>
          </a:p>
        </p:txBody>
      </p:sp>
      <p:sp>
        <p:nvSpPr>
          <p:cNvPr id="14" name="Shape 12"/>
          <p:cNvSpPr/>
          <p:nvPr/>
        </p:nvSpPr>
        <p:spPr>
          <a:xfrm>
            <a:off x="548640" y="2379726"/>
            <a:ext cx="8023860" cy="384048"/>
          </a:xfrm>
          <a:prstGeom prst="rect">
            <a:avLst/>
          </a:prstGeom>
          <a:solidFill>
            <a:srgbClr val="EBF2FB"/>
          </a:solidFill>
          <a:ln w="19050">
            <a:solidFill>
              <a:srgbClr val="2E6DA4"/>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5" name="Text 13"/>
          <p:cNvSpPr/>
          <p:nvPr/>
        </p:nvSpPr>
        <p:spPr>
          <a:xfrm>
            <a:off x="685800" y="2427732"/>
            <a:ext cx="7749540" cy="233172"/>
          </a:xfrm>
          <a:prstGeom prst="rect">
            <a:avLst/>
          </a:prstGeom>
          <a:noFill/>
          <a:ln/>
        </p:spPr>
        <p:txBody>
          <a:bodyPr wrap="square" lIns="0" tIns="0" rIns="0" bIns="0" rtlCol="0" anchor="ctr"/>
          <a:lstStyle/>
          <a:p>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Transformer Encoder   ×  12 lớp</a:t>
            </a:r>
            <a:endParaRPr lang="en-US" sz="1200" dirty="0">
              <a:latin typeface="Cambria Math" panose="02040503050406030204" pitchFamily="18" charset="0"/>
              <a:ea typeface="Cambria Math" panose="02040503050406030204" pitchFamily="18" charset="0"/>
            </a:endParaRPr>
          </a:p>
        </p:txBody>
      </p:sp>
      <p:sp>
        <p:nvSpPr>
          <p:cNvPr id="16" name="Text 14"/>
          <p:cNvSpPr/>
          <p:nvPr/>
        </p:nvSpPr>
        <p:spPr>
          <a:xfrm>
            <a:off x="4389120" y="2763774"/>
            <a:ext cx="342900" cy="137160"/>
          </a:xfrm>
          <a:prstGeom prst="rect">
            <a:avLst/>
          </a:prstGeom>
          <a:noFill/>
          <a:ln/>
        </p:spPr>
        <p:txBody>
          <a:bodyPr wrap="square" lIns="0" tIns="0" rIns="0" bIns="0" rtlCol="0" anchor="ctr"/>
          <a:lstStyle/>
          <a:p>
            <a:pPr algn="ctr"/>
            <a:r>
              <a:rPr lang="en-US" sz="1200" dirty="0">
                <a:solidFill>
                  <a:srgbClr val="5A5A5A"/>
                </a:solidFill>
                <a:latin typeface="Cambria Math" panose="02040503050406030204" pitchFamily="18" charset="0"/>
                <a:ea typeface="Cambria Math" panose="02040503050406030204" pitchFamily="18" charset="0"/>
              </a:rPr>
              <a:t>↓</a:t>
            </a:r>
            <a:endParaRPr lang="en-US" sz="1200" dirty="0">
              <a:latin typeface="Cambria Math" panose="02040503050406030204" pitchFamily="18" charset="0"/>
              <a:ea typeface="Cambria Math" panose="02040503050406030204" pitchFamily="18" charset="0"/>
            </a:endParaRPr>
          </a:p>
        </p:txBody>
      </p:sp>
      <p:sp>
        <p:nvSpPr>
          <p:cNvPr id="17" name="Shape 15"/>
          <p:cNvSpPr/>
          <p:nvPr/>
        </p:nvSpPr>
        <p:spPr>
          <a:xfrm>
            <a:off x="548640" y="2900934"/>
            <a:ext cx="8023860" cy="507492"/>
          </a:xfrm>
          <a:prstGeom prst="rect">
            <a:avLst/>
          </a:prstGeom>
          <a:solidFill>
            <a:srgbClr val="F5ECFA"/>
          </a:solidFill>
          <a:ln w="19050">
            <a:solidFill>
              <a:srgbClr val="7B3FA0"/>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8" name="Text 16"/>
          <p:cNvSpPr/>
          <p:nvPr/>
        </p:nvSpPr>
        <p:spPr>
          <a:xfrm>
            <a:off x="685800" y="2948940"/>
            <a:ext cx="7749540" cy="233172"/>
          </a:xfrm>
          <a:prstGeom prst="rect">
            <a:avLst/>
          </a:prstGeom>
          <a:noFill/>
          <a:ln/>
        </p:spPr>
        <p:txBody>
          <a:bodyPr wrap="square" lIns="0" tIns="0" rIns="0" bIns="0" rtlCol="0" anchor="ctr"/>
          <a:lstStyle/>
          <a:p>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[Lúc training] R-Drop: </a:t>
            </a:r>
            <a:r>
              <a:rPr lang="en-US" sz="1200" b="1" u="sng" dirty="0">
                <a:solidFill>
                  <a:srgbClr val="7B3FA0"/>
                </a:solidFill>
                <a:latin typeface="Cambria Math" panose="02040503050406030204" pitchFamily="18" charset="0"/>
                <a:ea typeface="Cambria Math" panose="02040503050406030204" pitchFamily="18" charset="0"/>
                <a:cs typeface="Calibri" pitchFamily="34" charset="-120"/>
              </a:rPr>
              <a:t>forward 2 lần qua Encoder (2 dropout mask khác nhau)</a:t>
            </a:r>
            <a:endParaRPr lang="en-US" sz="1200" dirty="0">
              <a:latin typeface="Cambria Math" panose="02040503050406030204" pitchFamily="18" charset="0"/>
              <a:ea typeface="Cambria Math" panose="02040503050406030204" pitchFamily="18" charset="0"/>
            </a:endParaRPr>
          </a:p>
        </p:txBody>
      </p:sp>
      <p:sp>
        <p:nvSpPr>
          <p:cNvPr id="19" name="Text 17"/>
          <p:cNvSpPr/>
          <p:nvPr/>
        </p:nvSpPr>
        <p:spPr>
          <a:xfrm>
            <a:off x="685800" y="3175254"/>
            <a:ext cx="7749540" cy="205740"/>
          </a:xfrm>
          <a:prstGeom prst="rect">
            <a:avLst/>
          </a:prstGeom>
          <a:noFill/>
          <a:ln/>
        </p:spPr>
        <p:txBody>
          <a:bodyPr wrap="square" lIns="0" tIns="0" rIns="0" bIns="0" rtlCol="0" anchor="t"/>
          <a:lstStyle/>
          <a:p>
            <a:r>
              <a:rPr lang="en-US" sz="1200" dirty="0">
                <a:solidFill>
                  <a:srgbClr val="5A5A5A"/>
                </a:solidFill>
                <a:latin typeface="Cambria Math" panose="02040503050406030204" pitchFamily="18" charset="0"/>
                <a:ea typeface="Cambria Math" panose="02040503050406030204" pitchFamily="18" charset="0"/>
                <a:cs typeface="Calibri" pitchFamily="34" charset="-120"/>
              </a:rPr>
              <a:t>→  2 logits  ·  total_loss = CE_loss + 0.5 × KL_loss (KL giữa 2 logits, ép kết quả ổn định)</a:t>
            </a:r>
            <a:endParaRPr lang="en-US" sz="1200" dirty="0">
              <a:latin typeface="Cambria Math" panose="02040503050406030204" pitchFamily="18" charset="0"/>
              <a:ea typeface="Cambria Math" panose="02040503050406030204" pitchFamily="18" charset="0"/>
            </a:endParaRPr>
          </a:p>
        </p:txBody>
      </p:sp>
      <p:sp>
        <p:nvSpPr>
          <p:cNvPr id="20" name="Text 18"/>
          <p:cNvSpPr/>
          <p:nvPr/>
        </p:nvSpPr>
        <p:spPr>
          <a:xfrm>
            <a:off x="4389120" y="3408426"/>
            <a:ext cx="342900" cy="137160"/>
          </a:xfrm>
          <a:prstGeom prst="rect">
            <a:avLst/>
          </a:prstGeom>
          <a:noFill/>
          <a:ln/>
        </p:spPr>
        <p:txBody>
          <a:bodyPr wrap="square" lIns="0" tIns="0" rIns="0" bIns="0" rtlCol="0" anchor="ctr"/>
          <a:lstStyle/>
          <a:p>
            <a:pPr algn="ctr"/>
            <a:r>
              <a:rPr lang="en-US" sz="1200" dirty="0">
                <a:solidFill>
                  <a:srgbClr val="5A5A5A"/>
                </a:solidFill>
                <a:latin typeface="Cambria Math" panose="02040503050406030204" pitchFamily="18" charset="0"/>
                <a:ea typeface="Cambria Math" panose="02040503050406030204" pitchFamily="18" charset="0"/>
              </a:rPr>
              <a:t>↓</a:t>
            </a:r>
            <a:endParaRPr lang="en-US" sz="1200" dirty="0">
              <a:latin typeface="Cambria Math" panose="02040503050406030204" pitchFamily="18" charset="0"/>
              <a:ea typeface="Cambria Math" panose="02040503050406030204" pitchFamily="18" charset="0"/>
            </a:endParaRPr>
          </a:p>
        </p:txBody>
      </p:sp>
      <p:sp>
        <p:nvSpPr>
          <p:cNvPr id="21" name="Shape 19"/>
          <p:cNvSpPr/>
          <p:nvPr/>
        </p:nvSpPr>
        <p:spPr>
          <a:xfrm>
            <a:off x="548640" y="3545586"/>
            <a:ext cx="8023860" cy="466344"/>
          </a:xfrm>
          <a:prstGeom prst="rect">
            <a:avLst/>
          </a:prstGeom>
          <a:solidFill>
            <a:srgbClr val="EAF6EB"/>
          </a:solidFill>
          <a:ln w="19050">
            <a:solidFill>
              <a:srgbClr val="2E7D32"/>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22" name="Text 20"/>
          <p:cNvSpPr/>
          <p:nvPr/>
        </p:nvSpPr>
        <p:spPr>
          <a:xfrm>
            <a:off x="685800" y="3593592"/>
            <a:ext cx="7749540" cy="233172"/>
          </a:xfrm>
          <a:prstGeom prst="rect">
            <a:avLst/>
          </a:prstGeom>
          <a:noFill/>
          <a:ln/>
        </p:spPr>
        <p:txBody>
          <a:bodyPr wrap="square" lIns="0" tIns="0" rIns="0" bIns="0" rtlCol="0" anchor="ctr"/>
          <a:lstStyle/>
          <a:p>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[CLS] Token Representation: </a:t>
            </a:r>
            <a:r>
              <a:rPr lang="en-US" sz="1200" b="1" u="sng" dirty="0">
                <a:solidFill>
                  <a:srgbClr val="2E7D32"/>
                </a:solidFill>
                <a:latin typeface="Cambria Math" panose="02040503050406030204" pitchFamily="18" charset="0"/>
                <a:ea typeface="Cambria Math" panose="02040503050406030204" pitchFamily="18" charset="0"/>
                <a:cs typeface="Calibri" pitchFamily="34" charset="-120"/>
              </a:rPr>
              <a:t>Chuyển toàn bộ vector trong 1 câu thành 1 vector</a:t>
            </a:r>
            <a:endParaRPr lang="en-US" sz="1200" dirty="0">
              <a:latin typeface="Cambria Math" panose="02040503050406030204" pitchFamily="18" charset="0"/>
              <a:ea typeface="Cambria Math" panose="02040503050406030204" pitchFamily="18" charset="0"/>
            </a:endParaRPr>
          </a:p>
        </p:txBody>
      </p:sp>
      <p:sp>
        <p:nvSpPr>
          <p:cNvPr id="23" name="Text 21"/>
          <p:cNvSpPr/>
          <p:nvPr/>
        </p:nvSpPr>
        <p:spPr>
          <a:xfrm>
            <a:off x="685800" y="3819906"/>
            <a:ext cx="7749540" cy="164592"/>
          </a:xfrm>
          <a:prstGeom prst="rect">
            <a:avLst/>
          </a:prstGeom>
          <a:noFill/>
          <a:ln/>
        </p:spPr>
        <p:txBody>
          <a:bodyPr wrap="square" lIns="0" tIns="0" rIns="0" bIns="0" rtlCol="0" anchor="t"/>
          <a:lstStyle/>
          <a:p>
            <a:r>
              <a:rPr lang="en-US" sz="1200" dirty="0">
                <a:solidFill>
                  <a:srgbClr val="5A5A5A"/>
                </a:solidFill>
                <a:latin typeface="Cambria Math" panose="02040503050406030204" pitchFamily="18" charset="0"/>
                <a:ea typeface="Cambria Math" panose="02040503050406030204" pitchFamily="18" charset="0"/>
                <a:cs typeface="Calibri" pitchFamily="34" charset="-120"/>
              </a:rPr>
              <a:t>Vector 768 chiều tổng hợp ngữ nghĩa toàn câu — đầu vào cho classifier</a:t>
            </a:r>
            <a:endParaRPr lang="en-US" sz="1200" dirty="0">
              <a:latin typeface="Cambria Math" panose="02040503050406030204" pitchFamily="18" charset="0"/>
              <a:ea typeface="Cambria Math" panose="02040503050406030204" pitchFamily="18" charset="0"/>
            </a:endParaRPr>
          </a:p>
        </p:txBody>
      </p:sp>
      <p:sp>
        <p:nvSpPr>
          <p:cNvPr id="24" name="Text 22"/>
          <p:cNvSpPr/>
          <p:nvPr/>
        </p:nvSpPr>
        <p:spPr>
          <a:xfrm>
            <a:off x="4389120" y="4011930"/>
            <a:ext cx="342900" cy="137160"/>
          </a:xfrm>
          <a:prstGeom prst="rect">
            <a:avLst/>
          </a:prstGeom>
          <a:noFill/>
          <a:ln/>
        </p:spPr>
        <p:txBody>
          <a:bodyPr wrap="square" lIns="0" tIns="0" rIns="0" bIns="0" rtlCol="0" anchor="ctr"/>
          <a:lstStyle/>
          <a:p>
            <a:pPr algn="ctr"/>
            <a:r>
              <a:rPr lang="en-US" sz="1200" dirty="0">
                <a:solidFill>
                  <a:srgbClr val="5A5A5A"/>
                </a:solidFill>
                <a:latin typeface="Cambria Math" panose="02040503050406030204" pitchFamily="18" charset="0"/>
                <a:ea typeface="Cambria Math" panose="02040503050406030204" pitchFamily="18" charset="0"/>
              </a:rPr>
              <a:t>↓</a:t>
            </a:r>
            <a:endParaRPr lang="en-US" sz="1200" dirty="0">
              <a:latin typeface="Cambria Math" panose="02040503050406030204" pitchFamily="18" charset="0"/>
              <a:ea typeface="Cambria Math" panose="02040503050406030204" pitchFamily="18" charset="0"/>
            </a:endParaRPr>
          </a:p>
        </p:txBody>
      </p:sp>
      <p:sp>
        <p:nvSpPr>
          <p:cNvPr id="25" name="Shape 23"/>
          <p:cNvSpPr/>
          <p:nvPr/>
        </p:nvSpPr>
        <p:spPr>
          <a:xfrm>
            <a:off x="548640" y="4149090"/>
            <a:ext cx="8023860" cy="466344"/>
          </a:xfrm>
          <a:prstGeom prst="rect">
            <a:avLst/>
          </a:prstGeom>
          <a:solidFill>
            <a:srgbClr val="FFF9EC"/>
          </a:solidFill>
          <a:ln w="19050">
            <a:solidFill>
              <a:srgbClr val="B8860B"/>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26" name="Text 24"/>
          <p:cNvSpPr/>
          <p:nvPr/>
        </p:nvSpPr>
        <p:spPr>
          <a:xfrm>
            <a:off x="685800" y="4197096"/>
            <a:ext cx="7749540" cy="233172"/>
          </a:xfrm>
          <a:prstGeom prst="rect">
            <a:avLst/>
          </a:prstGeom>
          <a:noFill/>
          <a:ln/>
        </p:spPr>
        <p:txBody>
          <a:bodyPr wrap="square" lIns="0" tIns="0" rIns="0" bIns="0" rtlCol="0" anchor="ctr"/>
          <a:lstStyle/>
          <a:p>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Linear Classifier  (768 → 2)  +  Softmax</a:t>
            </a:r>
            <a:endParaRPr lang="en-US" sz="1200" dirty="0">
              <a:latin typeface="Cambria Math" panose="02040503050406030204" pitchFamily="18" charset="0"/>
              <a:ea typeface="Cambria Math" panose="02040503050406030204" pitchFamily="18" charset="0"/>
            </a:endParaRPr>
          </a:p>
        </p:txBody>
      </p:sp>
      <p:sp>
        <p:nvSpPr>
          <p:cNvPr id="27" name="Text 25"/>
          <p:cNvSpPr/>
          <p:nvPr/>
        </p:nvSpPr>
        <p:spPr>
          <a:xfrm>
            <a:off x="685800" y="4423410"/>
            <a:ext cx="7749540" cy="164592"/>
          </a:xfrm>
          <a:prstGeom prst="rect">
            <a:avLst/>
          </a:prstGeom>
          <a:noFill/>
          <a:ln/>
        </p:spPr>
        <p:txBody>
          <a:bodyPr wrap="square" lIns="0" tIns="0" rIns="0" bIns="0" rtlCol="0" anchor="t"/>
          <a:lstStyle/>
          <a:p>
            <a:r>
              <a:rPr lang="en-US" sz="1200" dirty="0">
                <a:solidFill>
                  <a:srgbClr val="5A5A5A"/>
                </a:solidFill>
                <a:latin typeface="Cambria Math" panose="02040503050406030204" pitchFamily="18" charset="0"/>
                <a:ea typeface="Cambria Math" panose="02040503050406030204" pitchFamily="18" charset="0"/>
                <a:cs typeface="Calibri" pitchFamily="34" charset="-120"/>
              </a:rPr>
              <a:t>→  P(Human-written)   /   P(AI-generated)</a:t>
            </a:r>
            <a:endParaRPr lang="en-US" sz="1200" dirty="0">
              <a:latin typeface="Cambria Math" panose="02040503050406030204" pitchFamily="18" charset="0"/>
              <a:ea typeface="Cambria Math" panose="02040503050406030204" pitchFamily="18" charset="0"/>
            </a:endParaRPr>
          </a:p>
        </p:txBody>
      </p:sp>
      <p:grpSp>
        <p:nvGrpSpPr>
          <p:cNvPr id="31" name="Group 25">
            <a:extLst>
              <a:ext uri="{FF2B5EF4-FFF2-40B4-BE49-F238E27FC236}">
                <a16:creationId xmlns:a16="http://schemas.microsoft.com/office/drawing/2014/main" id="{6443170F-5570-356D-B40F-A393B43E8CA6}"/>
              </a:ext>
            </a:extLst>
          </p:cNvPr>
          <p:cNvGrpSpPr/>
          <p:nvPr/>
        </p:nvGrpSpPr>
        <p:grpSpPr>
          <a:xfrm>
            <a:off x="699516" y="272606"/>
            <a:ext cx="28575" cy="285368"/>
            <a:chOff x="0" y="0"/>
            <a:chExt cx="76200" cy="760981"/>
          </a:xfrm>
        </p:grpSpPr>
        <p:sp>
          <p:nvSpPr>
            <p:cNvPr id="32" name="Freeform 26">
              <a:extLst>
                <a:ext uri="{FF2B5EF4-FFF2-40B4-BE49-F238E27FC236}">
                  <a16:creationId xmlns:a16="http://schemas.microsoft.com/office/drawing/2014/main" id="{39B45DE5-2A66-93C4-CCA6-32CF3BBE912B}"/>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3"/>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33" name="TextBox 27">
            <a:extLst>
              <a:ext uri="{FF2B5EF4-FFF2-40B4-BE49-F238E27FC236}">
                <a16:creationId xmlns:a16="http://schemas.microsoft.com/office/drawing/2014/main" id="{8B9155B3-F422-6EA8-F358-6B56C433618F}"/>
              </a:ext>
            </a:extLst>
          </p:cNvPr>
          <p:cNvSpPr txBox="1"/>
          <p:nvPr/>
        </p:nvSpPr>
        <p:spPr>
          <a:xfrm>
            <a:off x="812644" y="283464"/>
            <a:ext cx="5292734" cy="294953"/>
          </a:xfrm>
          <a:prstGeom prst="rect">
            <a:avLst/>
          </a:prstGeom>
        </p:spPr>
        <p:txBody>
          <a:bodyPr wrap="square" lIns="0" tIns="0" rIns="0" bIns="0" rtlCol="0" anchor="t">
            <a:spAutoFit/>
          </a:bodyPr>
          <a:lstStyle/>
          <a:p>
            <a:pPr>
              <a:lnSpc>
                <a:spcPts val="2280"/>
              </a:lnSpc>
            </a:pP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Kiến</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trúc</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XLM-</a:t>
            </a:r>
            <a:r>
              <a:rPr lang="en-US" sz="2100" b="1" spc="18" dirty="0" err="1">
                <a:solidFill>
                  <a:srgbClr val="000000"/>
                </a:solidFill>
                <a:latin typeface="Arial" panose="020B0604020202020204" pitchFamily="34" charset="0"/>
                <a:ea typeface="Arial Bold"/>
                <a:cs typeface="Arial" panose="020B0604020202020204" pitchFamily="34" charset="0"/>
                <a:sym typeface="Arial Bold"/>
              </a:rPr>
              <a:t>RoBERTa</a:t>
            </a:r>
            <a:r>
              <a:rPr lang="en-US" sz="2100" b="1" spc="18" dirty="0">
                <a:solidFill>
                  <a:srgbClr val="000000"/>
                </a:solidFill>
                <a:latin typeface="Arial" panose="020B0604020202020204" pitchFamily="34" charset="0"/>
                <a:ea typeface="Arial Bold"/>
                <a:cs typeface="Arial" panose="020B0604020202020204" pitchFamily="34" charset="0"/>
                <a:sym typeface="Arial Bold"/>
              </a:rPr>
              <a:t> </a:t>
            </a:r>
          </a:p>
        </p:txBody>
      </p:sp>
      <p:sp>
        <p:nvSpPr>
          <p:cNvPr id="34" name="TextBox 28">
            <a:extLst>
              <a:ext uri="{FF2B5EF4-FFF2-40B4-BE49-F238E27FC236}">
                <a16:creationId xmlns:a16="http://schemas.microsoft.com/office/drawing/2014/main" id="{C8927F2B-26C1-0826-EAC5-4571085C5C0B}"/>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4.2</a:t>
            </a:r>
          </a:p>
        </p:txBody>
      </p:sp>
      <p:sp>
        <p:nvSpPr>
          <p:cNvPr id="35" name="TextBox 22">
            <a:extLst>
              <a:ext uri="{FF2B5EF4-FFF2-40B4-BE49-F238E27FC236}">
                <a16:creationId xmlns:a16="http://schemas.microsoft.com/office/drawing/2014/main" id="{0F4B7D24-DF29-303C-40FF-609C8A48BE9D}"/>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36" name="Group 23">
            <a:extLst>
              <a:ext uri="{FF2B5EF4-FFF2-40B4-BE49-F238E27FC236}">
                <a16:creationId xmlns:a16="http://schemas.microsoft.com/office/drawing/2014/main" id="{0EE05542-B84C-3A26-B0B3-BDF20A8EEBFC}"/>
              </a:ext>
            </a:extLst>
          </p:cNvPr>
          <p:cNvGrpSpPr/>
          <p:nvPr/>
        </p:nvGrpSpPr>
        <p:grpSpPr>
          <a:xfrm>
            <a:off x="0" y="4870323"/>
            <a:ext cx="9144000" cy="274320"/>
            <a:chOff x="0" y="0"/>
            <a:chExt cx="24384000" cy="731520"/>
          </a:xfrm>
        </p:grpSpPr>
        <p:sp>
          <p:nvSpPr>
            <p:cNvPr id="37" name="Freeform 24">
              <a:extLst>
                <a:ext uri="{FF2B5EF4-FFF2-40B4-BE49-F238E27FC236}">
                  <a16:creationId xmlns:a16="http://schemas.microsoft.com/office/drawing/2014/main" id="{504124B5-F7A4-CEDC-1C8A-9A72921F97B1}"/>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38" name="TextBox 25">
            <a:extLst>
              <a:ext uri="{FF2B5EF4-FFF2-40B4-BE49-F238E27FC236}">
                <a16:creationId xmlns:a16="http://schemas.microsoft.com/office/drawing/2014/main" id="{4A6A5FA2-F253-8428-6155-65648BF6C0DB}"/>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39" name="TextBox 26">
            <a:extLst>
              <a:ext uri="{FF2B5EF4-FFF2-40B4-BE49-F238E27FC236}">
                <a16:creationId xmlns:a16="http://schemas.microsoft.com/office/drawing/2014/main" id="{8931B2E4-4AD2-8345-3DC0-EBD474F885C8}"/>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13/25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DB6A5-3BC4-9A89-9D44-EB8FBD2BFAA3}"/>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E16AB019-96D6-6403-AE88-F1353C1D8171}"/>
              </a:ext>
            </a:extLst>
          </p:cNvPr>
          <p:cNvSpPr txBox="1"/>
          <p:nvPr/>
        </p:nvSpPr>
        <p:spPr>
          <a:xfrm>
            <a:off x="3737172" y="1137955"/>
            <a:ext cx="1623060" cy="1538883"/>
          </a:xfrm>
          <a:prstGeom prst="rect">
            <a:avLst/>
          </a:prstGeom>
        </p:spPr>
        <p:txBody>
          <a:bodyPr lIns="0" tIns="0" rIns="0" bIns="0" rtlCol="0" anchor="t">
            <a:spAutoFit/>
          </a:bodyPr>
          <a:lstStyle/>
          <a:p>
            <a:pPr>
              <a:lnSpc>
                <a:spcPts val="12000"/>
              </a:lnSpc>
            </a:pPr>
            <a:r>
              <a:rPr lang="en-US" sz="10000" b="1" dirty="0">
                <a:solidFill>
                  <a:srgbClr val="0070C0"/>
                </a:solidFill>
                <a:latin typeface="Arimo Bold"/>
                <a:ea typeface="Arimo Bold"/>
                <a:cs typeface="Arimo Bold"/>
                <a:sym typeface="Arimo Bold"/>
              </a:rPr>
              <a:t>05 </a:t>
            </a:r>
          </a:p>
        </p:txBody>
      </p:sp>
      <p:grpSp>
        <p:nvGrpSpPr>
          <p:cNvPr id="7" name="Group 7">
            <a:extLst>
              <a:ext uri="{FF2B5EF4-FFF2-40B4-BE49-F238E27FC236}">
                <a16:creationId xmlns:a16="http://schemas.microsoft.com/office/drawing/2014/main" id="{D60C32F2-7BA2-3E10-7EDF-1CFF5B04239B}"/>
              </a:ext>
            </a:extLst>
          </p:cNvPr>
          <p:cNvGrpSpPr/>
          <p:nvPr/>
        </p:nvGrpSpPr>
        <p:grpSpPr>
          <a:xfrm>
            <a:off x="3348804" y="2571750"/>
            <a:ext cx="2309100" cy="36000"/>
            <a:chOff x="0" y="0"/>
            <a:chExt cx="6157600" cy="96000"/>
          </a:xfrm>
        </p:grpSpPr>
        <p:sp>
          <p:nvSpPr>
            <p:cNvPr id="8" name="Freeform 8">
              <a:extLst>
                <a:ext uri="{FF2B5EF4-FFF2-40B4-BE49-F238E27FC236}">
                  <a16:creationId xmlns:a16="http://schemas.microsoft.com/office/drawing/2014/main" id="{8588036C-A3DC-8137-70E1-F7AF2DC6DDE8}"/>
                </a:ext>
              </a:extLst>
            </p:cNvPr>
            <p:cNvSpPr/>
            <p:nvPr/>
          </p:nvSpPr>
          <p:spPr>
            <a:xfrm>
              <a:off x="0" y="0"/>
              <a:ext cx="6157595" cy="96012"/>
            </a:xfrm>
            <a:custGeom>
              <a:avLst/>
              <a:gdLst/>
              <a:ahLst/>
              <a:cxnLst/>
              <a:rect l="l" t="t" r="r" b="b"/>
              <a:pathLst>
                <a:path w="6157595" h="96012">
                  <a:moveTo>
                    <a:pt x="0" y="0"/>
                  </a:moveTo>
                  <a:lnTo>
                    <a:pt x="6157595" y="0"/>
                  </a:lnTo>
                  <a:lnTo>
                    <a:pt x="6157595" y="96012"/>
                  </a:lnTo>
                  <a:lnTo>
                    <a:pt x="0" y="96012"/>
                  </a:lnTo>
                  <a:close/>
                </a:path>
              </a:pathLst>
            </a:custGeom>
            <a:solidFill>
              <a:srgbClr val="0066CC"/>
            </a:solidFill>
          </p:spPr>
          <p:txBody>
            <a:bodyPr/>
            <a:lstStyle/>
            <a:p>
              <a:endParaRPr lang="en-US" sz="900"/>
            </a:p>
          </p:txBody>
        </p:sp>
      </p:grpSp>
      <p:sp>
        <p:nvSpPr>
          <p:cNvPr id="9" name="TextBox 9">
            <a:extLst>
              <a:ext uri="{FF2B5EF4-FFF2-40B4-BE49-F238E27FC236}">
                <a16:creationId xmlns:a16="http://schemas.microsoft.com/office/drawing/2014/main" id="{4824F98E-0FFB-BD60-E348-3ECEB52DD54B}"/>
              </a:ext>
            </a:extLst>
          </p:cNvPr>
          <p:cNvSpPr txBox="1"/>
          <p:nvPr/>
        </p:nvSpPr>
        <p:spPr>
          <a:xfrm>
            <a:off x="1434904" y="2711509"/>
            <a:ext cx="6523266" cy="2677208"/>
          </a:xfrm>
          <a:prstGeom prst="rect">
            <a:avLst/>
          </a:prstGeom>
        </p:spPr>
        <p:txBody>
          <a:bodyPr wrap="square" lIns="0" tIns="0" rIns="0" bIns="0" rtlCol="0" anchor="t">
            <a:spAutoFit/>
          </a:bodyPr>
          <a:lstStyle/>
          <a:p>
            <a:pPr algn="ctr">
              <a:lnSpc>
                <a:spcPts val="5280"/>
              </a:lnSpc>
            </a:pPr>
            <a:r>
              <a:rPr lang="en-US" sz="4400" b="1" dirty="0" err="1">
                <a:solidFill>
                  <a:srgbClr val="404040"/>
                </a:solidFill>
                <a:latin typeface="Arial Bold"/>
                <a:cs typeface="Arial Bold"/>
                <a:sym typeface="Arial Bold"/>
              </a:rPr>
              <a:t>Mô</a:t>
            </a:r>
            <a:r>
              <a:rPr lang="en-US" sz="4400" b="1" dirty="0">
                <a:solidFill>
                  <a:srgbClr val="404040"/>
                </a:solidFill>
                <a:latin typeface="Arial Bold"/>
                <a:cs typeface="Arial Bold"/>
                <a:sym typeface="Arial Bold"/>
              </a:rPr>
              <a:t> </a:t>
            </a:r>
            <a:r>
              <a:rPr lang="en-US" sz="4400" b="1" dirty="0" err="1">
                <a:solidFill>
                  <a:srgbClr val="404040"/>
                </a:solidFill>
                <a:latin typeface="Arial Bold"/>
                <a:cs typeface="Arial Bold"/>
                <a:sym typeface="Arial Bold"/>
              </a:rPr>
              <a:t>hình</a:t>
            </a:r>
            <a:r>
              <a:rPr lang="en-US" sz="4400" b="1" dirty="0">
                <a:solidFill>
                  <a:srgbClr val="404040"/>
                </a:solidFill>
                <a:latin typeface="Arial Bold"/>
                <a:cs typeface="Arial Bold"/>
                <a:sym typeface="Arial Bold"/>
              </a:rPr>
              <a:t> </a:t>
            </a:r>
            <a:r>
              <a:rPr lang="en-US" sz="4400" b="1" dirty="0" err="1">
                <a:solidFill>
                  <a:srgbClr val="404040"/>
                </a:solidFill>
                <a:latin typeface="Arial Bold"/>
                <a:cs typeface="Arial Bold"/>
                <a:sym typeface="Arial Bold"/>
              </a:rPr>
              <a:t>chuyên</a:t>
            </a:r>
            <a:r>
              <a:rPr lang="en-US" sz="4400" b="1" dirty="0">
                <a:solidFill>
                  <a:srgbClr val="404040"/>
                </a:solidFill>
                <a:latin typeface="Arial Bold"/>
                <a:cs typeface="Arial Bold"/>
                <a:sym typeface="Arial Bold"/>
              </a:rPr>
              <a:t> </a:t>
            </a:r>
            <a:r>
              <a:rPr lang="en-US" sz="4400" b="1" dirty="0" err="1">
                <a:solidFill>
                  <a:srgbClr val="404040"/>
                </a:solidFill>
                <a:latin typeface="Arial Bold"/>
                <a:cs typeface="Arial Bold"/>
                <a:sym typeface="Arial Bold"/>
              </a:rPr>
              <a:t>biệt</a:t>
            </a:r>
            <a:r>
              <a:rPr lang="en-US" sz="4400" b="1" dirty="0">
                <a:solidFill>
                  <a:srgbClr val="404040"/>
                </a:solidFill>
                <a:latin typeface="Arial Bold"/>
                <a:cs typeface="Arial Bold"/>
                <a:sym typeface="Arial Bold"/>
              </a:rPr>
              <a:t> (</a:t>
            </a:r>
            <a:r>
              <a:rPr lang="en-US" sz="4400" b="1" dirty="0" err="1">
                <a:solidFill>
                  <a:srgbClr val="404040"/>
                </a:solidFill>
                <a:latin typeface="Arial Bold"/>
                <a:cs typeface="Arial Bold"/>
                <a:sym typeface="Arial Bold"/>
              </a:rPr>
              <a:t>RoBERTa</a:t>
            </a:r>
            <a:r>
              <a:rPr lang="en-US" sz="4400" b="1" dirty="0">
                <a:solidFill>
                  <a:srgbClr val="404040"/>
                </a:solidFill>
                <a:latin typeface="Arial Bold"/>
                <a:cs typeface="Arial Bold"/>
                <a:sym typeface="Arial Bold"/>
              </a:rPr>
              <a:t> + </a:t>
            </a:r>
            <a:r>
              <a:rPr lang="en-US" sz="4400" b="1" dirty="0" err="1">
                <a:solidFill>
                  <a:srgbClr val="404040"/>
                </a:solidFill>
                <a:latin typeface="Arial Bold"/>
                <a:cs typeface="Arial Bold"/>
                <a:sym typeface="Arial Bold"/>
              </a:rPr>
              <a:t>PhoBERT</a:t>
            </a:r>
            <a:r>
              <a:rPr lang="en-US" sz="4400" b="1" dirty="0">
                <a:solidFill>
                  <a:srgbClr val="404040"/>
                </a:solidFill>
                <a:latin typeface="Arial Bold"/>
                <a:cs typeface="Arial Bold"/>
                <a:sym typeface="Arial Bold"/>
              </a:rPr>
              <a:t>)</a:t>
            </a:r>
          </a:p>
          <a:p>
            <a:pPr algn="ctr">
              <a:lnSpc>
                <a:spcPts val="5280"/>
              </a:lnSpc>
            </a:pPr>
            <a:endParaRPr lang="en-US" sz="4400" b="1" dirty="0">
              <a:solidFill>
                <a:srgbClr val="404040"/>
              </a:solidFill>
              <a:latin typeface="Arial Bold"/>
              <a:cs typeface="Arial Bold"/>
              <a:sym typeface="Arial Bold"/>
            </a:endParaRPr>
          </a:p>
          <a:p>
            <a:pPr>
              <a:lnSpc>
                <a:spcPts val="5280"/>
              </a:lnSpc>
            </a:pPr>
            <a:r>
              <a:rPr lang="en-US" sz="4400" b="1" dirty="0">
                <a:solidFill>
                  <a:srgbClr val="404040"/>
                </a:solidFill>
                <a:latin typeface="Arial Bold"/>
                <a:ea typeface="Arial Bold"/>
                <a:cs typeface="Arial Bold"/>
                <a:sym typeface="Arial Bold"/>
              </a:rPr>
              <a:t> </a:t>
            </a:r>
          </a:p>
        </p:txBody>
      </p:sp>
      <p:sp>
        <p:nvSpPr>
          <p:cNvPr id="15" name="TextBox 22">
            <a:extLst>
              <a:ext uri="{FF2B5EF4-FFF2-40B4-BE49-F238E27FC236}">
                <a16:creationId xmlns:a16="http://schemas.microsoft.com/office/drawing/2014/main" id="{F6C550B6-0123-E802-69CF-AA377D64BD6B}"/>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6" name="Group 23">
            <a:extLst>
              <a:ext uri="{FF2B5EF4-FFF2-40B4-BE49-F238E27FC236}">
                <a16:creationId xmlns:a16="http://schemas.microsoft.com/office/drawing/2014/main" id="{56FD2F95-96B9-4990-9158-2C3A5DCE402C}"/>
              </a:ext>
            </a:extLst>
          </p:cNvPr>
          <p:cNvGrpSpPr/>
          <p:nvPr/>
        </p:nvGrpSpPr>
        <p:grpSpPr>
          <a:xfrm>
            <a:off x="0" y="4870323"/>
            <a:ext cx="9144000" cy="274320"/>
            <a:chOff x="0" y="0"/>
            <a:chExt cx="24384000" cy="731520"/>
          </a:xfrm>
        </p:grpSpPr>
        <p:sp>
          <p:nvSpPr>
            <p:cNvPr id="17" name="Freeform 24">
              <a:extLst>
                <a:ext uri="{FF2B5EF4-FFF2-40B4-BE49-F238E27FC236}">
                  <a16:creationId xmlns:a16="http://schemas.microsoft.com/office/drawing/2014/main" id="{493642C2-D355-0041-28F6-670151A4D59F}"/>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8" name="TextBox 25">
            <a:extLst>
              <a:ext uri="{FF2B5EF4-FFF2-40B4-BE49-F238E27FC236}">
                <a16:creationId xmlns:a16="http://schemas.microsoft.com/office/drawing/2014/main" id="{12A0E3F7-63E5-6D75-46B2-5433C2827685}"/>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9" name="TextBox 26">
            <a:extLst>
              <a:ext uri="{FF2B5EF4-FFF2-40B4-BE49-F238E27FC236}">
                <a16:creationId xmlns:a16="http://schemas.microsoft.com/office/drawing/2014/main" id="{F001D6D2-7676-379E-3E07-5D3C4958D74B}"/>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14/25</a:t>
            </a:r>
          </a:p>
        </p:txBody>
      </p:sp>
      <p:grpSp>
        <p:nvGrpSpPr>
          <p:cNvPr id="22" name="Group 2">
            <a:extLst>
              <a:ext uri="{FF2B5EF4-FFF2-40B4-BE49-F238E27FC236}">
                <a16:creationId xmlns:a16="http://schemas.microsoft.com/office/drawing/2014/main" id="{478E49D8-FDCC-214F-B072-872B1A63A64C}"/>
              </a:ext>
            </a:extLst>
          </p:cNvPr>
          <p:cNvGrpSpPr/>
          <p:nvPr/>
        </p:nvGrpSpPr>
        <p:grpSpPr>
          <a:xfrm>
            <a:off x="7900508" y="116678"/>
            <a:ext cx="486733" cy="486733"/>
            <a:chOff x="0" y="0"/>
            <a:chExt cx="1297955" cy="1297955"/>
          </a:xfrm>
        </p:grpSpPr>
        <p:sp>
          <p:nvSpPr>
            <p:cNvPr id="23" name="Freeform 3">
              <a:extLst>
                <a:ext uri="{FF2B5EF4-FFF2-40B4-BE49-F238E27FC236}">
                  <a16:creationId xmlns:a16="http://schemas.microsoft.com/office/drawing/2014/main" id="{F43BAA3D-9C62-02CD-17F2-DAFB2AF5B41D}"/>
                </a:ext>
              </a:extLst>
            </p:cNvPr>
            <p:cNvSpPr/>
            <p:nvPr/>
          </p:nvSpPr>
          <p:spPr>
            <a:xfrm>
              <a:off x="0" y="0"/>
              <a:ext cx="1297940" cy="1297940"/>
            </a:xfrm>
            <a:custGeom>
              <a:avLst/>
              <a:gdLst/>
              <a:ahLst/>
              <a:cxnLst/>
              <a:rect l="l" t="t" r="r" b="b"/>
              <a:pathLst>
                <a:path w="1297940" h="1297940">
                  <a:moveTo>
                    <a:pt x="0" y="0"/>
                  </a:moveTo>
                  <a:lnTo>
                    <a:pt x="1297940" y="0"/>
                  </a:lnTo>
                  <a:lnTo>
                    <a:pt x="1297940" y="1297940"/>
                  </a:lnTo>
                  <a:lnTo>
                    <a:pt x="0" y="1297940"/>
                  </a:lnTo>
                  <a:lnTo>
                    <a:pt x="0" y="0"/>
                  </a:lnTo>
                  <a:close/>
                </a:path>
              </a:pathLst>
            </a:custGeom>
            <a:blipFill>
              <a:blip r:embed="rId3"/>
              <a:stretch>
                <a:fillRect r="-1" b="-1"/>
              </a:stretch>
            </a:blipFill>
          </p:spPr>
          <p:txBody>
            <a:bodyPr/>
            <a:lstStyle/>
            <a:p>
              <a:endParaRPr lang="en-US" sz="900"/>
            </a:p>
          </p:txBody>
        </p:sp>
      </p:grpSp>
      <p:grpSp>
        <p:nvGrpSpPr>
          <p:cNvPr id="24" name="Group 4">
            <a:extLst>
              <a:ext uri="{FF2B5EF4-FFF2-40B4-BE49-F238E27FC236}">
                <a16:creationId xmlns:a16="http://schemas.microsoft.com/office/drawing/2014/main" id="{B5B07547-C31A-3FFB-668A-13B14A55F648}"/>
              </a:ext>
            </a:extLst>
          </p:cNvPr>
          <p:cNvGrpSpPr>
            <a:grpSpLocks noChangeAspect="1"/>
          </p:cNvGrpSpPr>
          <p:nvPr/>
        </p:nvGrpSpPr>
        <p:grpSpPr>
          <a:xfrm>
            <a:off x="8528984" y="116678"/>
            <a:ext cx="486733" cy="488906"/>
            <a:chOff x="0" y="0"/>
            <a:chExt cx="1297955" cy="1303749"/>
          </a:xfrm>
        </p:grpSpPr>
        <p:sp>
          <p:nvSpPr>
            <p:cNvPr id="25" name="Freeform 5" descr="Viện Trí tuệ nhân tạo | Hanoi">
              <a:extLst>
                <a:ext uri="{FF2B5EF4-FFF2-40B4-BE49-F238E27FC236}">
                  <a16:creationId xmlns:a16="http://schemas.microsoft.com/office/drawing/2014/main" id="{F432C4C3-05FC-7902-35F0-EFFA9E957E53}"/>
                </a:ext>
              </a:extLst>
            </p:cNvPr>
            <p:cNvSpPr/>
            <p:nvPr/>
          </p:nvSpPr>
          <p:spPr>
            <a:xfrm>
              <a:off x="0" y="0"/>
              <a:ext cx="1297940" cy="1303782"/>
            </a:xfrm>
            <a:custGeom>
              <a:avLst/>
              <a:gdLst/>
              <a:ahLst/>
              <a:cxnLst/>
              <a:rect l="l" t="t" r="r" b="b"/>
              <a:pathLst>
                <a:path w="1297940" h="1303782">
                  <a:moveTo>
                    <a:pt x="0" y="0"/>
                  </a:moveTo>
                  <a:lnTo>
                    <a:pt x="1297940" y="0"/>
                  </a:lnTo>
                  <a:lnTo>
                    <a:pt x="1297940" y="1303782"/>
                  </a:lnTo>
                  <a:lnTo>
                    <a:pt x="0" y="1303782"/>
                  </a:lnTo>
                  <a:lnTo>
                    <a:pt x="0" y="0"/>
                  </a:lnTo>
                  <a:close/>
                </a:path>
              </a:pathLst>
            </a:custGeom>
            <a:blipFill>
              <a:blip r:embed="rId4"/>
              <a:stretch>
                <a:fillRect r="-1" b="2"/>
              </a:stretch>
            </a:blipFill>
          </p:spPr>
          <p:txBody>
            <a:bodyPr/>
            <a:lstStyle/>
            <a:p>
              <a:endParaRPr lang="en-US" sz="900"/>
            </a:p>
          </p:txBody>
        </p:sp>
      </p:grpSp>
    </p:spTree>
    <p:extLst>
      <p:ext uri="{BB962C8B-B14F-4D97-AF65-F5344CB8AC3E}">
        <p14:creationId xmlns:p14="http://schemas.microsoft.com/office/powerpoint/2010/main" val="1642825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11480" y="804672"/>
            <a:ext cx="8321040" cy="274320"/>
          </a:xfrm>
          <a:prstGeom prst="rect">
            <a:avLst/>
          </a:prstGeom>
          <a:noFill/>
          <a:ln/>
        </p:spPr>
        <p:txBody>
          <a:bodyPr wrap="square" lIns="0" tIns="0" rIns="0" bIns="0" rtlCol="0" anchor="ctr"/>
          <a:lstStyle/>
          <a:p>
            <a:pPr marL="0" indent="0">
              <a:buNone/>
            </a:pPr>
            <a:r>
              <a:rPr lang="en-US" sz="1400" b="1" dirty="0">
                <a:solidFill>
                  <a:srgbClr val="2E75B6"/>
                </a:solidFill>
                <a:latin typeface="Cambria Math" panose="02040503050406030204" pitchFamily="18" charset="0"/>
                <a:ea typeface="Cambria Math" panose="02040503050406030204" pitchFamily="18" charset="0"/>
                <a:cs typeface="Calibri" pitchFamily="34" charset="-120"/>
              </a:rPr>
              <a:t>RoBERTa-base  —  Tiếng Anh</a:t>
            </a:r>
            <a:endParaRPr lang="en-US" sz="1400" dirty="0">
              <a:latin typeface="Cambria Math" panose="02040503050406030204" pitchFamily="18" charset="0"/>
              <a:ea typeface="Cambria Math" panose="02040503050406030204" pitchFamily="18" charset="0"/>
            </a:endParaRPr>
          </a:p>
        </p:txBody>
      </p:sp>
      <p:sp>
        <p:nvSpPr>
          <p:cNvPr id="5" name="Shape 3"/>
          <p:cNvSpPr/>
          <p:nvPr/>
        </p:nvSpPr>
        <p:spPr>
          <a:xfrm>
            <a:off x="411480" y="1097280"/>
            <a:ext cx="8321040" cy="0"/>
          </a:xfrm>
          <a:prstGeom prst="line">
            <a:avLst/>
          </a:prstGeom>
          <a:noFill/>
          <a:ln w="6350">
            <a:solidFill>
              <a:srgbClr val="DDDDDD"/>
            </a:solidFill>
            <a:prstDash val="solid"/>
          </a:ln>
        </p:spPr>
        <p:txBody>
          <a:bodyPr/>
          <a:lstStyle/>
          <a:p>
            <a:endParaRPr lang="en-US" sz="1400">
              <a:latin typeface="Cambria Math" panose="02040503050406030204" pitchFamily="18" charset="0"/>
              <a:ea typeface="Cambria Math" panose="02040503050406030204" pitchFamily="18" charset="0"/>
            </a:endParaRPr>
          </a:p>
        </p:txBody>
      </p:sp>
      <p:sp>
        <p:nvSpPr>
          <p:cNvPr id="6" name="Text 4"/>
          <p:cNvSpPr/>
          <p:nvPr/>
        </p:nvSpPr>
        <p:spPr>
          <a:xfrm>
            <a:off x="411480" y="1012127"/>
            <a:ext cx="8321040" cy="896112"/>
          </a:xfrm>
          <a:prstGeom prst="rect">
            <a:avLst/>
          </a:prstGeom>
          <a:noFill/>
          <a:ln/>
        </p:spPr>
        <p:txBody>
          <a:bodyPr wrap="square" lIns="0" tIns="0" rIns="0" bIns="0" rtlCol="0" anchor="ctr"/>
          <a:lstStyle/>
          <a:p>
            <a:pPr marL="0" indent="0">
              <a:buNone/>
            </a:pPr>
            <a:r>
              <a:rPr lang="en-US" sz="1400" dirty="0">
                <a:solidFill>
                  <a:srgbClr val="1A1A2E"/>
                </a:solidFill>
                <a:latin typeface="Cambria Math" panose="02040503050406030204" pitchFamily="18" charset="0"/>
                <a:ea typeface="Cambria Math" panose="02040503050406030204" pitchFamily="18" charset="0"/>
                <a:cs typeface="Calibri" pitchFamily="34" charset="-120"/>
              </a:rPr>
              <a:t>RoBERTa là phiên bản cải tiến của BERT, được Facebook AI huấn luyện lâu hơn, trên nhiều dữ liệu hơn và không dùng Next Sentence Prediction. Nhờ đó RoBERTa nắm bắt sâu hơn các đặc trưng ngôn ngữ tiếng Anh so với mô hình đa ngôn ngữ.</a:t>
            </a:r>
            <a:endParaRPr lang="en-US" sz="1400" dirty="0">
              <a:latin typeface="Cambria Math" panose="02040503050406030204" pitchFamily="18" charset="0"/>
              <a:ea typeface="Cambria Math" panose="02040503050406030204" pitchFamily="18" charset="0"/>
            </a:endParaRPr>
          </a:p>
        </p:txBody>
      </p:sp>
      <p:sp>
        <p:nvSpPr>
          <p:cNvPr id="7" name="Text 5"/>
          <p:cNvSpPr/>
          <p:nvPr/>
        </p:nvSpPr>
        <p:spPr>
          <a:xfrm>
            <a:off x="411480" y="2157984"/>
            <a:ext cx="8321040" cy="274320"/>
          </a:xfrm>
          <a:prstGeom prst="rect">
            <a:avLst/>
          </a:prstGeom>
          <a:noFill/>
          <a:ln/>
        </p:spPr>
        <p:txBody>
          <a:bodyPr wrap="square" lIns="0" tIns="0" rIns="0" bIns="0" rtlCol="0" anchor="ctr"/>
          <a:lstStyle/>
          <a:p>
            <a:pPr marL="0" indent="0">
              <a:buNone/>
            </a:pPr>
            <a:r>
              <a:rPr lang="en-US" sz="1400" b="1" dirty="0">
                <a:solidFill>
                  <a:srgbClr val="1F6B3A"/>
                </a:solidFill>
                <a:latin typeface="Cambria Math" panose="02040503050406030204" pitchFamily="18" charset="0"/>
                <a:ea typeface="Cambria Math" panose="02040503050406030204" pitchFamily="18" charset="0"/>
                <a:cs typeface="Calibri" pitchFamily="34" charset="-120"/>
              </a:rPr>
              <a:t>PhoBERT-base-v2  —  Tiếng Việt</a:t>
            </a:r>
            <a:endParaRPr lang="en-US" sz="1400" dirty="0">
              <a:latin typeface="Cambria Math" panose="02040503050406030204" pitchFamily="18" charset="0"/>
              <a:ea typeface="Cambria Math" panose="02040503050406030204" pitchFamily="18" charset="0"/>
            </a:endParaRPr>
          </a:p>
        </p:txBody>
      </p:sp>
      <p:sp>
        <p:nvSpPr>
          <p:cNvPr id="8" name="Shape 6"/>
          <p:cNvSpPr/>
          <p:nvPr/>
        </p:nvSpPr>
        <p:spPr>
          <a:xfrm>
            <a:off x="411480" y="2450592"/>
            <a:ext cx="8321040" cy="0"/>
          </a:xfrm>
          <a:prstGeom prst="line">
            <a:avLst/>
          </a:prstGeom>
          <a:noFill/>
          <a:ln w="6350">
            <a:solidFill>
              <a:srgbClr val="DDDDDD"/>
            </a:solidFill>
            <a:prstDash val="solid"/>
          </a:ln>
        </p:spPr>
        <p:txBody>
          <a:bodyPr/>
          <a:lstStyle/>
          <a:p>
            <a:endParaRPr lang="en-US" sz="1400">
              <a:latin typeface="Cambria Math" panose="02040503050406030204" pitchFamily="18" charset="0"/>
              <a:ea typeface="Cambria Math" panose="02040503050406030204" pitchFamily="18" charset="0"/>
            </a:endParaRPr>
          </a:p>
        </p:txBody>
      </p:sp>
      <p:sp>
        <p:nvSpPr>
          <p:cNvPr id="9" name="Text 7"/>
          <p:cNvSpPr/>
          <p:nvPr/>
        </p:nvSpPr>
        <p:spPr>
          <a:xfrm>
            <a:off x="411480" y="2365439"/>
            <a:ext cx="8321040" cy="896112"/>
          </a:xfrm>
          <a:prstGeom prst="rect">
            <a:avLst/>
          </a:prstGeom>
          <a:noFill/>
          <a:ln/>
        </p:spPr>
        <p:txBody>
          <a:bodyPr wrap="square" lIns="0" tIns="0" rIns="0" bIns="0" rtlCol="0" anchor="ctr"/>
          <a:lstStyle/>
          <a:p>
            <a:pPr marL="0" indent="0">
              <a:buNone/>
            </a:pPr>
            <a:r>
              <a:rPr lang="en-US" sz="1400" dirty="0">
                <a:solidFill>
                  <a:srgbClr val="1A1A2E"/>
                </a:solidFill>
                <a:latin typeface="Cambria Math" panose="02040503050406030204" pitchFamily="18" charset="0"/>
                <a:ea typeface="Cambria Math" panose="02040503050406030204" pitchFamily="18" charset="0"/>
                <a:cs typeface="Calibri" pitchFamily="34" charset="-120"/>
              </a:rPr>
              <a:t>PhoBERT được VinAI huấn luyện riêng trên 20GB văn bản tiếng Việt. Tiếng Việt có cấu trúc từ ghép nhiều âm tiết rất khác tiếng Anh, nên cần bước tách từ (word segmentation) trước khi tokenize — điều mà PhoBERT được thiết kế để xử lý tốt.</a:t>
            </a:r>
            <a:endParaRPr lang="en-US" sz="1400" dirty="0">
              <a:latin typeface="Cambria Math" panose="02040503050406030204" pitchFamily="18" charset="0"/>
              <a:ea typeface="Cambria Math" panose="02040503050406030204" pitchFamily="18" charset="0"/>
            </a:endParaRPr>
          </a:p>
        </p:txBody>
      </p:sp>
      <p:sp>
        <p:nvSpPr>
          <p:cNvPr id="10" name="Text 8"/>
          <p:cNvSpPr/>
          <p:nvPr/>
        </p:nvSpPr>
        <p:spPr>
          <a:xfrm>
            <a:off x="411480" y="3511296"/>
            <a:ext cx="8321040" cy="274320"/>
          </a:xfrm>
          <a:prstGeom prst="rect">
            <a:avLst/>
          </a:prstGeom>
          <a:noFill/>
          <a:ln/>
        </p:spPr>
        <p:txBody>
          <a:bodyPr wrap="square" lIns="0" tIns="0" rIns="0" bIns="0" rtlCol="0" anchor="ctr"/>
          <a:lstStyle/>
          <a:p>
            <a:pPr marL="0" indent="0">
              <a:buNone/>
            </a:pPr>
            <a:r>
              <a:rPr lang="en-US" sz="1400" b="1" dirty="0">
                <a:solidFill>
                  <a:srgbClr val="1B3A6B"/>
                </a:solidFill>
                <a:latin typeface="Cambria Math" panose="02040503050406030204" pitchFamily="18" charset="0"/>
                <a:ea typeface="Cambria Math" panose="02040503050406030204" pitchFamily="18" charset="0"/>
                <a:cs typeface="Calibri" pitchFamily="34" charset="-120"/>
              </a:rPr>
              <a:t>Hybrid Model  —  Kết hợp 2 model chuyên biệt</a:t>
            </a:r>
            <a:endParaRPr lang="en-US" sz="1400" dirty="0">
              <a:latin typeface="Cambria Math" panose="02040503050406030204" pitchFamily="18" charset="0"/>
              <a:ea typeface="Cambria Math" panose="02040503050406030204" pitchFamily="18" charset="0"/>
            </a:endParaRPr>
          </a:p>
        </p:txBody>
      </p:sp>
      <p:sp>
        <p:nvSpPr>
          <p:cNvPr id="11" name="Shape 9"/>
          <p:cNvSpPr/>
          <p:nvPr/>
        </p:nvSpPr>
        <p:spPr>
          <a:xfrm>
            <a:off x="411480" y="3803904"/>
            <a:ext cx="8321040" cy="0"/>
          </a:xfrm>
          <a:prstGeom prst="line">
            <a:avLst/>
          </a:prstGeom>
          <a:noFill/>
          <a:ln w="6350">
            <a:solidFill>
              <a:srgbClr val="DDDDDD"/>
            </a:solidFill>
            <a:prstDash val="solid"/>
          </a:ln>
        </p:spPr>
        <p:txBody>
          <a:bodyPr/>
          <a:lstStyle/>
          <a:p>
            <a:endParaRPr lang="en-US" sz="1400">
              <a:latin typeface="Cambria Math" panose="02040503050406030204" pitchFamily="18" charset="0"/>
              <a:ea typeface="Cambria Math" panose="02040503050406030204" pitchFamily="18" charset="0"/>
            </a:endParaRPr>
          </a:p>
        </p:txBody>
      </p:sp>
      <p:sp>
        <p:nvSpPr>
          <p:cNvPr id="12" name="Text 10"/>
          <p:cNvSpPr/>
          <p:nvPr/>
        </p:nvSpPr>
        <p:spPr>
          <a:xfrm>
            <a:off x="411480" y="3594670"/>
            <a:ext cx="8321040" cy="896112"/>
          </a:xfrm>
          <a:prstGeom prst="rect">
            <a:avLst/>
          </a:prstGeom>
          <a:noFill/>
          <a:ln/>
        </p:spPr>
        <p:txBody>
          <a:bodyPr wrap="square" lIns="0" tIns="0" rIns="0" bIns="0" rtlCol="0" anchor="ctr"/>
          <a:lstStyle/>
          <a:p>
            <a:pPr marL="0" indent="0">
              <a:buNone/>
            </a:pPr>
            <a:r>
              <a:rPr lang="en-US" sz="1400" dirty="0">
                <a:solidFill>
                  <a:srgbClr val="1A1A2E"/>
                </a:solidFill>
                <a:latin typeface="Cambria Math" panose="02040503050406030204" pitchFamily="18" charset="0"/>
                <a:ea typeface="Cambria Math" panose="02040503050406030204" pitchFamily="18" charset="0"/>
                <a:cs typeface="Calibri" pitchFamily="34" charset="-120"/>
              </a:rPr>
              <a:t>Thay vì dùng một mô hình đa ngôn ngữ phải chia sẻ năng lực cho cả hai tiếng, Hybrid dùng RoBERTa cho tiếng Anh và PhoBERT cho tiếng Việt, kết hợp qua cơ chế routing tự động theo ngôn ngữ phát hiện được.</a:t>
            </a:r>
            <a:endParaRPr lang="en-US" sz="1400" dirty="0">
              <a:latin typeface="Cambria Math" panose="02040503050406030204" pitchFamily="18" charset="0"/>
              <a:ea typeface="Cambria Math" panose="02040503050406030204" pitchFamily="18" charset="0"/>
            </a:endParaRPr>
          </a:p>
        </p:txBody>
      </p:sp>
      <p:grpSp>
        <p:nvGrpSpPr>
          <p:cNvPr id="16" name="Group 25">
            <a:extLst>
              <a:ext uri="{FF2B5EF4-FFF2-40B4-BE49-F238E27FC236}">
                <a16:creationId xmlns:a16="http://schemas.microsoft.com/office/drawing/2014/main" id="{DD479306-9C15-C3D6-B8B8-43C59CF87F52}"/>
              </a:ext>
            </a:extLst>
          </p:cNvPr>
          <p:cNvGrpSpPr/>
          <p:nvPr/>
        </p:nvGrpSpPr>
        <p:grpSpPr>
          <a:xfrm>
            <a:off x="699516" y="272606"/>
            <a:ext cx="28575" cy="285368"/>
            <a:chOff x="0" y="0"/>
            <a:chExt cx="76200" cy="760981"/>
          </a:xfrm>
        </p:grpSpPr>
        <p:sp>
          <p:nvSpPr>
            <p:cNvPr id="17" name="Freeform 26">
              <a:extLst>
                <a:ext uri="{FF2B5EF4-FFF2-40B4-BE49-F238E27FC236}">
                  <a16:creationId xmlns:a16="http://schemas.microsoft.com/office/drawing/2014/main" id="{6A75A98C-14BC-1DA5-FE52-430E4EBE1E5C}"/>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3"/>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18" name="TextBox 27">
            <a:extLst>
              <a:ext uri="{FF2B5EF4-FFF2-40B4-BE49-F238E27FC236}">
                <a16:creationId xmlns:a16="http://schemas.microsoft.com/office/drawing/2014/main" id="{80CD576E-FFAC-3175-CBC2-D91F8DF7BE7A}"/>
              </a:ext>
            </a:extLst>
          </p:cNvPr>
          <p:cNvSpPr txBox="1"/>
          <p:nvPr/>
        </p:nvSpPr>
        <p:spPr>
          <a:xfrm>
            <a:off x="812643" y="283464"/>
            <a:ext cx="3878931" cy="300082"/>
          </a:xfrm>
          <a:prstGeom prst="rect">
            <a:avLst/>
          </a:prstGeom>
        </p:spPr>
        <p:txBody>
          <a:bodyPr wrap="square" lIns="0" tIns="0" rIns="0" bIns="0" rtlCol="0" anchor="t">
            <a:spAutoFit/>
          </a:bodyPr>
          <a:lstStyle/>
          <a:p>
            <a:pPr>
              <a:lnSpc>
                <a:spcPts val="2280"/>
              </a:lnSpc>
            </a:pPr>
            <a:r>
              <a:rPr lang="en-US" sz="2400" b="1" dirty="0" err="1">
                <a:solidFill>
                  <a:srgbClr val="1A1A2E"/>
                </a:solidFill>
                <a:latin typeface="Calibri" pitchFamily="34" charset="0"/>
                <a:ea typeface="Calibri" pitchFamily="34" charset="-122"/>
                <a:cs typeface="Calibri" pitchFamily="34" charset="-120"/>
              </a:rPr>
              <a:t>Mô</a:t>
            </a:r>
            <a:r>
              <a:rPr lang="en-US" sz="2400" b="1" dirty="0">
                <a:solidFill>
                  <a:srgbClr val="1A1A2E"/>
                </a:solidFill>
                <a:latin typeface="Calibri" pitchFamily="34" charset="0"/>
                <a:ea typeface="Calibri" pitchFamily="34" charset="-122"/>
                <a:cs typeface="Calibri" pitchFamily="34" charset="-120"/>
              </a:rPr>
              <a:t> </a:t>
            </a:r>
            <a:r>
              <a:rPr lang="en-US" sz="2400" b="1" dirty="0" err="1">
                <a:solidFill>
                  <a:srgbClr val="1A1A2E"/>
                </a:solidFill>
                <a:latin typeface="Calibri" pitchFamily="34" charset="0"/>
                <a:ea typeface="Calibri" pitchFamily="34" charset="-122"/>
                <a:cs typeface="Calibri" pitchFamily="34" charset="-120"/>
              </a:rPr>
              <a:t>hình</a:t>
            </a:r>
            <a:r>
              <a:rPr lang="en-US" sz="2400" b="1" dirty="0">
                <a:solidFill>
                  <a:srgbClr val="1A1A2E"/>
                </a:solidFill>
                <a:latin typeface="Calibri" pitchFamily="34" charset="0"/>
                <a:ea typeface="Calibri" pitchFamily="34" charset="-122"/>
                <a:cs typeface="Calibri" pitchFamily="34" charset="-120"/>
              </a:rPr>
              <a:t> </a:t>
            </a:r>
            <a:r>
              <a:rPr lang="en-US" sz="2400" b="1" dirty="0" err="1">
                <a:solidFill>
                  <a:srgbClr val="1A1A2E"/>
                </a:solidFill>
                <a:latin typeface="Calibri" pitchFamily="34" charset="0"/>
                <a:ea typeface="Calibri" pitchFamily="34" charset="-122"/>
                <a:cs typeface="Calibri" pitchFamily="34" charset="-120"/>
              </a:rPr>
              <a:t>chuyên</a:t>
            </a:r>
            <a:r>
              <a:rPr lang="en-US" sz="2400" b="1" dirty="0">
                <a:solidFill>
                  <a:srgbClr val="1A1A2E"/>
                </a:solidFill>
                <a:latin typeface="Calibri" pitchFamily="34" charset="0"/>
                <a:ea typeface="Calibri" pitchFamily="34" charset="-122"/>
                <a:cs typeface="Calibri" pitchFamily="34" charset="-120"/>
              </a:rPr>
              <a:t> </a:t>
            </a:r>
            <a:r>
              <a:rPr lang="en-US" sz="2400" b="1" dirty="0" err="1">
                <a:solidFill>
                  <a:srgbClr val="1A1A2E"/>
                </a:solidFill>
                <a:latin typeface="Calibri" pitchFamily="34" charset="0"/>
                <a:ea typeface="Calibri" pitchFamily="34" charset="-122"/>
                <a:cs typeface="Calibri" pitchFamily="34" charset="-120"/>
              </a:rPr>
              <a:t>biệt</a:t>
            </a:r>
            <a:r>
              <a:rPr lang="en-US" sz="2400" b="1" dirty="0">
                <a:solidFill>
                  <a:srgbClr val="1A1A2E"/>
                </a:solidFill>
                <a:latin typeface="Calibri" pitchFamily="34" charset="0"/>
                <a:ea typeface="Calibri" pitchFamily="34" charset="-122"/>
                <a:cs typeface="Calibri" pitchFamily="34" charset="-120"/>
              </a:rPr>
              <a:t> (Hybrid)</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19" name="TextBox 28">
            <a:extLst>
              <a:ext uri="{FF2B5EF4-FFF2-40B4-BE49-F238E27FC236}">
                <a16:creationId xmlns:a16="http://schemas.microsoft.com/office/drawing/2014/main" id="{C5DEC4C6-8B70-808A-876C-3023EF1444D9}"/>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5.1</a:t>
            </a:r>
          </a:p>
        </p:txBody>
      </p:sp>
      <p:sp>
        <p:nvSpPr>
          <p:cNvPr id="20" name="TextBox 22">
            <a:extLst>
              <a:ext uri="{FF2B5EF4-FFF2-40B4-BE49-F238E27FC236}">
                <a16:creationId xmlns:a16="http://schemas.microsoft.com/office/drawing/2014/main" id="{65FAF83F-5AB4-45F7-9D8E-391E46277B3B}"/>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21" name="Group 23">
            <a:extLst>
              <a:ext uri="{FF2B5EF4-FFF2-40B4-BE49-F238E27FC236}">
                <a16:creationId xmlns:a16="http://schemas.microsoft.com/office/drawing/2014/main" id="{374BFC7B-CBA7-A100-85DB-D5BD0B2E8639}"/>
              </a:ext>
            </a:extLst>
          </p:cNvPr>
          <p:cNvGrpSpPr/>
          <p:nvPr/>
        </p:nvGrpSpPr>
        <p:grpSpPr>
          <a:xfrm>
            <a:off x="0" y="4870323"/>
            <a:ext cx="9144000" cy="274320"/>
            <a:chOff x="0" y="0"/>
            <a:chExt cx="24384000" cy="731520"/>
          </a:xfrm>
        </p:grpSpPr>
        <p:sp>
          <p:nvSpPr>
            <p:cNvPr id="22" name="Freeform 24">
              <a:extLst>
                <a:ext uri="{FF2B5EF4-FFF2-40B4-BE49-F238E27FC236}">
                  <a16:creationId xmlns:a16="http://schemas.microsoft.com/office/drawing/2014/main" id="{91BC811E-FA4E-FB75-7C61-8B6649805F02}"/>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23" name="TextBox 25">
            <a:extLst>
              <a:ext uri="{FF2B5EF4-FFF2-40B4-BE49-F238E27FC236}">
                <a16:creationId xmlns:a16="http://schemas.microsoft.com/office/drawing/2014/main" id="{9B61DFB4-2566-C68C-36BD-CA23866E70AE}"/>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24" name="TextBox 26">
            <a:extLst>
              <a:ext uri="{FF2B5EF4-FFF2-40B4-BE49-F238E27FC236}">
                <a16:creationId xmlns:a16="http://schemas.microsoft.com/office/drawing/2014/main" id="{9EEAA0EB-C712-DBD3-CF60-D8D911E78912}"/>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15/25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3429000" y="1054496"/>
            <a:ext cx="2057400" cy="425196"/>
          </a:xfrm>
          <a:prstGeom prst="rect">
            <a:avLst/>
          </a:prstGeom>
          <a:solidFill>
            <a:srgbClr val="F3F5FA"/>
          </a:solidFill>
          <a:ln w="19050">
            <a:solidFill>
              <a:srgbClr val="1F2D5C"/>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4" name="Text 2"/>
          <p:cNvSpPr/>
          <p:nvPr/>
        </p:nvSpPr>
        <p:spPr>
          <a:xfrm>
            <a:off x="3531870" y="1054496"/>
            <a:ext cx="1851660" cy="425196"/>
          </a:xfrm>
          <a:prstGeom prst="rect">
            <a:avLst/>
          </a:prstGeom>
          <a:noFill/>
          <a:ln/>
        </p:spPr>
        <p:txBody>
          <a:bodyPr wrap="square" lIns="0" tIns="0" rIns="0" bIns="0" rtlCol="0" anchor="ctr"/>
          <a:lstStyle/>
          <a:p>
            <a:pPr algn="ctr"/>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Input Text</a:t>
            </a:r>
            <a:endParaRPr lang="en-US" sz="1200" dirty="0">
              <a:latin typeface="Cambria Math" panose="02040503050406030204" pitchFamily="18" charset="0"/>
              <a:ea typeface="Cambria Math" panose="02040503050406030204" pitchFamily="18" charset="0"/>
            </a:endParaRPr>
          </a:p>
        </p:txBody>
      </p:sp>
      <p:sp>
        <p:nvSpPr>
          <p:cNvPr id="5" name="Text 3"/>
          <p:cNvSpPr/>
          <p:nvPr/>
        </p:nvSpPr>
        <p:spPr>
          <a:xfrm>
            <a:off x="4251960" y="1479692"/>
            <a:ext cx="411480" cy="192024"/>
          </a:xfrm>
          <a:prstGeom prst="rect">
            <a:avLst/>
          </a:prstGeom>
          <a:noFill/>
          <a:ln/>
        </p:spPr>
        <p:txBody>
          <a:bodyPr wrap="square" lIns="0" tIns="0" rIns="0" bIns="0" rtlCol="0" anchor="ctr"/>
          <a:lstStyle/>
          <a:p>
            <a:pPr algn="ctr"/>
            <a:r>
              <a:rPr lang="en-US" sz="1200" dirty="0">
                <a:solidFill>
                  <a:srgbClr val="5A5A5A"/>
                </a:solidFill>
                <a:latin typeface="Cambria Math" panose="02040503050406030204" pitchFamily="18" charset="0"/>
                <a:ea typeface="Cambria Math" panose="02040503050406030204" pitchFamily="18" charset="0"/>
              </a:rPr>
              <a:t>↓</a:t>
            </a:r>
            <a:endParaRPr lang="en-US" sz="1200" dirty="0">
              <a:latin typeface="Cambria Math" panose="02040503050406030204" pitchFamily="18" charset="0"/>
              <a:ea typeface="Cambria Math" panose="02040503050406030204" pitchFamily="18" charset="0"/>
            </a:endParaRPr>
          </a:p>
        </p:txBody>
      </p:sp>
      <p:sp>
        <p:nvSpPr>
          <p:cNvPr id="6" name="Shape 4"/>
          <p:cNvSpPr/>
          <p:nvPr/>
        </p:nvSpPr>
        <p:spPr>
          <a:xfrm>
            <a:off x="2537460" y="1671716"/>
            <a:ext cx="3840480" cy="425196"/>
          </a:xfrm>
          <a:prstGeom prst="rect">
            <a:avLst/>
          </a:prstGeom>
          <a:solidFill>
            <a:srgbClr val="FFF9EC"/>
          </a:solidFill>
          <a:ln w="19050">
            <a:solidFill>
              <a:srgbClr val="B8860B"/>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7" name="Text 5"/>
          <p:cNvSpPr/>
          <p:nvPr/>
        </p:nvSpPr>
        <p:spPr>
          <a:xfrm>
            <a:off x="2640330" y="1671716"/>
            <a:ext cx="3634740" cy="425196"/>
          </a:xfrm>
          <a:prstGeom prst="rect">
            <a:avLst/>
          </a:prstGeom>
          <a:noFill/>
          <a:ln/>
        </p:spPr>
        <p:txBody>
          <a:bodyPr wrap="square" lIns="0" tIns="0" rIns="0" bIns="0" rtlCol="0" anchor="ctr"/>
          <a:lstStyle/>
          <a:p>
            <a:pPr algn="ctr"/>
            <a:r>
              <a:rPr lang="en-US" sz="1200" b="1" dirty="0">
                <a:solidFill>
                  <a:srgbClr val="B8860B"/>
                </a:solidFill>
                <a:latin typeface="Cambria Math" panose="02040503050406030204" pitchFamily="18" charset="0"/>
                <a:ea typeface="Cambria Math" panose="02040503050406030204" pitchFamily="18" charset="0"/>
                <a:cs typeface="Calibri" pitchFamily="34" charset="-120"/>
              </a:rPr>
              <a:t>langdetect  →  P(ngôn ngữ)</a:t>
            </a:r>
            <a:endParaRPr lang="en-US" sz="1200" dirty="0">
              <a:latin typeface="Cambria Math" panose="02040503050406030204" pitchFamily="18" charset="0"/>
              <a:ea typeface="Cambria Math" panose="02040503050406030204" pitchFamily="18" charset="0"/>
            </a:endParaRPr>
          </a:p>
        </p:txBody>
      </p:sp>
      <p:sp>
        <p:nvSpPr>
          <p:cNvPr id="8" name="Text 6"/>
          <p:cNvSpPr/>
          <p:nvPr/>
        </p:nvSpPr>
        <p:spPr>
          <a:xfrm>
            <a:off x="240030" y="2138060"/>
            <a:ext cx="2331720" cy="219456"/>
          </a:xfrm>
          <a:prstGeom prst="rect">
            <a:avLst/>
          </a:prstGeom>
          <a:noFill/>
          <a:ln/>
        </p:spPr>
        <p:txBody>
          <a:bodyPr wrap="square" lIns="0" tIns="0" rIns="0" bIns="0" rtlCol="0" anchor="ctr"/>
          <a:lstStyle/>
          <a:p>
            <a:pPr algn="ctr"/>
            <a:r>
              <a:rPr lang="en-US" sz="1200" b="1" dirty="0">
                <a:solidFill>
                  <a:srgbClr val="2E6DA4"/>
                </a:solidFill>
                <a:latin typeface="Cambria Math" panose="02040503050406030204" pitchFamily="18" charset="0"/>
                <a:ea typeface="Cambria Math" panose="02040503050406030204" pitchFamily="18" charset="0"/>
                <a:cs typeface="Calibri" pitchFamily="34" charset="-120"/>
              </a:rPr>
              <a:t>P ≥ 0.8  &amp;  lang = en</a:t>
            </a:r>
            <a:endParaRPr lang="en-US" sz="1200" dirty="0">
              <a:latin typeface="Cambria Math" panose="02040503050406030204" pitchFamily="18" charset="0"/>
              <a:ea typeface="Cambria Math" panose="02040503050406030204" pitchFamily="18" charset="0"/>
            </a:endParaRPr>
          </a:p>
        </p:txBody>
      </p:sp>
      <p:sp>
        <p:nvSpPr>
          <p:cNvPr id="9" name="Text 7"/>
          <p:cNvSpPr/>
          <p:nvPr/>
        </p:nvSpPr>
        <p:spPr>
          <a:xfrm>
            <a:off x="2743200" y="2138060"/>
            <a:ext cx="1577340" cy="219456"/>
          </a:xfrm>
          <a:prstGeom prst="rect">
            <a:avLst/>
          </a:prstGeom>
          <a:noFill/>
          <a:ln/>
        </p:spPr>
        <p:txBody>
          <a:bodyPr wrap="square" lIns="0" tIns="0" rIns="0" bIns="0" rtlCol="0" anchor="ctr"/>
          <a:lstStyle/>
          <a:p>
            <a:pPr algn="r"/>
            <a:r>
              <a:rPr lang="en-US" sz="1200" b="1" dirty="0">
                <a:solidFill>
                  <a:srgbClr val="6B6B6B"/>
                </a:solidFill>
                <a:latin typeface="Cambria Math" panose="02040503050406030204" pitchFamily="18" charset="0"/>
                <a:ea typeface="Cambria Math" panose="02040503050406030204" pitchFamily="18" charset="0"/>
                <a:cs typeface="Calibri" pitchFamily="34" charset="-120"/>
              </a:rPr>
              <a:t>P &lt; 0.8  HOẶC</a:t>
            </a:r>
            <a:endParaRPr lang="en-US" sz="1200" dirty="0">
              <a:latin typeface="Cambria Math" panose="02040503050406030204" pitchFamily="18" charset="0"/>
              <a:ea typeface="Cambria Math" panose="02040503050406030204" pitchFamily="18" charset="0"/>
            </a:endParaRPr>
          </a:p>
        </p:txBody>
      </p:sp>
      <p:sp>
        <p:nvSpPr>
          <p:cNvPr id="10" name="Text 8"/>
          <p:cNvSpPr/>
          <p:nvPr/>
        </p:nvSpPr>
        <p:spPr>
          <a:xfrm>
            <a:off x="4594860" y="2138060"/>
            <a:ext cx="1577340" cy="219456"/>
          </a:xfrm>
          <a:prstGeom prst="rect">
            <a:avLst/>
          </a:prstGeom>
          <a:noFill/>
          <a:ln/>
        </p:spPr>
        <p:txBody>
          <a:bodyPr wrap="square" lIns="0" tIns="0" rIns="0" bIns="0" rtlCol="0" anchor="ctr"/>
          <a:lstStyle/>
          <a:p>
            <a:r>
              <a:rPr lang="en-US" sz="1200" b="1" dirty="0">
                <a:solidFill>
                  <a:srgbClr val="6B6B6B"/>
                </a:solidFill>
                <a:latin typeface="Cambria Math" panose="02040503050406030204" pitchFamily="18" charset="0"/>
                <a:ea typeface="Cambria Math" panose="02040503050406030204" pitchFamily="18" charset="0"/>
                <a:cs typeface="Calibri" pitchFamily="34" charset="-120"/>
              </a:rPr>
              <a:t>lang khác EN/VI</a:t>
            </a:r>
            <a:endParaRPr lang="en-US" sz="1200" dirty="0">
              <a:latin typeface="Cambria Math" panose="02040503050406030204" pitchFamily="18" charset="0"/>
              <a:ea typeface="Cambria Math" panose="02040503050406030204" pitchFamily="18" charset="0"/>
            </a:endParaRPr>
          </a:p>
        </p:txBody>
      </p:sp>
      <p:sp>
        <p:nvSpPr>
          <p:cNvPr id="11" name="Text 9"/>
          <p:cNvSpPr/>
          <p:nvPr/>
        </p:nvSpPr>
        <p:spPr>
          <a:xfrm>
            <a:off x="6343650" y="2138060"/>
            <a:ext cx="2331720" cy="219456"/>
          </a:xfrm>
          <a:prstGeom prst="rect">
            <a:avLst/>
          </a:prstGeom>
          <a:noFill/>
          <a:ln/>
        </p:spPr>
        <p:txBody>
          <a:bodyPr wrap="square" lIns="0" tIns="0" rIns="0" bIns="0" rtlCol="0" anchor="ctr"/>
          <a:lstStyle/>
          <a:p>
            <a:pPr algn="ctr"/>
            <a:r>
              <a:rPr lang="en-US" sz="1200" b="1" dirty="0">
                <a:solidFill>
                  <a:srgbClr val="2E7D32"/>
                </a:solidFill>
                <a:latin typeface="Cambria Math" panose="02040503050406030204" pitchFamily="18" charset="0"/>
                <a:ea typeface="Cambria Math" panose="02040503050406030204" pitchFamily="18" charset="0"/>
                <a:cs typeface="Calibri" pitchFamily="34" charset="-120"/>
              </a:rPr>
              <a:t>P ≥ 0.8  &amp;  lang = vi</a:t>
            </a:r>
            <a:endParaRPr lang="en-US" sz="1200" dirty="0">
              <a:latin typeface="Cambria Math" panose="02040503050406030204" pitchFamily="18" charset="0"/>
              <a:ea typeface="Cambria Math" panose="02040503050406030204" pitchFamily="18" charset="0"/>
            </a:endParaRPr>
          </a:p>
        </p:txBody>
      </p:sp>
      <p:sp>
        <p:nvSpPr>
          <p:cNvPr id="12" name="Shape 10"/>
          <p:cNvSpPr/>
          <p:nvPr/>
        </p:nvSpPr>
        <p:spPr>
          <a:xfrm>
            <a:off x="4457700" y="2110628"/>
            <a:ext cx="0" cy="315468"/>
          </a:xfrm>
          <a:prstGeom prst="line">
            <a:avLst/>
          </a:prstGeom>
          <a:noFill/>
          <a:ln w="15875">
            <a:solidFill>
              <a:srgbClr val="5A5A5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3" name="Shape 11"/>
          <p:cNvSpPr/>
          <p:nvPr/>
        </p:nvSpPr>
        <p:spPr>
          <a:xfrm>
            <a:off x="1405890" y="2426096"/>
            <a:ext cx="6103620" cy="0"/>
          </a:xfrm>
          <a:prstGeom prst="line">
            <a:avLst/>
          </a:prstGeom>
          <a:noFill/>
          <a:ln w="15875">
            <a:solidFill>
              <a:srgbClr val="5A5A5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4" name="Shape 12"/>
          <p:cNvSpPr/>
          <p:nvPr/>
        </p:nvSpPr>
        <p:spPr>
          <a:xfrm>
            <a:off x="1405890" y="2426096"/>
            <a:ext cx="0" cy="219456"/>
          </a:xfrm>
          <a:prstGeom prst="line">
            <a:avLst/>
          </a:prstGeom>
          <a:noFill/>
          <a:ln w="15875">
            <a:solidFill>
              <a:srgbClr val="5A5A5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5" name="Shape 13"/>
          <p:cNvSpPr/>
          <p:nvPr/>
        </p:nvSpPr>
        <p:spPr>
          <a:xfrm>
            <a:off x="4457700" y="2426096"/>
            <a:ext cx="0" cy="219456"/>
          </a:xfrm>
          <a:prstGeom prst="line">
            <a:avLst/>
          </a:prstGeom>
          <a:noFill/>
          <a:ln w="15875">
            <a:solidFill>
              <a:srgbClr val="5A5A5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6" name="Shape 14"/>
          <p:cNvSpPr/>
          <p:nvPr/>
        </p:nvSpPr>
        <p:spPr>
          <a:xfrm>
            <a:off x="7509510" y="2426096"/>
            <a:ext cx="0" cy="219456"/>
          </a:xfrm>
          <a:prstGeom prst="line">
            <a:avLst/>
          </a:prstGeom>
          <a:noFill/>
          <a:ln w="15875">
            <a:solidFill>
              <a:srgbClr val="5A5A5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7" name="Text 15"/>
          <p:cNvSpPr/>
          <p:nvPr/>
        </p:nvSpPr>
        <p:spPr>
          <a:xfrm>
            <a:off x="1234440" y="2494676"/>
            <a:ext cx="342900" cy="205740"/>
          </a:xfrm>
          <a:prstGeom prst="rect">
            <a:avLst/>
          </a:prstGeom>
          <a:noFill/>
          <a:ln/>
        </p:spPr>
        <p:txBody>
          <a:bodyPr wrap="square" lIns="0" tIns="0" rIns="0" bIns="0" rtlCol="0" anchor="ctr"/>
          <a:lstStyle/>
          <a:p>
            <a:pPr algn="ctr"/>
            <a:r>
              <a:rPr lang="en-US" sz="1200" dirty="0">
                <a:solidFill>
                  <a:srgbClr val="5A5A5A"/>
                </a:solidFill>
                <a:latin typeface="Cambria Math" panose="02040503050406030204" pitchFamily="18" charset="0"/>
                <a:ea typeface="Cambria Math" panose="02040503050406030204" pitchFamily="18" charset="0"/>
              </a:rPr>
              <a:t>↓</a:t>
            </a:r>
            <a:endParaRPr lang="en-US" sz="1200" dirty="0">
              <a:latin typeface="Cambria Math" panose="02040503050406030204" pitchFamily="18" charset="0"/>
              <a:ea typeface="Cambria Math" panose="02040503050406030204" pitchFamily="18" charset="0"/>
            </a:endParaRPr>
          </a:p>
        </p:txBody>
      </p:sp>
      <p:sp>
        <p:nvSpPr>
          <p:cNvPr id="18" name="Text 16"/>
          <p:cNvSpPr/>
          <p:nvPr/>
        </p:nvSpPr>
        <p:spPr>
          <a:xfrm>
            <a:off x="4286250" y="2494676"/>
            <a:ext cx="342900" cy="205740"/>
          </a:xfrm>
          <a:prstGeom prst="rect">
            <a:avLst/>
          </a:prstGeom>
          <a:noFill/>
          <a:ln/>
        </p:spPr>
        <p:txBody>
          <a:bodyPr wrap="square" lIns="0" tIns="0" rIns="0" bIns="0" rtlCol="0" anchor="ctr"/>
          <a:lstStyle/>
          <a:p>
            <a:pPr algn="ctr"/>
            <a:r>
              <a:rPr lang="en-US" sz="1200" dirty="0">
                <a:solidFill>
                  <a:srgbClr val="5A5A5A"/>
                </a:solidFill>
                <a:latin typeface="Cambria Math" panose="02040503050406030204" pitchFamily="18" charset="0"/>
                <a:ea typeface="Cambria Math" panose="02040503050406030204" pitchFamily="18" charset="0"/>
              </a:rPr>
              <a:t>↓</a:t>
            </a:r>
            <a:endParaRPr lang="en-US" sz="1200" dirty="0">
              <a:latin typeface="Cambria Math" panose="02040503050406030204" pitchFamily="18" charset="0"/>
              <a:ea typeface="Cambria Math" panose="02040503050406030204" pitchFamily="18" charset="0"/>
            </a:endParaRPr>
          </a:p>
        </p:txBody>
      </p:sp>
      <p:sp>
        <p:nvSpPr>
          <p:cNvPr id="19" name="Text 17"/>
          <p:cNvSpPr/>
          <p:nvPr/>
        </p:nvSpPr>
        <p:spPr>
          <a:xfrm>
            <a:off x="7338060" y="2494676"/>
            <a:ext cx="342900" cy="205740"/>
          </a:xfrm>
          <a:prstGeom prst="rect">
            <a:avLst/>
          </a:prstGeom>
          <a:noFill/>
          <a:ln/>
        </p:spPr>
        <p:txBody>
          <a:bodyPr wrap="square" lIns="0" tIns="0" rIns="0" bIns="0" rtlCol="0" anchor="ctr"/>
          <a:lstStyle/>
          <a:p>
            <a:pPr algn="ctr"/>
            <a:r>
              <a:rPr lang="en-US" sz="1200" dirty="0">
                <a:solidFill>
                  <a:srgbClr val="5A5A5A"/>
                </a:solidFill>
                <a:latin typeface="Cambria Math" panose="02040503050406030204" pitchFamily="18" charset="0"/>
                <a:ea typeface="Cambria Math" panose="02040503050406030204" pitchFamily="18" charset="0"/>
              </a:rPr>
              <a:t>↓</a:t>
            </a:r>
            <a:endParaRPr lang="en-US" sz="1200" dirty="0">
              <a:latin typeface="Cambria Math" panose="02040503050406030204" pitchFamily="18" charset="0"/>
              <a:ea typeface="Cambria Math" panose="02040503050406030204" pitchFamily="18" charset="0"/>
            </a:endParaRPr>
          </a:p>
        </p:txBody>
      </p:sp>
      <p:sp>
        <p:nvSpPr>
          <p:cNvPr id="20" name="Shape 18"/>
          <p:cNvSpPr/>
          <p:nvPr/>
        </p:nvSpPr>
        <p:spPr>
          <a:xfrm>
            <a:off x="240030" y="2645552"/>
            <a:ext cx="2331720" cy="534924"/>
          </a:xfrm>
          <a:prstGeom prst="rect">
            <a:avLst/>
          </a:prstGeom>
          <a:solidFill>
            <a:srgbClr val="EBF2FB"/>
          </a:solidFill>
          <a:ln w="19050">
            <a:solidFill>
              <a:srgbClr val="2E6DA4"/>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21" name="Text 19"/>
          <p:cNvSpPr/>
          <p:nvPr/>
        </p:nvSpPr>
        <p:spPr>
          <a:xfrm>
            <a:off x="342900" y="2645552"/>
            <a:ext cx="2125980" cy="534924"/>
          </a:xfrm>
          <a:prstGeom prst="rect">
            <a:avLst/>
          </a:prstGeom>
          <a:noFill/>
          <a:ln/>
        </p:spPr>
        <p:txBody>
          <a:bodyPr wrap="square" lIns="0" tIns="0" rIns="0" bIns="0" rtlCol="0" anchor="ctr"/>
          <a:lstStyle/>
          <a:p>
            <a:pPr algn="ctr"/>
            <a:r>
              <a:rPr lang="en-US" sz="1200" b="1" dirty="0">
                <a:solidFill>
                  <a:srgbClr val="2E6DA4"/>
                </a:solidFill>
                <a:latin typeface="Cambria Math" panose="02040503050406030204" pitchFamily="18" charset="0"/>
                <a:ea typeface="Cambria Math" panose="02040503050406030204" pitchFamily="18" charset="0"/>
                <a:cs typeface="Calibri" pitchFamily="34" charset="-120"/>
              </a:rPr>
              <a:t>RoBERTa-base</a:t>
            </a:r>
            <a:endParaRPr lang="en-US" sz="1200" dirty="0">
              <a:latin typeface="Cambria Math" panose="02040503050406030204" pitchFamily="18" charset="0"/>
              <a:ea typeface="Cambria Math" panose="02040503050406030204" pitchFamily="18" charset="0"/>
            </a:endParaRPr>
          </a:p>
          <a:p>
            <a:pPr algn="ctr"/>
            <a:r>
              <a:rPr lang="en-US" sz="1200" i="1" dirty="0">
                <a:solidFill>
                  <a:srgbClr val="5A5A5A"/>
                </a:solidFill>
                <a:latin typeface="Cambria Math" panose="02040503050406030204" pitchFamily="18" charset="0"/>
                <a:ea typeface="Cambria Math" panose="02040503050406030204" pitchFamily="18" charset="0"/>
                <a:cs typeface="Calibri" pitchFamily="34" charset="-120"/>
              </a:rPr>
              <a:t>(train với R-Drop)</a:t>
            </a:r>
            <a:endParaRPr lang="en-US" sz="1200" dirty="0">
              <a:latin typeface="Cambria Math" panose="02040503050406030204" pitchFamily="18" charset="0"/>
              <a:ea typeface="Cambria Math" panose="02040503050406030204" pitchFamily="18" charset="0"/>
            </a:endParaRPr>
          </a:p>
        </p:txBody>
      </p:sp>
      <p:sp>
        <p:nvSpPr>
          <p:cNvPr id="22" name="Shape 20"/>
          <p:cNvSpPr/>
          <p:nvPr/>
        </p:nvSpPr>
        <p:spPr>
          <a:xfrm>
            <a:off x="6343650" y="2645552"/>
            <a:ext cx="2331720" cy="534924"/>
          </a:xfrm>
          <a:prstGeom prst="rect">
            <a:avLst/>
          </a:prstGeom>
          <a:solidFill>
            <a:srgbClr val="EAF6EB"/>
          </a:solidFill>
          <a:ln w="19050">
            <a:solidFill>
              <a:srgbClr val="2E7D32"/>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23" name="Text 21"/>
          <p:cNvSpPr/>
          <p:nvPr/>
        </p:nvSpPr>
        <p:spPr>
          <a:xfrm>
            <a:off x="6446520" y="2645552"/>
            <a:ext cx="2125980" cy="534924"/>
          </a:xfrm>
          <a:prstGeom prst="rect">
            <a:avLst/>
          </a:prstGeom>
          <a:noFill/>
          <a:ln/>
        </p:spPr>
        <p:txBody>
          <a:bodyPr wrap="square" lIns="0" tIns="0" rIns="0" bIns="0" rtlCol="0" anchor="ctr"/>
          <a:lstStyle/>
          <a:p>
            <a:pPr algn="ctr"/>
            <a:r>
              <a:rPr lang="en-US" sz="1200" b="1" dirty="0">
                <a:solidFill>
                  <a:srgbClr val="2E7D32"/>
                </a:solidFill>
                <a:latin typeface="Cambria Math" panose="02040503050406030204" pitchFamily="18" charset="0"/>
                <a:ea typeface="Cambria Math" panose="02040503050406030204" pitchFamily="18" charset="0"/>
                <a:cs typeface="Calibri" pitchFamily="34" charset="-120"/>
              </a:rPr>
              <a:t>PhoBERT-base-v2</a:t>
            </a:r>
            <a:endParaRPr lang="en-US" sz="1200" dirty="0">
              <a:latin typeface="Cambria Math" panose="02040503050406030204" pitchFamily="18" charset="0"/>
              <a:ea typeface="Cambria Math" panose="02040503050406030204" pitchFamily="18" charset="0"/>
            </a:endParaRPr>
          </a:p>
          <a:p>
            <a:pPr algn="ctr"/>
            <a:r>
              <a:rPr lang="en-US" sz="1200" i="1" dirty="0">
                <a:solidFill>
                  <a:srgbClr val="5A5A5A"/>
                </a:solidFill>
                <a:latin typeface="Cambria Math" panose="02040503050406030204" pitchFamily="18" charset="0"/>
                <a:ea typeface="Cambria Math" panose="02040503050406030204" pitchFamily="18" charset="0"/>
                <a:cs typeface="Calibri" pitchFamily="34" charset="-120"/>
              </a:rPr>
              <a:t>(train với R-Drop)</a:t>
            </a:r>
            <a:endParaRPr lang="en-US" sz="1200" dirty="0">
              <a:latin typeface="Cambria Math" panose="02040503050406030204" pitchFamily="18" charset="0"/>
              <a:ea typeface="Cambria Math" panose="02040503050406030204" pitchFamily="18" charset="0"/>
            </a:endParaRPr>
          </a:p>
        </p:txBody>
      </p:sp>
      <p:sp>
        <p:nvSpPr>
          <p:cNvPr id="24" name="Shape 22"/>
          <p:cNvSpPr/>
          <p:nvPr/>
        </p:nvSpPr>
        <p:spPr>
          <a:xfrm>
            <a:off x="3017520" y="2645552"/>
            <a:ext cx="2880360" cy="534924"/>
          </a:xfrm>
          <a:prstGeom prst="rect">
            <a:avLst/>
          </a:prstGeom>
          <a:solidFill>
            <a:srgbClr val="F2F2F2"/>
          </a:solidFill>
          <a:ln w="19050">
            <a:solidFill>
              <a:srgbClr val="6B6B6B"/>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25" name="Text 23"/>
          <p:cNvSpPr/>
          <p:nvPr/>
        </p:nvSpPr>
        <p:spPr>
          <a:xfrm>
            <a:off x="3120390" y="2645552"/>
            <a:ext cx="2674620" cy="534924"/>
          </a:xfrm>
          <a:prstGeom prst="rect">
            <a:avLst/>
          </a:prstGeom>
          <a:noFill/>
          <a:ln/>
        </p:spPr>
        <p:txBody>
          <a:bodyPr wrap="square" lIns="0" tIns="0" rIns="0" bIns="0" rtlCol="0" anchor="ctr"/>
          <a:lstStyle/>
          <a:p>
            <a:pPr algn="ctr"/>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Soft Voting</a:t>
            </a:r>
            <a:endParaRPr lang="en-US" sz="1200" dirty="0">
              <a:latin typeface="Cambria Math" panose="02040503050406030204" pitchFamily="18" charset="0"/>
              <a:ea typeface="Cambria Math" panose="02040503050406030204" pitchFamily="18" charset="0"/>
            </a:endParaRPr>
          </a:p>
          <a:p>
            <a:pPr algn="ctr"/>
            <a:r>
              <a:rPr lang="en-US" sz="1200" dirty="0">
                <a:solidFill>
                  <a:srgbClr val="5A5A5A"/>
                </a:solidFill>
                <a:latin typeface="Cambria Math" panose="02040503050406030204" pitchFamily="18" charset="0"/>
                <a:ea typeface="Cambria Math" panose="02040503050406030204" pitchFamily="18" charset="0"/>
                <a:cs typeface="Calibri" pitchFamily="34" charset="-120"/>
              </a:rPr>
              <a:t>P(AI) = avg(P_ro, P_pho)</a:t>
            </a:r>
            <a:endParaRPr lang="en-US" sz="1200" dirty="0">
              <a:latin typeface="Cambria Math" panose="02040503050406030204" pitchFamily="18" charset="0"/>
              <a:ea typeface="Cambria Math" panose="02040503050406030204" pitchFamily="18" charset="0"/>
            </a:endParaRPr>
          </a:p>
        </p:txBody>
      </p:sp>
      <p:sp>
        <p:nvSpPr>
          <p:cNvPr id="26" name="Shape 24"/>
          <p:cNvSpPr/>
          <p:nvPr/>
        </p:nvSpPr>
        <p:spPr>
          <a:xfrm>
            <a:off x="2571750" y="2913014"/>
            <a:ext cx="445770" cy="0"/>
          </a:xfrm>
          <a:prstGeom prst="line">
            <a:avLst/>
          </a:prstGeom>
          <a:noFill/>
          <a:ln w="12700">
            <a:solidFill>
              <a:srgbClr val="2E6DA4"/>
            </a:solidFill>
            <a:prstDash val="dash"/>
          </a:ln>
        </p:spPr>
        <p:txBody>
          <a:bodyPr/>
          <a:lstStyle/>
          <a:p>
            <a:endParaRPr lang="en-US" sz="1200">
              <a:latin typeface="Cambria Math" panose="02040503050406030204" pitchFamily="18" charset="0"/>
              <a:ea typeface="Cambria Math" panose="02040503050406030204" pitchFamily="18" charset="0"/>
            </a:endParaRPr>
          </a:p>
        </p:txBody>
      </p:sp>
      <p:sp>
        <p:nvSpPr>
          <p:cNvPr id="27" name="Shape 25"/>
          <p:cNvSpPr/>
          <p:nvPr/>
        </p:nvSpPr>
        <p:spPr>
          <a:xfrm>
            <a:off x="5897880" y="2913014"/>
            <a:ext cx="445770" cy="0"/>
          </a:xfrm>
          <a:prstGeom prst="line">
            <a:avLst/>
          </a:prstGeom>
          <a:noFill/>
          <a:ln w="12700">
            <a:solidFill>
              <a:srgbClr val="2E7D32"/>
            </a:solidFill>
            <a:prstDash val="dash"/>
          </a:ln>
        </p:spPr>
        <p:txBody>
          <a:bodyPr/>
          <a:lstStyle/>
          <a:p>
            <a:endParaRPr lang="en-US" sz="1200">
              <a:latin typeface="Cambria Math" panose="02040503050406030204" pitchFamily="18" charset="0"/>
              <a:ea typeface="Cambria Math" panose="02040503050406030204" pitchFamily="18" charset="0"/>
            </a:endParaRPr>
          </a:p>
        </p:txBody>
      </p:sp>
      <p:sp>
        <p:nvSpPr>
          <p:cNvPr id="28" name="Text 26"/>
          <p:cNvSpPr/>
          <p:nvPr/>
        </p:nvSpPr>
        <p:spPr>
          <a:xfrm>
            <a:off x="2606040" y="2693558"/>
            <a:ext cx="685800" cy="192024"/>
          </a:xfrm>
          <a:prstGeom prst="rect">
            <a:avLst/>
          </a:prstGeom>
          <a:noFill/>
          <a:ln/>
        </p:spPr>
        <p:txBody>
          <a:bodyPr wrap="square" lIns="0" tIns="0" rIns="0" bIns="0" rtlCol="0" anchor="ctr"/>
          <a:lstStyle/>
          <a:p>
            <a:r>
              <a:rPr lang="en-US" sz="1200" i="1" dirty="0">
                <a:solidFill>
                  <a:srgbClr val="2E6DA4"/>
                </a:solidFill>
                <a:latin typeface="Cambria Math" panose="02040503050406030204" pitchFamily="18" charset="0"/>
                <a:ea typeface="Cambria Math" panose="02040503050406030204" pitchFamily="18" charset="0"/>
                <a:cs typeface="Calibri" pitchFamily="34" charset="-120"/>
              </a:rPr>
              <a:t>P_ro</a:t>
            </a:r>
            <a:endParaRPr lang="en-US" sz="1200" dirty="0">
              <a:latin typeface="Cambria Math" panose="02040503050406030204" pitchFamily="18" charset="0"/>
              <a:ea typeface="Cambria Math" panose="02040503050406030204" pitchFamily="18" charset="0"/>
            </a:endParaRPr>
          </a:p>
        </p:txBody>
      </p:sp>
      <p:sp>
        <p:nvSpPr>
          <p:cNvPr id="29" name="Text 27"/>
          <p:cNvSpPr/>
          <p:nvPr/>
        </p:nvSpPr>
        <p:spPr>
          <a:xfrm>
            <a:off x="5623560" y="2693558"/>
            <a:ext cx="685800" cy="192024"/>
          </a:xfrm>
          <a:prstGeom prst="rect">
            <a:avLst/>
          </a:prstGeom>
          <a:noFill/>
          <a:ln/>
        </p:spPr>
        <p:txBody>
          <a:bodyPr wrap="square" lIns="0" tIns="0" rIns="0" bIns="0" rtlCol="0" anchor="ctr"/>
          <a:lstStyle/>
          <a:p>
            <a:pPr algn="r"/>
            <a:r>
              <a:rPr lang="en-US" sz="1200" i="1" dirty="0">
                <a:solidFill>
                  <a:srgbClr val="2E7D32"/>
                </a:solidFill>
                <a:latin typeface="Cambria Math" panose="02040503050406030204" pitchFamily="18" charset="0"/>
                <a:ea typeface="Cambria Math" panose="02040503050406030204" pitchFamily="18" charset="0"/>
                <a:cs typeface="Calibri" pitchFamily="34" charset="-120"/>
              </a:rPr>
              <a:t>P_pho</a:t>
            </a:r>
            <a:endParaRPr lang="en-US" sz="1200" dirty="0">
              <a:latin typeface="Cambria Math" panose="02040503050406030204" pitchFamily="18" charset="0"/>
              <a:ea typeface="Cambria Math" panose="02040503050406030204" pitchFamily="18" charset="0"/>
            </a:endParaRPr>
          </a:p>
        </p:txBody>
      </p:sp>
      <p:sp>
        <p:nvSpPr>
          <p:cNvPr id="30" name="Shape 28"/>
          <p:cNvSpPr/>
          <p:nvPr/>
        </p:nvSpPr>
        <p:spPr>
          <a:xfrm>
            <a:off x="1405890" y="3180476"/>
            <a:ext cx="0" cy="54864"/>
          </a:xfrm>
          <a:prstGeom prst="line">
            <a:avLst/>
          </a:prstGeom>
          <a:noFill/>
          <a:ln w="15875">
            <a:solidFill>
              <a:srgbClr val="5A5A5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31" name="Shape 29"/>
          <p:cNvSpPr/>
          <p:nvPr/>
        </p:nvSpPr>
        <p:spPr>
          <a:xfrm>
            <a:off x="7509510" y="3180476"/>
            <a:ext cx="0" cy="54864"/>
          </a:xfrm>
          <a:prstGeom prst="line">
            <a:avLst/>
          </a:prstGeom>
          <a:noFill/>
          <a:ln w="15875">
            <a:solidFill>
              <a:srgbClr val="5A5A5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32" name="Shape 30"/>
          <p:cNvSpPr/>
          <p:nvPr/>
        </p:nvSpPr>
        <p:spPr>
          <a:xfrm>
            <a:off x="4457700" y="3180476"/>
            <a:ext cx="0" cy="54864"/>
          </a:xfrm>
          <a:prstGeom prst="line">
            <a:avLst/>
          </a:prstGeom>
          <a:noFill/>
          <a:ln w="15875">
            <a:solidFill>
              <a:srgbClr val="5A5A5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33" name="Shape 31"/>
          <p:cNvSpPr/>
          <p:nvPr/>
        </p:nvSpPr>
        <p:spPr>
          <a:xfrm>
            <a:off x="1405890" y="3235340"/>
            <a:ext cx="6103620" cy="0"/>
          </a:xfrm>
          <a:prstGeom prst="line">
            <a:avLst/>
          </a:prstGeom>
          <a:noFill/>
          <a:ln w="15875">
            <a:solidFill>
              <a:srgbClr val="5A5A5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34" name="Shape 32"/>
          <p:cNvSpPr/>
          <p:nvPr/>
        </p:nvSpPr>
        <p:spPr>
          <a:xfrm>
            <a:off x="4457700" y="3235340"/>
            <a:ext cx="0" cy="164592"/>
          </a:xfrm>
          <a:prstGeom prst="line">
            <a:avLst/>
          </a:prstGeom>
          <a:noFill/>
          <a:ln w="15875">
            <a:solidFill>
              <a:srgbClr val="5A5A5A"/>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35" name="Text 33"/>
          <p:cNvSpPr/>
          <p:nvPr/>
        </p:nvSpPr>
        <p:spPr>
          <a:xfrm>
            <a:off x="4286250" y="3221624"/>
            <a:ext cx="342900" cy="205740"/>
          </a:xfrm>
          <a:prstGeom prst="rect">
            <a:avLst/>
          </a:prstGeom>
          <a:noFill/>
          <a:ln/>
        </p:spPr>
        <p:txBody>
          <a:bodyPr wrap="square" lIns="0" tIns="0" rIns="0" bIns="0" rtlCol="0" anchor="ctr"/>
          <a:lstStyle/>
          <a:p>
            <a:pPr algn="ctr"/>
            <a:r>
              <a:rPr lang="en-US" sz="1200" dirty="0">
                <a:solidFill>
                  <a:srgbClr val="5A5A5A"/>
                </a:solidFill>
                <a:latin typeface="Cambria Math" panose="02040503050406030204" pitchFamily="18" charset="0"/>
                <a:ea typeface="Cambria Math" panose="02040503050406030204" pitchFamily="18" charset="0"/>
              </a:rPr>
              <a:t>↓</a:t>
            </a:r>
            <a:endParaRPr lang="en-US" sz="1200" dirty="0">
              <a:latin typeface="Cambria Math" panose="02040503050406030204" pitchFamily="18" charset="0"/>
              <a:ea typeface="Cambria Math" panose="02040503050406030204" pitchFamily="18" charset="0"/>
            </a:endParaRPr>
          </a:p>
        </p:txBody>
      </p:sp>
      <p:sp>
        <p:nvSpPr>
          <p:cNvPr id="36" name="Shape 34"/>
          <p:cNvSpPr/>
          <p:nvPr/>
        </p:nvSpPr>
        <p:spPr>
          <a:xfrm>
            <a:off x="2948940" y="3399932"/>
            <a:ext cx="3017520" cy="425196"/>
          </a:xfrm>
          <a:prstGeom prst="rect">
            <a:avLst/>
          </a:prstGeom>
          <a:solidFill>
            <a:srgbClr val="FBEAEA"/>
          </a:solidFill>
          <a:ln w="19050">
            <a:solidFill>
              <a:srgbClr val="B22222"/>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37" name="Text 35"/>
          <p:cNvSpPr/>
          <p:nvPr/>
        </p:nvSpPr>
        <p:spPr>
          <a:xfrm>
            <a:off x="3051810" y="3399932"/>
            <a:ext cx="2811780" cy="425196"/>
          </a:xfrm>
          <a:prstGeom prst="rect">
            <a:avLst/>
          </a:prstGeom>
          <a:noFill/>
          <a:ln/>
        </p:spPr>
        <p:txBody>
          <a:bodyPr wrap="square" lIns="0" tIns="0" rIns="0" bIns="0" rtlCol="0" anchor="ctr"/>
          <a:lstStyle/>
          <a:p>
            <a:pPr algn="ctr"/>
            <a:r>
              <a:rPr lang="en-US" sz="1200" b="1" dirty="0">
                <a:solidFill>
                  <a:srgbClr val="1F2D5C"/>
                </a:solidFill>
                <a:latin typeface="Cambria Math" panose="02040503050406030204" pitchFamily="18" charset="0"/>
                <a:ea typeface="Cambria Math" panose="02040503050406030204" pitchFamily="18" charset="0"/>
                <a:cs typeface="Calibri" pitchFamily="34" charset="-120"/>
              </a:rPr>
              <a:t>Human (0)  /  AI (1)</a:t>
            </a:r>
            <a:endParaRPr lang="en-US" sz="1200" dirty="0">
              <a:latin typeface="Cambria Math" panose="02040503050406030204" pitchFamily="18" charset="0"/>
              <a:ea typeface="Cambria Math" panose="02040503050406030204" pitchFamily="18" charset="0"/>
            </a:endParaRPr>
          </a:p>
        </p:txBody>
      </p:sp>
      <p:grpSp>
        <p:nvGrpSpPr>
          <p:cNvPr id="41" name="Group 25">
            <a:extLst>
              <a:ext uri="{FF2B5EF4-FFF2-40B4-BE49-F238E27FC236}">
                <a16:creationId xmlns:a16="http://schemas.microsoft.com/office/drawing/2014/main" id="{B3050C37-92CB-A24E-A1F0-17F024651443}"/>
              </a:ext>
            </a:extLst>
          </p:cNvPr>
          <p:cNvGrpSpPr/>
          <p:nvPr/>
        </p:nvGrpSpPr>
        <p:grpSpPr>
          <a:xfrm>
            <a:off x="699516" y="272606"/>
            <a:ext cx="28575" cy="285368"/>
            <a:chOff x="0" y="0"/>
            <a:chExt cx="76200" cy="760981"/>
          </a:xfrm>
        </p:grpSpPr>
        <p:sp>
          <p:nvSpPr>
            <p:cNvPr id="42" name="Freeform 26">
              <a:extLst>
                <a:ext uri="{FF2B5EF4-FFF2-40B4-BE49-F238E27FC236}">
                  <a16:creationId xmlns:a16="http://schemas.microsoft.com/office/drawing/2014/main" id="{B5E1CF44-3966-07E0-B6ED-EA71D55BEA1C}"/>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3"/>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43" name="TextBox 27">
            <a:extLst>
              <a:ext uri="{FF2B5EF4-FFF2-40B4-BE49-F238E27FC236}">
                <a16:creationId xmlns:a16="http://schemas.microsoft.com/office/drawing/2014/main" id="{7D47A535-72E8-E770-45EF-E4C9F1C31F7F}"/>
              </a:ext>
            </a:extLst>
          </p:cNvPr>
          <p:cNvSpPr txBox="1"/>
          <p:nvPr/>
        </p:nvSpPr>
        <p:spPr>
          <a:xfrm>
            <a:off x="812643" y="283464"/>
            <a:ext cx="3878931" cy="300082"/>
          </a:xfrm>
          <a:prstGeom prst="rect">
            <a:avLst/>
          </a:prstGeom>
        </p:spPr>
        <p:txBody>
          <a:bodyPr wrap="square" lIns="0" tIns="0" rIns="0" bIns="0" rtlCol="0" anchor="t">
            <a:spAutoFit/>
          </a:bodyPr>
          <a:lstStyle/>
          <a:p>
            <a:pPr>
              <a:lnSpc>
                <a:spcPts val="2280"/>
              </a:lnSpc>
            </a:pPr>
            <a:r>
              <a:rPr lang="en-US" sz="2400" b="1" spc="18" dirty="0" err="1">
                <a:solidFill>
                  <a:srgbClr val="1A1A2E"/>
                </a:solidFill>
                <a:latin typeface="Calibri" pitchFamily="34" charset="0"/>
                <a:ea typeface="Calibri" pitchFamily="34" charset="-122"/>
                <a:cs typeface="Calibri" pitchFamily="34" charset="-120"/>
                <a:sym typeface="Arial Bold"/>
              </a:rPr>
              <a:t>Kiến</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trúc</a:t>
            </a:r>
            <a:r>
              <a:rPr lang="en-US" sz="2400" b="1" spc="18" dirty="0">
                <a:solidFill>
                  <a:srgbClr val="1A1A2E"/>
                </a:solidFill>
                <a:latin typeface="Calibri" pitchFamily="34" charset="0"/>
                <a:ea typeface="Calibri" pitchFamily="34" charset="-122"/>
                <a:cs typeface="Calibri" pitchFamily="34" charset="-120"/>
                <a:sym typeface="Arial Bold"/>
              </a:rPr>
              <a:t> Hybrid Model</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44" name="TextBox 28">
            <a:extLst>
              <a:ext uri="{FF2B5EF4-FFF2-40B4-BE49-F238E27FC236}">
                <a16:creationId xmlns:a16="http://schemas.microsoft.com/office/drawing/2014/main" id="{2D31FC9A-4688-466F-6312-6CEC64BC3245}"/>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5.2</a:t>
            </a:r>
          </a:p>
        </p:txBody>
      </p:sp>
      <p:sp>
        <p:nvSpPr>
          <p:cNvPr id="45" name="TextBox 22">
            <a:extLst>
              <a:ext uri="{FF2B5EF4-FFF2-40B4-BE49-F238E27FC236}">
                <a16:creationId xmlns:a16="http://schemas.microsoft.com/office/drawing/2014/main" id="{86CAB006-186C-8D0D-7356-77589A419DE1}"/>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46" name="Group 23">
            <a:extLst>
              <a:ext uri="{FF2B5EF4-FFF2-40B4-BE49-F238E27FC236}">
                <a16:creationId xmlns:a16="http://schemas.microsoft.com/office/drawing/2014/main" id="{3D5518C8-3FE1-9175-31AA-414A394A9ABB}"/>
              </a:ext>
            </a:extLst>
          </p:cNvPr>
          <p:cNvGrpSpPr/>
          <p:nvPr/>
        </p:nvGrpSpPr>
        <p:grpSpPr>
          <a:xfrm>
            <a:off x="0" y="4870323"/>
            <a:ext cx="9144000" cy="274320"/>
            <a:chOff x="0" y="0"/>
            <a:chExt cx="24384000" cy="731520"/>
          </a:xfrm>
        </p:grpSpPr>
        <p:sp>
          <p:nvSpPr>
            <p:cNvPr id="47" name="Freeform 24">
              <a:extLst>
                <a:ext uri="{FF2B5EF4-FFF2-40B4-BE49-F238E27FC236}">
                  <a16:creationId xmlns:a16="http://schemas.microsoft.com/office/drawing/2014/main" id="{4957319F-4C0B-26F6-909B-4070FEAE8011}"/>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48" name="TextBox 25">
            <a:extLst>
              <a:ext uri="{FF2B5EF4-FFF2-40B4-BE49-F238E27FC236}">
                <a16:creationId xmlns:a16="http://schemas.microsoft.com/office/drawing/2014/main" id="{D300FF17-3CC5-CE2C-5704-5D7F4AAF858A}"/>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49" name="TextBox 26">
            <a:extLst>
              <a:ext uri="{FF2B5EF4-FFF2-40B4-BE49-F238E27FC236}">
                <a16:creationId xmlns:a16="http://schemas.microsoft.com/office/drawing/2014/main" id="{9DD41C4D-F0E3-8E48-EB81-D42EF7098346}"/>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16/25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CC50E-5EBE-992C-C778-265F52FFAAD6}"/>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BF29B089-0AFA-3311-B42F-31E8C7071172}"/>
              </a:ext>
            </a:extLst>
          </p:cNvPr>
          <p:cNvSpPr txBox="1"/>
          <p:nvPr/>
        </p:nvSpPr>
        <p:spPr>
          <a:xfrm>
            <a:off x="3737172" y="1137955"/>
            <a:ext cx="1623060" cy="1538883"/>
          </a:xfrm>
          <a:prstGeom prst="rect">
            <a:avLst/>
          </a:prstGeom>
        </p:spPr>
        <p:txBody>
          <a:bodyPr lIns="0" tIns="0" rIns="0" bIns="0" rtlCol="0" anchor="t">
            <a:spAutoFit/>
          </a:bodyPr>
          <a:lstStyle/>
          <a:p>
            <a:pPr>
              <a:lnSpc>
                <a:spcPts val="12000"/>
              </a:lnSpc>
            </a:pPr>
            <a:r>
              <a:rPr lang="en-US" sz="10000" b="1" dirty="0">
                <a:solidFill>
                  <a:srgbClr val="0070C0"/>
                </a:solidFill>
                <a:latin typeface="Arimo Bold"/>
                <a:ea typeface="Arimo Bold"/>
                <a:cs typeface="Arimo Bold"/>
                <a:sym typeface="Arimo Bold"/>
              </a:rPr>
              <a:t>06 </a:t>
            </a:r>
          </a:p>
        </p:txBody>
      </p:sp>
      <p:grpSp>
        <p:nvGrpSpPr>
          <p:cNvPr id="7" name="Group 7">
            <a:extLst>
              <a:ext uri="{FF2B5EF4-FFF2-40B4-BE49-F238E27FC236}">
                <a16:creationId xmlns:a16="http://schemas.microsoft.com/office/drawing/2014/main" id="{611BD79D-93B0-F869-B42F-4E4C8DCBA742}"/>
              </a:ext>
            </a:extLst>
          </p:cNvPr>
          <p:cNvGrpSpPr/>
          <p:nvPr/>
        </p:nvGrpSpPr>
        <p:grpSpPr>
          <a:xfrm>
            <a:off x="3348804" y="2571750"/>
            <a:ext cx="2309100" cy="36000"/>
            <a:chOff x="0" y="0"/>
            <a:chExt cx="6157600" cy="96000"/>
          </a:xfrm>
        </p:grpSpPr>
        <p:sp>
          <p:nvSpPr>
            <p:cNvPr id="8" name="Freeform 8">
              <a:extLst>
                <a:ext uri="{FF2B5EF4-FFF2-40B4-BE49-F238E27FC236}">
                  <a16:creationId xmlns:a16="http://schemas.microsoft.com/office/drawing/2014/main" id="{19F7845C-C51C-C4BB-5545-8137A3A0F3AD}"/>
                </a:ext>
              </a:extLst>
            </p:cNvPr>
            <p:cNvSpPr/>
            <p:nvPr/>
          </p:nvSpPr>
          <p:spPr>
            <a:xfrm>
              <a:off x="0" y="0"/>
              <a:ext cx="6157595" cy="96012"/>
            </a:xfrm>
            <a:custGeom>
              <a:avLst/>
              <a:gdLst/>
              <a:ahLst/>
              <a:cxnLst/>
              <a:rect l="l" t="t" r="r" b="b"/>
              <a:pathLst>
                <a:path w="6157595" h="96012">
                  <a:moveTo>
                    <a:pt x="0" y="0"/>
                  </a:moveTo>
                  <a:lnTo>
                    <a:pt x="6157595" y="0"/>
                  </a:lnTo>
                  <a:lnTo>
                    <a:pt x="6157595" y="96012"/>
                  </a:lnTo>
                  <a:lnTo>
                    <a:pt x="0" y="96012"/>
                  </a:lnTo>
                  <a:close/>
                </a:path>
              </a:pathLst>
            </a:custGeom>
            <a:solidFill>
              <a:srgbClr val="0066CC"/>
            </a:solidFill>
          </p:spPr>
          <p:txBody>
            <a:bodyPr/>
            <a:lstStyle/>
            <a:p>
              <a:endParaRPr lang="en-US" sz="900"/>
            </a:p>
          </p:txBody>
        </p:sp>
      </p:grpSp>
      <p:sp>
        <p:nvSpPr>
          <p:cNvPr id="9" name="TextBox 9">
            <a:extLst>
              <a:ext uri="{FF2B5EF4-FFF2-40B4-BE49-F238E27FC236}">
                <a16:creationId xmlns:a16="http://schemas.microsoft.com/office/drawing/2014/main" id="{FE957910-C746-58A8-377E-05DDBA9A447D}"/>
              </a:ext>
            </a:extLst>
          </p:cNvPr>
          <p:cNvSpPr txBox="1"/>
          <p:nvPr/>
        </p:nvSpPr>
        <p:spPr>
          <a:xfrm>
            <a:off x="1152407" y="2750790"/>
            <a:ext cx="6523266" cy="638188"/>
          </a:xfrm>
          <a:prstGeom prst="rect">
            <a:avLst/>
          </a:prstGeom>
        </p:spPr>
        <p:txBody>
          <a:bodyPr wrap="square" lIns="0" tIns="0" rIns="0" bIns="0" rtlCol="0" anchor="t">
            <a:spAutoFit/>
          </a:bodyPr>
          <a:lstStyle/>
          <a:p>
            <a:pPr algn="ctr">
              <a:lnSpc>
                <a:spcPts val="5280"/>
              </a:lnSpc>
            </a:pPr>
            <a:r>
              <a:rPr lang="en-US" sz="4400" b="1" dirty="0" err="1">
                <a:solidFill>
                  <a:srgbClr val="404040"/>
                </a:solidFill>
                <a:latin typeface="Arial Bold"/>
                <a:ea typeface="Arial Bold"/>
                <a:cs typeface="Arial Bold"/>
                <a:sym typeface="Arial Bold"/>
              </a:rPr>
              <a:t>Kết</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quả</a:t>
            </a:r>
            <a:endParaRPr lang="en-US" sz="4400" b="1" dirty="0">
              <a:solidFill>
                <a:srgbClr val="404040"/>
              </a:solidFill>
              <a:latin typeface="Arial Bold"/>
              <a:ea typeface="Arial Bold"/>
              <a:cs typeface="Arial Bold"/>
              <a:sym typeface="Arial Bold"/>
            </a:endParaRPr>
          </a:p>
        </p:txBody>
      </p:sp>
      <p:sp>
        <p:nvSpPr>
          <p:cNvPr id="15" name="TextBox 22">
            <a:extLst>
              <a:ext uri="{FF2B5EF4-FFF2-40B4-BE49-F238E27FC236}">
                <a16:creationId xmlns:a16="http://schemas.microsoft.com/office/drawing/2014/main" id="{268F9FAB-7493-753F-8307-2EF375A1B848}"/>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6" name="Group 23">
            <a:extLst>
              <a:ext uri="{FF2B5EF4-FFF2-40B4-BE49-F238E27FC236}">
                <a16:creationId xmlns:a16="http://schemas.microsoft.com/office/drawing/2014/main" id="{D7AE5B0D-6D70-9459-C1DA-4B4F569369E7}"/>
              </a:ext>
            </a:extLst>
          </p:cNvPr>
          <p:cNvGrpSpPr/>
          <p:nvPr/>
        </p:nvGrpSpPr>
        <p:grpSpPr>
          <a:xfrm>
            <a:off x="0" y="4870323"/>
            <a:ext cx="9144000" cy="274320"/>
            <a:chOff x="0" y="0"/>
            <a:chExt cx="24384000" cy="731520"/>
          </a:xfrm>
        </p:grpSpPr>
        <p:sp>
          <p:nvSpPr>
            <p:cNvPr id="17" name="Freeform 24">
              <a:extLst>
                <a:ext uri="{FF2B5EF4-FFF2-40B4-BE49-F238E27FC236}">
                  <a16:creationId xmlns:a16="http://schemas.microsoft.com/office/drawing/2014/main" id="{9BDD36A9-7862-783C-690D-D6E63CC93C4C}"/>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8" name="TextBox 25">
            <a:extLst>
              <a:ext uri="{FF2B5EF4-FFF2-40B4-BE49-F238E27FC236}">
                <a16:creationId xmlns:a16="http://schemas.microsoft.com/office/drawing/2014/main" id="{F6A392F0-BD79-73DB-291E-AB15153F86B9}"/>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9" name="TextBox 26">
            <a:extLst>
              <a:ext uri="{FF2B5EF4-FFF2-40B4-BE49-F238E27FC236}">
                <a16:creationId xmlns:a16="http://schemas.microsoft.com/office/drawing/2014/main" id="{26165D86-217A-07AA-89D6-C3D075B572C8}"/>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17/25</a:t>
            </a:r>
          </a:p>
        </p:txBody>
      </p:sp>
      <p:grpSp>
        <p:nvGrpSpPr>
          <p:cNvPr id="22" name="Group 2">
            <a:extLst>
              <a:ext uri="{FF2B5EF4-FFF2-40B4-BE49-F238E27FC236}">
                <a16:creationId xmlns:a16="http://schemas.microsoft.com/office/drawing/2014/main" id="{705DCB3D-27EF-F529-4583-E7772588F65E}"/>
              </a:ext>
            </a:extLst>
          </p:cNvPr>
          <p:cNvGrpSpPr/>
          <p:nvPr/>
        </p:nvGrpSpPr>
        <p:grpSpPr>
          <a:xfrm>
            <a:off x="7900508" y="116678"/>
            <a:ext cx="486733" cy="486733"/>
            <a:chOff x="0" y="0"/>
            <a:chExt cx="1297955" cy="1297955"/>
          </a:xfrm>
        </p:grpSpPr>
        <p:sp>
          <p:nvSpPr>
            <p:cNvPr id="23" name="Freeform 3">
              <a:extLst>
                <a:ext uri="{FF2B5EF4-FFF2-40B4-BE49-F238E27FC236}">
                  <a16:creationId xmlns:a16="http://schemas.microsoft.com/office/drawing/2014/main" id="{103C9718-4432-58AD-6007-61BD5E2D71B1}"/>
                </a:ext>
              </a:extLst>
            </p:cNvPr>
            <p:cNvSpPr/>
            <p:nvPr/>
          </p:nvSpPr>
          <p:spPr>
            <a:xfrm>
              <a:off x="0" y="0"/>
              <a:ext cx="1297940" cy="1297940"/>
            </a:xfrm>
            <a:custGeom>
              <a:avLst/>
              <a:gdLst/>
              <a:ahLst/>
              <a:cxnLst/>
              <a:rect l="l" t="t" r="r" b="b"/>
              <a:pathLst>
                <a:path w="1297940" h="1297940">
                  <a:moveTo>
                    <a:pt x="0" y="0"/>
                  </a:moveTo>
                  <a:lnTo>
                    <a:pt x="1297940" y="0"/>
                  </a:lnTo>
                  <a:lnTo>
                    <a:pt x="1297940" y="1297940"/>
                  </a:lnTo>
                  <a:lnTo>
                    <a:pt x="0" y="1297940"/>
                  </a:lnTo>
                  <a:lnTo>
                    <a:pt x="0" y="0"/>
                  </a:lnTo>
                  <a:close/>
                </a:path>
              </a:pathLst>
            </a:custGeom>
            <a:blipFill>
              <a:blip r:embed="rId3"/>
              <a:stretch>
                <a:fillRect r="-1" b="-1"/>
              </a:stretch>
            </a:blipFill>
          </p:spPr>
          <p:txBody>
            <a:bodyPr/>
            <a:lstStyle/>
            <a:p>
              <a:endParaRPr lang="en-US" sz="900"/>
            </a:p>
          </p:txBody>
        </p:sp>
      </p:grpSp>
      <p:grpSp>
        <p:nvGrpSpPr>
          <p:cNvPr id="24" name="Group 4">
            <a:extLst>
              <a:ext uri="{FF2B5EF4-FFF2-40B4-BE49-F238E27FC236}">
                <a16:creationId xmlns:a16="http://schemas.microsoft.com/office/drawing/2014/main" id="{135D2727-98AB-EA0C-B867-88EB955785F5}"/>
              </a:ext>
            </a:extLst>
          </p:cNvPr>
          <p:cNvGrpSpPr>
            <a:grpSpLocks noChangeAspect="1"/>
          </p:cNvGrpSpPr>
          <p:nvPr/>
        </p:nvGrpSpPr>
        <p:grpSpPr>
          <a:xfrm>
            <a:off x="8528984" y="116678"/>
            <a:ext cx="486733" cy="488906"/>
            <a:chOff x="0" y="0"/>
            <a:chExt cx="1297955" cy="1303749"/>
          </a:xfrm>
        </p:grpSpPr>
        <p:sp>
          <p:nvSpPr>
            <p:cNvPr id="25" name="Freeform 5" descr="Viện Trí tuệ nhân tạo | Hanoi">
              <a:extLst>
                <a:ext uri="{FF2B5EF4-FFF2-40B4-BE49-F238E27FC236}">
                  <a16:creationId xmlns:a16="http://schemas.microsoft.com/office/drawing/2014/main" id="{12689324-5322-FAB8-F8E7-E0907FBBE2B0}"/>
                </a:ext>
              </a:extLst>
            </p:cNvPr>
            <p:cNvSpPr/>
            <p:nvPr/>
          </p:nvSpPr>
          <p:spPr>
            <a:xfrm>
              <a:off x="0" y="0"/>
              <a:ext cx="1297940" cy="1303782"/>
            </a:xfrm>
            <a:custGeom>
              <a:avLst/>
              <a:gdLst/>
              <a:ahLst/>
              <a:cxnLst/>
              <a:rect l="l" t="t" r="r" b="b"/>
              <a:pathLst>
                <a:path w="1297940" h="1303782">
                  <a:moveTo>
                    <a:pt x="0" y="0"/>
                  </a:moveTo>
                  <a:lnTo>
                    <a:pt x="1297940" y="0"/>
                  </a:lnTo>
                  <a:lnTo>
                    <a:pt x="1297940" y="1303782"/>
                  </a:lnTo>
                  <a:lnTo>
                    <a:pt x="0" y="1303782"/>
                  </a:lnTo>
                  <a:lnTo>
                    <a:pt x="0" y="0"/>
                  </a:lnTo>
                  <a:close/>
                </a:path>
              </a:pathLst>
            </a:custGeom>
            <a:blipFill>
              <a:blip r:embed="rId4"/>
              <a:stretch>
                <a:fillRect r="-1" b="2"/>
              </a:stretch>
            </a:blipFill>
          </p:spPr>
          <p:txBody>
            <a:bodyPr/>
            <a:lstStyle/>
            <a:p>
              <a:endParaRPr lang="en-US" sz="900"/>
            </a:p>
          </p:txBody>
        </p:sp>
      </p:grpSp>
    </p:spTree>
    <p:extLst>
      <p:ext uri="{BB962C8B-B14F-4D97-AF65-F5344CB8AC3E}">
        <p14:creationId xmlns:p14="http://schemas.microsoft.com/office/powerpoint/2010/main" val="155032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42900" y="685800"/>
            <a:ext cx="8435340" cy="274320"/>
          </a:xfrm>
          <a:prstGeom prst="rect">
            <a:avLst/>
          </a:prstGeom>
          <a:noFill/>
          <a:ln/>
        </p:spPr>
        <p:txBody>
          <a:bodyPr wrap="square" lIns="0" tIns="0" rIns="0" bIns="0" rtlCol="0" anchor="ctr"/>
          <a:lstStyle/>
          <a:p>
            <a:r>
              <a:rPr lang="en-US" sz="1200" i="1" dirty="0">
                <a:solidFill>
                  <a:srgbClr val="5A5A5A"/>
                </a:solidFill>
                <a:latin typeface="Cambria Math" panose="02040503050406030204" pitchFamily="18" charset="0"/>
                <a:ea typeface="Cambria Math" panose="02040503050406030204" pitchFamily="18" charset="0"/>
                <a:cs typeface="Calibri" pitchFamily="34" charset="-120"/>
              </a:rPr>
              <a:t>Đánh giá trên test set (65.899 mẫu, EN+VI) — dữ liệu hoàn toàn chưa được model nhìn thấy khi huấn luyện.</a:t>
            </a:r>
            <a:endParaRPr lang="en-US" sz="1200" dirty="0">
              <a:latin typeface="Cambria Math" panose="02040503050406030204" pitchFamily="18" charset="0"/>
              <a:ea typeface="Cambria Math" panose="02040503050406030204" pitchFamily="18" charset="0"/>
            </a:endParaRPr>
          </a:p>
        </p:txBody>
      </p:sp>
      <p:graphicFrame>
        <p:nvGraphicFramePr>
          <p:cNvPr id="4" name="Table 0"/>
          <p:cNvGraphicFramePr>
            <a:graphicFrameLocks noGrp="1"/>
          </p:cNvGraphicFramePr>
          <p:nvPr>
            <p:extLst>
              <p:ext uri="{D42A27DB-BD31-4B8C-83A1-F6EECF244321}">
                <p14:modId xmlns:p14="http://schemas.microsoft.com/office/powerpoint/2010/main" val="2989476657"/>
              </p:ext>
            </p:extLst>
          </p:nvPr>
        </p:nvGraphicFramePr>
        <p:xfrm>
          <a:off x="960120" y="1131570"/>
          <a:ext cx="7200900" cy="1227582"/>
        </p:xfrm>
        <a:graphic>
          <a:graphicData uri="http://schemas.openxmlformats.org/drawingml/2006/table">
            <a:tbl>
              <a:tblPr/>
              <a:tblGrid>
                <a:gridCol w="2468880">
                  <a:extLst>
                    <a:ext uri="{9D8B030D-6E8A-4147-A177-3AD203B41FA5}">
                      <a16:colId xmlns:a16="http://schemas.microsoft.com/office/drawing/2014/main" val="20000"/>
                    </a:ext>
                  </a:extLst>
                </a:gridCol>
                <a:gridCol w="1268730">
                  <a:extLst>
                    <a:ext uri="{9D8B030D-6E8A-4147-A177-3AD203B41FA5}">
                      <a16:colId xmlns:a16="http://schemas.microsoft.com/office/drawing/2014/main" val="20001"/>
                    </a:ext>
                  </a:extLst>
                </a:gridCol>
                <a:gridCol w="1268730">
                  <a:extLst>
                    <a:ext uri="{9D8B030D-6E8A-4147-A177-3AD203B41FA5}">
                      <a16:colId xmlns:a16="http://schemas.microsoft.com/office/drawing/2014/main" val="20002"/>
                    </a:ext>
                  </a:extLst>
                </a:gridCol>
                <a:gridCol w="116586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tblGrid>
              <a:tr h="37719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F2D5C"/>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F2D5C"/>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F2D5C"/>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F2D5C"/>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F2D5C"/>
                    </a:solidFill>
                  </a:tcPr>
                </a:tc>
                <a:extLst>
                  <a:ext uri="{0D108BD9-81ED-4DB2-BD59-A6C34878D82A}">
                    <a16:rowId xmlns:a16="http://schemas.microsoft.com/office/drawing/2014/main" val="10000"/>
                  </a:ext>
                </a:extLst>
              </a:tr>
              <a:tr h="425196">
                <a:tc>
                  <a:txBody>
                    <a:bodyPr/>
                    <a:lstStyle/>
                    <a:p>
                      <a:pPr marL="0" indent="0" algn="l">
                        <a:buNone/>
                      </a:pPr>
                      <a:r>
                        <a:rPr lang="en-US" sz="1100" b="1" dirty="0">
                          <a:solidFill>
                            <a:srgbClr val="2E6DA4"/>
                          </a:solidFill>
                          <a:latin typeface="Calibri" pitchFamily="34" charset="0"/>
                          <a:ea typeface="Calibri" pitchFamily="34" charset="-122"/>
                          <a:cs typeface="Calibri" pitchFamily="34" charset="-120"/>
                        </a:rPr>
                        <a:t>XLM-RoBERTa + R-Drop</a:t>
                      </a:r>
                      <a:endParaRPr lang="en-US" sz="11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7F9FC"/>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0.8193</a:t>
                      </a:r>
                      <a:endParaRPr lang="en-US" sz="11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7F9FC"/>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0.7949</a:t>
                      </a:r>
                      <a:endParaRPr lang="en-US" sz="11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7F9FC"/>
                    </a:solidFill>
                  </a:tcPr>
                </a:tc>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0.7913</a:t>
                      </a:r>
                      <a:endParaRPr lang="en-US" sz="11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7F9FC"/>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0.7953</a:t>
                      </a:r>
                      <a:endParaRPr lang="en-US" sz="11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425196">
                <a:tc>
                  <a:txBody>
                    <a:bodyPr/>
                    <a:lstStyle/>
                    <a:p>
                      <a:pPr marL="0" indent="0" algn="l">
                        <a:buNone/>
                      </a:pPr>
                      <a:r>
                        <a:rPr lang="en-US" sz="1100" b="1" dirty="0">
                          <a:solidFill>
                            <a:srgbClr val="2E7D32"/>
                          </a:solidFill>
                          <a:latin typeface="Calibri" pitchFamily="34" charset="0"/>
                          <a:ea typeface="Calibri" pitchFamily="34" charset="-122"/>
                          <a:cs typeface="Calibri" pitchFamily="34" charset="-120"/>
                        </a:rPr>
                        <a:t>Hybrid (RoBERTa + PhoBERT) + R-Drop</a:t>
                      </a:r>
                      <a:endParaRPr lang="en-US" sz="11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0.8210</a:t>
                      </a:r>
                      <a:endParaRPr lang="en-US" sz="11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0.7807</a:t>
                      </a:r>
                      <a:endParaRPr lang="en-US" sz="11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0.7740</a:t>
                      </a:r>
                      <a:endParaRPr lang="en-US" sz="11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0.7812</a:t>
                      </a:r>
                      <a:endParaRPr lang="en-US" sz="1100" dirty="0">
                        <a:latin typeface="Calibri" charset="0"/>
                        <a:ea typeface="Calibri" charset="0"/>
                        <a:cs typeface="Calibri" charset="0"/>
                      </a:endParaRPr>
                    </a:p>
                  </a:txBody>
                  <a:tcPr marL="68580" marR="68580" marT="34290" marB="3429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Shape 2"/>
          <p:cNvSpPr/>
          <p:nvPr/>
        </p:nvSpPr>
        <p:spPr>
          <a:xfrm>
            <a:off x="960120" y="2633472"/>
            <a:ext cx="7200900" cy="1455308"/>
          </a:xfrm>
          <a:prstGeom prst="rect">
            <a:avLst/>
          </a:prstGeom>
          <a:solidFill>
            <a:srgbClr val="FFF9EC"/>
          </a:solidFill>
          <a:ln w="15875">
            <a:solidFill>
              <a:srgbClr val="B8860B"/>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6" name="Text 3"/>
          <p:cNvSpPr/>
          <p:nvPr/>
        </p:nvSpPr>
        <p:spPr>
          <a:xfrm>
            <a:off x="1131570" y="2715768"/>
            <a:ext cx="6858000" cy="898398"/>
          </a:xfrm>
          <a:prstGeom prst="rect">
            <a:avLst/>
          </a:prstGeom>
          <a:noFill/>
          <a:ln/>
        </p:spPr>
        <p:txBody>
          <a:bodyPr wrap="square" lIns="0" tIns="0" rIns="0" bIns="0" rtlCol="0" anchor="t"/>
          <a:lstStyle/>
          <a:p>
            <a:pPr>
              <a:lnSpc>
                <a:spcPct val="115000"/>
              </a:lnSpc>
            </a:pPr>
            <a:r>
              <a:rPr lang="en-US" sz="1200" b="1" dirty="0">
                <a:solidFill>
                  <a:srgbClr val="B8860B"/>
                </a:solidFill>
                <a:latin typeface="Cambria Math" panose="02040503050406030204" pitchFamily="18" charset="0"/>
                <a:ea typeface="Cambria Math" panose="02040503050406030204" pitchFamily="18" charset="0"/>
                <a:cs typeface="Calibri" pitchFamily="34" charset="-120"/>
              </a:rPr>
              <a:t>Nhận xét: </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XLM-RoBERTa nhích hơn Hybrid một chút ở F1 tổng (0.7913 vs 0.7740), dù Hybrid dùng 2 model chuyên biệt theo ngôn ngữ.</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Cả 2 model đều rất mạnh trên tiếng Việt (F1 ≈ 0.99) nhưng còn yếu trên tiếng Anh (F1 ≈ 0.76–0.78) — phần lớn do recall của lớp Human tiếng Anh thấp (~0.58–0.64), dễ nhận nhầm văn bản người viết thành AI-generated.</a:t>
            </a:r>
            <a:endParaRPr lang="en-US" sz="1200" dirty="0">
              <a:latin typeface="Cambria Math" panose="02040503050406030204" pitchFamily="18" charset="0"/>
              <a:ea typeface="Cambria Math" panose="02040503050406030204" pitchFamily="18" charset="0"/>
            </a:endParaRPr>
          </a:p>
        </p:txBody>
      </p:sp>
      <p:grpSp>
        <p:nvGrpSpPr>
          <p:cNvPr id="10" name="Group 25">
            <a:extLst>
              <a:ext uri="{FF2B5EF4-FFF2-40B4-BE49-F238E27FC236}">
                <a16:creationId xmlns:a16="http://schemas.microsoft.com/office/drawing/2014/main" id="{EC447740-26EE-1948-9EA1-1D1C317BF44E}"/>
              </a:ext>
            </a:extLst>
          </p:cNvPr>
          <p:cNvGrpSpPr/>
          <p:nvPr/>
        </p:nvGrpSpPr>
        <p:grpSpPr>
          <a:xfrm>
            <a:off x="699516" y="272606"/>
            <a:ext cx="28575" cy="285368"/>
            <a:chOff x="0" y="0"/>
            <a:chExt cx="76200" cy="760981"/>
          </a:xfrm>
        </p:grpSpPr>
        <p:sp>
          <p:nvSpPr>
            <p:cNvPr id="11" name="Freeform 26">
              <a:extLst>
                <a:ext uri="{FF2B5EF4-FFF2-40B4-BE49-F238E27FC236}">
                  <a16:creationId xmlns:a16="http://schemas.microsoft.com/office/drawing/2014/main" id="{C6F9A728-664C-29E0-2ED5-6ADBDE05CB03}"/>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3"/>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12" name="TextBox 27">
            <a:extLst>
              <a:ext uri="{FF2B5EF4-FFF2-40B4-BE49-F238E27FC236}">
                <a16:creationId xmlns:a16="http://schemas.microsoft.com/office/drawing/2014/main" id="{58AEC16E-F578-8AD7-D4D8-A4C081876B7D}"/>
              </a:ext>
            </a:extLst>
          </p:cNvPr>
          <p:cNvSpPr txBox="1"/>
          <p:nvPr/>
        </p:nvSpPr>
        <p:spPr>
          <a:xfrm>
            <a:off x="812643" y="283464"/>
            <a:ext cx="3878931" cy="300082"/>
          </a:xfrm>
          <a:prstGeom prst="rect">
            <a:avLst/>
          </a:prstGeom>
        </p:spPr>
        <p:txBody>
          <a:bodyPr wrap="square" lIns="0" tIns="0" rIns="0" bIns="0" rtlCol="0" anchor="t">
            <a:spAutoFit/>
          </a:bodyPr>
          <a:lstStyle/>
          <a:p>
            <a:pPr>
              <a:lnSpc>
                <a:spcPts val="2280"/>
              </a:lnSpc>
            </a:pPr>
            <a:r>
              <a:rPr lang="en-US" sz="2400" b="1" spc="18" dirty="0" err="1">
                <a:solidFill>
                  <a:srgbClr val="1A1A2E"/>
                </a:solidFill>
                <a:latin typeface="Calibri" pitchFamily="34" charset="0"/>
                <a:ea typeface="Calibri" pitchFamily="34" charset="-122"/>
                <a:cs typeface="Calibri" pitchFamily="34" charset="-120"/>
                <a:sym typeface="Arial Bold"/>
              </a:rPr>
              <a:t>Kết</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quả</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trên</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tập</a:t>
            </a:r>
            <a:r>
              <a:rPr lang="en-US" sz="2400" b="1" spc="18" dirty="0">
                <a:solidFill>
                  <a:srgbClr val="1A1A2E"/>
                </a:solidFill>
                <a:latin typeface="Calibri" pitchFamily="34" charset="0"/>
                <a:ea typeface="Calibri" pitchFamily="34" charset="-122"/>
                <a:cs typeface="Calibri" pitchFamily="34" charset="-120"/>
                <a:sym typeface="Arial Bold"/>
              </a:rPr>
              <a:t> test</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13" name="TextBox 28">
            <a:extLst>
              <a:ext uri="{FF2B5EF4-FFF2-40B4-BE49-F238E27FC236}">
                <a16:creationId xmlns:a16="http://schemas.microsoft.com/office/drawing/2014/main" id="{AA22042C-01C3-D704-DA1C-8B9226D27FED}"/>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6.1</a:t>
            </a:r>
          </a:p>
        </p:txBody>
      </p:sp>
      <p:sp>
        <p:nvSpPr>
          <p:cNvPr id="14" name="TextBox 22">
            <a:extLst>
              <a:ext uri="{FF2B5EF4-FFF2-40B4-BE49-F238E27FC236}">
                <a16:creationId xmlns:a16="http://schemas.microsoft.com/office/drawing/2014/main" id="{83096B80-AA37-04C4-323A-C5737E3A1146}"/>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5" name="Group 23">
            <a:extLst>
              <a:ext uri="{FF2B5EF4-FFF2-40B4-BE49-F238E27FC236}">
                <a16:creationId xmlns:a16="http://schemas.microsoft.com/office/drawing/2014/main" id="{06537B53-46D5-D3A8-7FDA-73937967C91C}"/>
              </a:ext>
            </a:extLst>
          </p:cNvPr>
          <p:cNvGrpSpPr/>
          <p:nvPr/>
        </p:nvGrpSpPr>
        <p:grpSpPr>
          <a:xfrm>
            <a:off x="0" y="4870323"/>
            <a:ext cx="9144000" cy="274320"/>
            <a:chOff x="0" y="0"/>
            <a:chExt cx="24384000" cy="731520"/>
          </a:xfrm>
        </p:grpSpPr>
        <p:sp>
          <p:nvSpPr>
            <p:cNvPr id="16" name="Freeform 24">
              <a:extLst>
                <a:ext uri="{FF2B5EF4-FFF2-40B4-BE49-F238E27FC236}">
                  <a16:creationId xmlns:a16="http://schemas.microsoft.com/office/drawing/2014/main" id="{EB220017-0E38-0922-AE4D-0956C5862924}"/>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7" name="TextBox 25">
            <a:extLst>
              <a:ext uri="{FF2B5EF4-FFF2-40B4-BE49-F238E27FC236}">
                <a16:creationId xmlns:a16="http://schemas.microsoft.com/office/drawing/2014/main" id="{C232C44D-FBB8-B82F-5A21-D37E1057E02B}"/>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8" name="TextBox 26">
            <a:extLst>
              <a:ext uri="{FF2B5EF4-FFF2-40B4-BE49-F238E27FC236}">
                <a16:creationId xmlns:a16="http://schemas.microsoft.com/office/drawing/2014/main" id="{E12B1467-2AD3-8A2E-ADBC-556E1718AF7A}"/>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18/25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6257B-9CD1-BA91-95D5-85784548E33E}"/>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B0336FB6-8380-2272-AD31-E09BD7F2568F}"/>
              </a:ext>
            </a:extLst>
          </p:cNvPr>
          <p:cNvSpPr txBox="1"/>
          <p:nvPr/>
        </p:nvSpPr>
        <p:spPr>
          <a:xfrm>
            <a:off x="3737172" y="1137955"/>
            <a:ext cx="1623060" cy="1538883"/>
          </a:xfrm>
          <a:prstGeom prst="rect">
            <a:avLst/>
          </a:prstGeom>
        </p:spPr>
        <p:txBody>
          <a:bodyPr lIns="0" tIns="0" rIns="0" bIns="0" rtlCol="0" anchor="t">
            <a:spAutoFit/>
          </a:bodyPr>
          <a:lstStyle/>
          <a:p>
            <a:pPr>
              <a:lnSpc>
                <a:spcPts val="12000"/>
              </a:lnSpc>
            </a:pPr>
            <a:r>
              <a:rPr lang="en-US" sz="10000" b="1" dirty="0">
                <a:solidFill>
                  <a:srgbClr val="0070C0"/>
                </a:solidFill>
                <a:latin typeface="Arimo Bold"/>
                <a:ea typeface="Arimo Bold"/>
                <a:cs typeface="Arimo Bold"/>
                <a:sym typeface="Arimo Bold"/>
              </a:rPr>
              <a:t>07 </a:t>
            </a:r>
          </a:p>
        </p:txBody>
      </p:sp>
      <p:grpSp>
        <p:nvGrpSpPr>
          <p:cNvPr id="7" name="Group 7">
            <a:extLst>
              <a:ext uri="{FF2B5EF4-FFF2-40B4-BE49-F238E27FC236}">
                <a16:creationId xmlns:a16="http://schemas.microsoft.com/office/drawing/2014/main" id="{E0A2191A-1D49-05B2-8419-C23CB9BA0A65}"/>
              </a:ext>
            </a:extLst>
          </p:cNvPr>
          <p:cNvGrpSpPr/>
          <p:nvPr/>
        </p:nvGrpSpPr>
        <p:grpSpPr>
          <a:xfrm>
            <a:off x="3348804" y="2571750"/>
            <a:ext cx="2309100" cy="36000"/>
            <a:chOff x="0" y="0"/>
            <a:chExt cx="6157600" cy="96000"/>
          </a:xfrm>
        </p:grpSpPr>
        <p:sp>
          <p:nvSpPr>
            <p:cNvPr id="8" name="Freeform 8">
              <a:extLst>
                <a:ext uri="{FF2B5EF4-FFF2-40B4-BE49-F238E27FC236}">
                  <a16:creationId xmlns:a16="http://schemas.microsoft.com/office/drawing/2014/main" id="{E5428520-B24E-66F1-092F-BD84A37CE130}"/>
                </a:ext>
              </a:extLst>
            </p:cNvPr>
            <p:cNvSpPr/>
            <p:nvPr/>
          </p:nvSpPr>
          <p:spPr>
            <a:xfrm>
              <a:off x="0" y="0"/>
              <a:ext cx="6157595" cy="96012"/>
            </a:xfrm>
            <a:custGeom>
              <a:avLst/>
              <a:gdLst/>
              <a:ahLst/>
              <a:cxnLst/>
              <a:rect l="l" t="t" r="r" b="b"/>
              <a:pathLst>
                <a:path w="6157595" h="96012">
                  <a:moveTo>
                    <a:pt x="0" y="0"/>
                  </a:moveTo>
                  <a:lnTo>
                    <a:pt x="6157595" y="0"/>
                  </a:lnTo>
                  <a:lnTo>
                    <a:pt x="6157595" y="96012"/>
                  </a:lnTo>
                  <a:lnTo>
                    <a:pt x="0" y="96012"/>
                  </a:lnTo>
                  <a:close/>
                </a:path>
              </a:pathLst>
            </a:custGeom>
            <a:solidFill>
              <a:srgbClr val="0066CC"/>
            </a:solidFill>
          </p:spPr>
          <p:txBody>
            <a:bodyPr/>
            <a:lstStyle/>
            <a:p>
              <a:endParaRPr lang="en-US" sz="900"/>
            </a:p>
          </p:txBody>
        </p:sp>
      </p:grpSp>
      <p:sp>
        <p:nvSpPr>
          <p:cNvPr id="9" name="TextBox 9">
            <a:extLst>
              <a:ext uri="{FF2B5EF4-FFF2-40B4-BE49-F238E27FC236}">
                <a16:creationId xmlns:a16="http://schemas.microsoft.com/office/drawing/2014/main" id="{6C91EC43-033A-DBDD-D2C6-CFB3AC710A14}"/>
              </a:ext>
            </a:extLst>
          </p:cNvPr>
          <p:cNvSpPr txBox="1"/>
          <p:nvPr/>
        </p:nvSpPr>
        <p:spPr>
          <a:xfrm>
            <a:off x="1152407" y="2750790"/>
            <a:ext cx="6523266" cy="638188"/>
          </a:xfrm>
          <a:prstGeom prst="rect">
            <a:avLst/>
          </a:prstGeom>
        </p:spPr>
        <p:txBody>
          <a:bodyPr wrap="square" lIns="0" tIns="0" rIns="0" bIns="0" rtlCol="0" anchor="t">
            <a:spAutoFit/>
          </a:bodyPr>
          <a:lstStyle/>
          <a:p>
            <a:pPr algn="ctr">
              <a:lnSpc>
                <a:spcPts val="5280"/>
              </a:lnSpc>
            </a:pPr>
            <a:r>
              <a:rPr lang="en-US" sz="4400" b="1" dirty="0" err="1">
                <a:solidFill>
                  <a:srgbClr val="404040"/>
                </a:solidFill>
                <a:latin typeface="Arial Bold"/>
                <a:ea typeface="Arial Bold"/>
                <a:cs typeface="Arial Bold"/>
                <a:sym typeface="Arial Bold"/>
              </a:rPr>
              <a:t>Phân</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tích</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đặc</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trưng</a:t>
            </a:r>
            <a:endParaRPr lang="en-US" sz="4400" b="1" dirty="0">
              <a:solidFill>
                <a:srgbClr val="404040"/>
              </a:solidFill>
              <a:latin typeface="Arial Bold"/>
              <a:ea typeface="Arial Bold"/>
              <a:cs typeface="Arial Bold"/>
              <a:sym typeface="Arial Bold"/>
            </a:endParaRPr>
          </a:p>
        </p:txBody>
      </p:sp>
      <p:sp>
        <p:nvSpPr>
          <p:cNvPr id="15" name="TextBox 22">
            <a:extLst>
              <a:ext uri="{FF2B5EF4-FFF2-40B4-BE49-F238E27FC236}">
                <a16:creationId xmlns:a16="http://schemas.microsoft.com/office/drawing/2014/main" id="{400D4357-D7CC-D5B2-71AA-AB80DAE9AC8A}"/>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6" name="Group 23">
            <a:extLst>
              <a:ext uri="{FF2B5EF4-FFF2-40B4-BE49-F238E27FC236}">
                <a16:creationId xmlns:a16="http://schemas.microsoft.com/office/drawing/2014/main" id="{41F341EF-767E-FFC6-2CC3-5ED3DA4BA31B}"/>
              </a:ext>
            </a:extLst>
          </p:cNvPr>
          <p:cNvGrpSpPr/>
          <p:nvPr/>
        </p:nvGrpSpPr>
        <p:grpSpPr>
          <a:xfrm>
            <a:off x="0" y="4870323"/>
            <a:ext cx="9144000" cy="274320"/>
            <a:chOff x="0" y="0"/>
            <a:chExt cx="24384000" cy="731520"/>
          </a:xfrm>
        </p:grpSpPr>
        <p:sp>
          <p:nvSpPr>
            <p:cNvPr id="17" name="Freeform 24">
              <a:extLst>
                <a:ext uri="{FF2B5EF4-FFF2-40B4-BE49-F238E27FC236}">
                  <a16:creationId xmlns:a16="http://schemas.microsoft.com/office/drawing/2014/main" id="{0B58FDE6-4D3F-B068-53B4-BC8E5A5BD654}"/>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8" name="TextBox 25">
            <a:extLst>
              <a:ext uri="{FF2B5EF4-FFF2-40B4-BE49-F238E27FC236}">
                <a16:creationId xmlns:a16="http://schemas.microsoft.com/office/drawing/2014/main" id="{B5AA4E6B-BA77-5828-BE81-E10B6352E9CD}"/>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9" name="TextBox 26">
            <a:extLst>
              <a:ext uri="{FF2B5EF4-FFF2-40B4-BE49-F238E27FC236}">
                <a16:creationId xmlns:a16="http://schemas.microsoft.com/office/drawing/2014/main" id="{8A2AE34C-B289-8AA7-6490-33949F7D8DD0}"/>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19/25</a:t>
            </a:r>
          </a:p>
        </p:txBody>
      </p:sp>
      <p:grpSp>
        <p:nvGrpSpPr>
          <p:cNvPr id="22" name="Group 2">
            <a:extLst>
              <a:ext uri="{FF2B5EF4-FFF2-40B4-BE49-F238E27FC236}">
                <a16:creationId xmlns:a16="http://schemas.microsoft.com/office/drawing/2014/main" id="{63028DBB-F940-01A0-B8D3-BF2CF779E9D8}"/>
              </a:ext>
            </a:extLst>
          </p:cNvPr>
          <p:cNvGrpSpPr/>
          <p:nvPr/>
        </p:nvGrpSpPr>
        <p:grpSpPr>
          <a:xfrm>
            <a:off x="7900508" y="116678"/>
            <a:ext cx="486733" cy="486733"/>
            <a:chOff x="0" y="0"/>
            <a:chExt cx="1297955" cy="1297955"/>
          </a:xfrm>
        </p:grpSpPr>
        <p:sp>
          <p:nvSpPr>
            <p:cNvPr id="23" name="Freeform 3">
              <a:extLst>
                <a:ext uri="{FF2B5EF4-FFF2-40B4-BE49-F238E27FC236}">
                  <a16:creationId xmlns:a16="http://schemas.microsoft.com/office/drawing/2014/main" id="{0DCE43DE-5316-FDB5-9AF2-BE8AB4F09AE0}"/>
                </a:ext>
              </a:extLst>
            </p:cNvPr>
            <p:cNvSpPr/>
            <p:nvPr/>
          </p:nvSpPr>
          <p:spPr>
            <a:xfrm>
              <a:off x="0" y="0"/>
              <a:ext cx="1297940" cy="1297940"/>
            </a:xfrm>
            <a:custGeom>
              <a:avLst/>
              <a:gdLst/>
              <a:ahLst/>
              <a:cxnLst/>
              <a:rect l="l" t="t" r="r" b="b"/>
              <a:pathLst>
                <a:path w="1297940" h="1297940">
                  <a:moveTo>
                    <a:pt x="0" y="0"/>
                  </a:moveTo>
                  <a:lnTo>
                    <a:pt x="1297940" y="0"/>
                  </a:lnTo>
                  <a:lnTo>
                    <a:pt x="1297940" y="1297940"/>
                  </a:lnTo>
                  <a:lnTo>
                    <a:pt x="0" y="1297940"/>
                  </a:lnTo>
                  <a:lnTo>
                    <a:pt x="0" y="0"/>
                  </a:lnTo>
                  <a:close/>
                </a:path>
              </a:pathLst>
            </a:custGeom>
            <a:blipFill>
              <a:blip r:embed="rId3"/>
              <a:stretch>
                <a:fillRect r="-1" b="-1"/>
              </a:stretch>
            </a:blipFill>
          </p:spPr>
          <p:txBody>
            <a:bodyPr/>
            <a:lstStyle/>
            <a:p>
              <a:endParaRPr lang="en-US" sz="900"/>
            </a:p>
          </p:txBody>
        </p:sp>
      </p:grpSp>
      <p:grpSp>
        <p:nvGrpSpPr>
          <p:cNvPr id="24" name="Group 4">
            <a:extLst>
              <a:ext uri="{FF2B5EF4-FFF2-40B4-BE49-F238E27FC236}">
                <a16:creationId xmlns:a16="http://schemas.microsoft.com/office/drawing/2014/main" id="{55717639-C967-C194-7AD2-0C53AB642A5A}"/>
              </a:ext>
            </a:extLst>
          </p:cNvPr>
          <p:cNvGrpSpPr>
            <a:grpSpLocks noChangeAspect="1"/>
          </p:cNvGrpSpPr>
          <p:nvPr/>
        </p:nvGrpSpPr>
        <p:grpSpPr>
          <a:xfrm>
            <a:off x="8528984" y="116678"/>
            <a:ext cx="486733" cy="488906"/>
            <a:chOff x="0" y="0"/>
            <a:chExt cx="1297955" cy="1303749"/>
          </a:xfrm>
        </p:grpSpPr>
        <p:sp>
          <p:nvSpPr>
            <p:cNvPr id="25" name="Freeform 5" descr="Viện Trí tuệ nhân tạo | Hanoi">
              <a:extLst>
                <a:ext uri="{FF2B5EF4-FFF2-40B4-BE49-F238E27FC236}">
                  <a16:creationId xmlns:a16="http://schemas.microsoft.com/office/drawing/2014/main" id="{E8B1E8B4-FE88-3802-5A5C-214D2BAF9C99}"/>
                </a:ext>
              </a:extLst>
            </p:cNvPr>
            <p:cNvSpPr/>
            <p:nvPr/>
          </p:nvSpPr>
          <p:spPr>
            <a:xfrm>
              <a:off x="0" y="0"/>
              <a:ext cx="1297940" cy="1303782"/>
            </a:xfrm>
            <a:custGeom>
              <a:avLst/>
              <a:gdLst/>
              <a:ahLst/>
              <a:cxnLst/>
              <a:rect l="l" t="t" r="r" b="b"/>
              <a:pathLst>
                <a:path w="1297940" h="1303782">
                  <a:moveTo>
                    <a:pt x="0" y="0"/>
                  </a:moveTo>
                  <a:lnTo>
                    <a:pt x="1297940" y="0"/>
                  </a:lnTo>
                  <a:lnTo>
                    <a:pt x="1297940" y="1303782"/>
                  </a:lnTo>
                  <a:lnTo>
                    <a:pt x="0" y="1303782"/>
                  </a:lnTo>
                  <a:lnTo>
                    <a:pt x="0" y="0"/>
                  </a:lnTo>
                  <a:close/>
                </a:path>
              </a:pathLst>
            </a:custGeom>
            <a:blipFill>
              <a:blip r:embed="rId4"/>
              <a:stretch>
                <a:fillRect r="-1" b="2"/>
              </a:stretch>
            </a:blipFill>
          </p:spPr>
          <p:txBody>
            <a:bodyPr/>
            <a:lstStyle/>
            <a:p>
              <a:endParaRPr lang="en-US" sz="900"/>
            </a:p>
          </p:txBody>
        </p:sp>
      </p:grpSp>
    </p:spTree>
    <p:extLst>
      <p:ext uri="{BB962C8B-B14F-4D97-AF65-F5344CB8AC3E}">
        <p14:creationId xmlns:p14="http://schemas.microsoft.com/office/powerpoint/2010/main" val="588401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18460" y="652389"/>
            <a:ext cx="8435340" cy="240030"/>
          </a:xfrm>
          <a:prstGeom prst="rect">
            <a:avLst/>
          </a:prstGeom>
          <a:noFill/>
          <a:ln/>
        </p:spPr>
        <p:txBody>
          <a:bodyPr wrap="square" lIns="0" tIns="0" rIns="0" bIns="0" rtlCol="0" anchor="ctr"/>
          <a:lstStyle/>
          <a:p>
            <a:r>
              <a:rPr lang="en-US" sz="1200" i="1" dirty="0">
                <a:solidFill>
                  <a:srgbClr val="5A5A5A"/>
                </a:solidFill>
                <a:latin typeface="Cambria Math" panose="02040503050406030204" pitchFamily="18" charset="0"/>
                <a:ea typeface="Cambria Math" panose="02040503050406030204" pitchFamily="18" charset="0"/>
                <a:cs typeface="Calibri" pitchFamily="34" charset="-120"/>
              </a:rPr>
              <a:t>Văn bản Human và AI khác nhau về mặt ngôn ngữ như thế nào?  (mẫu phân tích: EN 3.000 · VI 2.820, cân bằng Human/AI)</a:t>
            </a:r>
            <a:endParaRPr lang="en-US" sz="1200" dirty="0">
              <a:latin typeface="Cambria Math" panose="02040503050406030204" pitchFamily="18" charset="0"/>
              <a:ea typeface="Cambria Math" panose="02040503050406030204" pitchFamily="18" charset="0"/>
            </a:endParaRPr>
          </a:p>
        </p:txBody>
      </p:sp>
      <p:sp>
        <p:nvSpPr>
          <p:cNvPr id="4" name="Text 2"/>
          <p:cNvSpPr/>
          <p:nvPr/>
        </p:nvSpPr>
        <p:spPr>
          <a:xfrm>
            <a:off x="318460" y="995289"/>
            <a:ext cx="2674620" cy="205740"/>
          </a:xfrm>
          <a:prstGeom prst="rect">
            <a:avLst/>
          </a:prstGeom>
          <a:noFill/>
          <a:ln/>
        </p:spPr>
        <p:txBody>
          <a:bodyPr wrap="square" lIns="0" tIns="0" rIns="0" bIns="0" rtlCol="0" anchor="ctr"/>
          <a:lstStyle/>
          <a:p>
            <a:pPr algn="ctr"/>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Entropy (đa dạng từ vựng)</a:t>
            </a:r>
            <a:endParaRPr lang="en-US" sz="1200" dirty="0">
              <a:latin typeface="Cambria Math" panose="02040503050406030204" pitchFamily="18" charset="0"/>
              <a:ea typeface="Cambria Math" panose="02040503050406030204" pitchFamily="18" charset="0"/>
            </a:endParaRPr>
          </a:p>
        </p:txBody>
      </p:sp>
      <p:graphicFrame>
        <p:nvGraphicFramePr>
          <p:cNvPr id="5" name="Chart 0"/>
          <p:cNvGraphicFramePr/>
          <p:nvPr>
            <p:extLst>
              <p:ext uri="{D42A27DB-BD31-4B8C-83A1-F6EECF244321}">
                <p14:modId xmlns:p14="http://schemas.microsoft.com/office/powerpoint/2010/main" val="1873286501"/>
              </p:ext>
            </p:extLst>
          </p:nvPr>
        </p:nvGraphicFramePr>
        <p:xfrm>
          <a:off x="318460" y="1214745"/>
          <a:ext cx="2674620" cy="190652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3164530" y="995289"/>
            <a:ext cx="2674620" cy="205740"/>
          </a:xfrm>
          <a:prstGeom prst="rect">
            <a:avLst/>
          </a:prstGeom>
          <a:noFill/>
          <a:ln/>
        </p:spPr>
        <p:txBody>
          <a:bodyPr wrap="square" lIns="0" tIns="0" rIns="0" bIns="0" rtlCol="0" anchor="ctr"/>
          <a:lstStyle/>
          <a:p>
            <a:pPr algn="ctr"/>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Burstiness (lặp từ theo cụm)</a:t>
            </a:r>
            <a:endParaRPr lang="en-US" sz="1200" dirty="0">
              <a:latin typeface="Cambria Math" panose="02040503050406030204" pitchFamily="18" charset="0"/>
              <a:ea typeface="Cambria Math" panose="02040503050406030204" pitchFamily="18" charset="0"/>
            </a:endParaRPr>
          </a:p>
        </p:txBody>
      </p:sp>
      <p:graphicFrame>
        <p:nvGraphicFramePr>
          <p:cNvPr id="7" name="Chart 1"/>
          <p:cNvGraphicFramePr/>
          <p:nvPr>
            <p:extLst>
              <p:ext uri="{D42A27DB-BD31-4B8C-83A1-F6EECF244321}">
                <p14:modId xmlns:p14="http://schemas.microsoft.com/office/powerpoint/2010/main" val="523215990"/>
              </p:ext>
            </p:extLst>
          </p:nvPr>
        </p:nvGraphicFramePr>
        <p:xfrm>
          <a:off x="3164530" y="1214745"/>
          <a:ext cx="2674620" cy="1906524"/>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6010600" y="995289"/>
            <a:ext cx="2674620" cy="205740"/>
          </a:xfrm>
          <a:prstGeom prst="rect">
            <a:avLst/>
          </a:prstGeom>
          <a:noFill/>
          <a:ln/>
        </p:spPr>
        <p:txBody>
          <a:bodyPr wrap="square" lIns="0" tIns="0" rIns="0" bIns="0" rtlCol="0" anchor="ctr"/>
          <a:lstStyle/>
          <a:p>
            <a:pPr algn="ctr"/>
            <a:r>
              <a:rPr lang="en-US" sz="1200" b="1" dirty="0">
                <a:solidFill>
                  <a:srgbClr val="1A1A1A"/>
                </a:solidFill>
                <a:latin typeface="Cambria Math" panose="02040503050406030204" pitchFamily="18" charset="0"/>
                <a:ea typeface="Cambria Math" panose="02040503050406030204" pitchFamily="18" charset="0"/>
                <a:cs typeface="Calibri" pitchFamily="34" charset="-120"/>
              </a:rPr>
              <a:t>Độ dài câu TB (số từ/câu)</a:t>
            </a:r>
            <a:endParaRPr lang="en-US" sz="1200" dirty="0">
              <a:latin typeface="Cambria Math" panose="02040503050406030204" pitchFamily="18" charset="0"/>
              <a:ea typeface="Cambria Math" panose="02040503050406030204" pitchFamily="18" charset="0"/>
            </a:endParaRPr>
          </a:p>
        </p:txBody>
      </p:sp>
      <p:graphicFrame>
        <p:nvGraphicFramePr>
          <p:cNvPr id="9" name="Chart 2"/>
          <p:cNvGraphicFramePr/>
          <p:nvPr>
            <p:extLst>
              <p:ext uri="{D42A27DB-BD31-4B8C-83A1-F6EECF244321}">
                <p14:modId xmlns:p14="http://schemas.microsoft.com/office/powerpoint/2010/main" val="3053966807"/>
              </p:ext>
            </p:extLst>
          </p:nvPr>
        </p:nvGraphicFramePr>
        <p:xfrm>
          <a:off x="6010600" y="1214745"/>
          <a:ext cx="2674620" cy="1906524"/>
        </p:xfrm>
        <a:graphic>
          <a:graphicData uri="http://schemas.openxmlformats.org/drawingml/2006/chart">
            <c:chart xmlns:c="http://schemas.openxmlformats.org/drawingml/2006/chart" xmlns:r="http://schemas.openxmlformats.org/officeDocument/2006/relationships" r:id="rId5"/>
          </a:graphicData>
        </a:graphic>
      </p:graphicFrame>
      <p:sp>
        <p:nvSpPr>
          <p:cNvPr id="10" name="Shape 5"/>
          <p:cNvSpPr/>
          <p:nvPr/>
        </p:nvSpPr>
        <p:spPr>
          <a:xfrm>
            <a:off x="318460" y="3292719"/>
            <a:ext cx="8366760" cy="1268730"/>
          </a:xfrm>
          <a:prstGeom prst="rect">
            <a:avLst/>
          </a:prstGeom>
          <a:solidFill>
            <a:srgbClr val="FFF9EC"/>
          </a:solidFill>
          <a:ln w="15875">
            <a:solidFill>
              <a:srgbClr val="B8860B"/>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1" name="Text 6"/>
          <p:cNvSpPr/>
          <p:nvPr/>
        </p:nvSpPr>
        <p:spPr>
          <a:xfrm>
            <a:off x="489910" y="3375015"/>
            <a:ext cx="8023860" cy="1104138"/>
          </a:xfrm>
          <a:prstGeom prst="rect">
            <a:avLst/>
          </a:prstGeom>
          <a:noFill/>
          <a:ln/>
        </p:spPr>
        <p:txBody>
          <a:bodyPr wrap="square" lIns="0" tIns="0" rIns="0" bIns="0" rtlCol="0" anchor="t"/>
          <a:lstStyle/>
          <a:p>
            <a:pPr>
              <a:lnSpc>
                <a:spcPct val="115000"/>
              </a:lnSpc>
            </a:pPr>
            <a:r>
              <a:rPr lang="en-US" sz="1200" b="1" dirty="0">
                <a:solidFill>
                  <a:srgbClr val="B8860B"/>
                </a:solidFill>
                <a:latin typeface="Cambria Math" panose="02040503050406030204" pitchFamily="18" charset="0"/>
                <a:ea typeface="Cambria Math" panose="02040503050406030204" pitchFamily="18" charset="0"/>
                <a:cs typeface="Calibri" pitchFamily="34" charset="-120"/>
              </a:rPr>
              <a:t>Nhận xét: </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Ở cả EN và VI, văn bản AI có entropy cao hơn (từ vựng đa dạng, đều đặn hơn) và câu dài hơn rõ rệt — đặc biệt ở VI (33,5 vs 30,5 từ/câu).</a:t>
            </a:r>
            <a:endParaRPr lang="en-US" sz="1200" dirty="0">
              <a:latin typeface="Cambria Math" panose="02040503050406030204" pitchFamily="18" charset="0"/>
              <a:ea typeface="Cambria Math" panose="02040503050406030204" pitchFamily="18" charset="0"/>
            </a:endParaRPr>
          </a:p>
          <a:p>
            <a:pPr>
              <a:lnSpc>
                <a:spcPct val="115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Burstiness của AI luôn cao hơn Human (gần 0 hơn → phân phối từ đều đặn hơn); khoảng cách này rõ nhất ở VI (-0,17 vs -0,25), cho thấy văn bản AI tiếng Việt ít "bùng phát" lặp từ theo cụm hơn người viết thật.</a:t>
            </a:r>
            <a:endParaRPr lang="en-US" sz="1200" dirty="0">
              <a:latin typeface="Cambria Math" panose="02040503050406030204" pitchFamily="18" charset="0"/>
              <a:ea typeface="Cambria Math" panose="02040503050406030204" pitchFamily="18" charset="0"/>
            </a:endParaRPr>
          </a:p>
        </p:txBody>
      </p:sp>
      <p:grpSp>
        <p:nvGrpSpPr>
          <p:cNvPr id="15" name="Group 25">
            <a:extLst>
              <a:ext uri="{FF2B5EF4-FFF2-40B4-BE49-F238E27FC236}">
                <a16:creationId xmlns:a16="http://schemas.microsoft.com/office/drawing/2014/main" id="{F727ACF0-7AB9-C551-53AB-09988E676419}"/>
              </a:ext>
            </a:extLst>
          </p:cNvPr>
          <p:cNvGrpSpPr/>
          <p:nvPr/>
        </p:nvGrpSpPr>
        <p:grpSpPr>
          <a:xfrm>
            <a:off x="699516" y="272606"/>
            <a:ext cx="28575" cy="285368"/>
            <a:chOff x="0" y="0"/>
            <a:chExt cx="76200" cy="760981"/>
          </a:xfrm>
        </p:grpSpPr>
        <p:sp>
          <p:nvSpPr>
            <p:cNvPr id="16" name="Freeform 26">
              <a:extLst>
                <a:ext uri="{FF2B5EF4-FFF2-40B4-BE49-F238E27FC236}">
                  <a16:creationId xmlns:a16="http://schemas.microsoft.com/office/drawing/2014/main" id="{894FEDC5-7392-5011-30D1-EF074096515A}"/>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6"/>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17" name="TextBox 27">
            <a:extLst>
              <a:ext uri="{FF2B5EF4-FFF2-40B4-BE49-F238E27FC236}">
                <a16:creationId xmlns:a16="http://schemas.microsoft.com/office/drawing/2014/main" id="{2797987B-BCD1-A4AF-7AA8-6DBB6E4E8356}"/>
              </a:ext>
            </a:extLst>
          </p:cNvPr>
          <p:cNvSpPr txBox="1"/>
          <p:nvPr/>
        </p:nvSpPr>
        <p:spPr>
          <a:xfrm>
            <a:off x="812643" y="283464"/>
            <a:ext cx="6294401" cy="300082"/>
          </a:xfrm>
          <a:prstGeom prst="rect">
            <a:avLst/>
          </a:prstGeom>
        </p:spPr>
        <p:txBody>
          <a:bodyPr wrap="square" lIns="0" tIns="0" rIns="0" bIns="0" rtlCol="0" anchor="t">
            <a:spAutoFit/>
          </a:bodyPr>
          <a:lstStyle/>
          <a:p>
            <a:pPr>
              <a:lnSpc>
                <a:spcPts val="2280"/>
              </a:lnSpc>
            </a:pPr>
            <a:r>
              <a:rPr lang="en-US" sz="2400" b="1" spc="18" dirty="0" err="1">
                <a:solidFill>
                  <a:srgbClr val="1A1A2E"/>
                </a:solidFill>
                <a:latin typeface="Calibri" pitchFamily="34" charset="0"/>
                <a:ea typeface="Calibri" pitchFamily="34" charset="-122"/>
                <a:cs typeface="Calibri" pitchFamily="34" charset="-120"/>
                <a:sym typeface="Arial Bold"/>
              </a:rPr>
              <a:t>Phân</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tích</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đặc</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trưng</a:t>
            </a:r>
            <a:r>
              <a:rPr lang="en-US" sz="2400" b="1" spc="18" dirty="0">
                <a:solidFill>
                  <a:srgbClr val="1A1A2E"/>
                </a:solidFill>
                <a:latin typeface="Calibri" pitchFamily="34" charset="0"/>
                <a:ea typeface="Calibri" pitchFamily="34" charset="-122"/>
                <a:cs typeface="Calibri" pitchFamily="34" charset="-120"/>
                <a:sym typeface="Arial Bold"/>
              </a:rPr>
              <a:t>: Feature </a:t>
            </a:r>
            <a:r>
              <a:rPr lang="en-US" sz="2400" b="1" spc="18" dirty="0" err="1">
                <a:solidFill>
                  <a:srgbClr val="1A1A2E"/>
                </a:solidFill>
                <a:latin typeface="Calibri" pitchFamily="34" charset="0"/>
                <a:ea typeface="Calibri" pitchFamily="34" charset="-122"/>
                <a:cs typeface="Calibri" pitchFamily="34" charset="-120"/>
                <a:sym typeface="Arial Bold"/>
              </a:rPr>
              <a:t>thống</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kê</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18" name="TextBox 28">
            <a:extLst>
              <a:ext uri="{FF2B5EF4-FFF2-40B4-BE49-F238E27FC236}">
                <a16:creationId xmlns:a16="http://schemas.microsoft.com/office/drawing/2014/main" id="{F7B04814-FA71-6478-1CFF-D30BD9ED62B4}"/>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7.1</a:t>
            </a:r>
          </a:p>
        </p:txBody>
      </p:sp>
      <p:sp>
        <p:nvSpPr>
          <p:cNvPr id="19" name="TextBox 22">
            <a:extLst>
              <a:ext uri="{FF2B5EF4-FFF2-40B4-BE49-F238E27FC236}">
                <a16:creationId xmlns:a16="http://schemas.microsoft.com/office/drawing/2014/main" id="{707CE98C-BC62-6E59-621F-F9C90E7D37CE}"/>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20" name="Group 23">
            <a:extLst>
              <a:ext uri="{FF2B5EF4-FFF2-40B4-BE49-F238E27FC236}">
                <a16:creationId xmlns:a16="http://schemas.microsoft.com/office/drawing/2014/main" id="{A4109B2B-B658-783E-2EB2-CDC720DC995E}"/>
              </a:ext>
            </a:extLst>
          </p:cNvPr>
          <p:cNvGrpSpPr/>
          <p:nvPr/>
        </p:nvGrpSpPr>
        <p:grpSpPr>
          <a:xfrm>
            <a:off x="0" y="4870323"/>
            <a:ext cx="9144000" cy="274320"/>
            <a:chOff x="0" y="0"/>
            <a:chExt cx="24384000" cy="731520"/>
          </a:xfrm>
        </p:grpSpPr>
        <p:sp>
          <p:nvSpPr>
            <p:cNvPr id="21" name="Freeform 24">
              <a:extLst>
                <a:ext uri="{FF2B5EF4-FFF2-40B4-BE49-F238E27FC236}">
                  <a16:creationId xmlns:a16="http://schemas.microsoft.com/office/drawing/2014/main" id="{FADA580F-5FFF-8B9B-D9C5-E351F5764A49}"/>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22" name="TextBox 25">
            <a:extLst>
              <a:ext uri="{FF2B5EF4-FFF2-40B4-BE49-F238E27FC236}">
                <a16:creationId xmlns:a16="http://schemas.microsoft.com/office/drawing/2014/main" id="{BA1D7072-E26B-C7D8-143F-C9C8377F7656}"/>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23" name="TextBox 26">
            <a:extLst>
              <a:ext uri="{FF2B5EF4-FFF2-40B4-BE49-F238E27FC236}">
                <a16:creationId xmlns:a16="http://schemas.microsoft.com/office/drawing/2014/main" id="{7F53677B-2FE8-29D2-7B78-74AAD76D6DAA}"/>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20/25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42900" y="685800"/>
            <a:ext cx="8435340" cy="274320"/>
          </a:xfrm>
          <a:prstGeom prst="rect">
            <a:avLst/>
          </a:prstGeom>
          <a:noFill/>
          <a:ln/>
        </p:spPr>
        <p:txBody>
          <a:bodyPr wrap="square" lIns="0" tIns="0" rIns="0" bIns="0" rtlCol="0" anchor="ctr"/>
          <a:lstStyle/>
          <a:p>
            <a:r>
              <a:rPr lang="en-US" sz="1200" i="1" dirty="0">
                <a:solidFill>
                  <a:srgbClr val="5A5A5A"/>
                </a:solidFill>
                <a:latin typeface="Cambria Math" panose="02040503050406030204" pitchFamily="18" charset="0"/>
                <a:ea typeface="Cambria Math" panose="02040503050406030204" pitchFamily="18" charset="0"/>
                <a:cs typeface="Calibri" pitchFamily="34" charset="-120"/>
              </a:rPr>
              <a:t>Model đang dựa vào đâu để đưa ra quyết định?</a:t>
            </a:r>
            <a:endParaRPr lang="en-US" sz="1200" dirty="0">
              <a:latin typeface="Cambria Math" panose="02040503050406030204" pitchFamily="18" charset="0"/>
              <a:ea typeface="Cambria Math" panose="02040503050406030204" pitchFamily="18" charset="0"/>
            </a:endParaRPr>
          </a:p>
        </p:txBody>
      </p:sp>
      <p:sp>
        <p:nvSpPr>
          <p:cNvPr id="4" name="Text 2"/>
          <p:cNvSpPr/>
          <p:nvPr/>
        </p:nvSpPr>
        <p:spPr>
          <a:xfrm>
            <a:off x="394335" y="891540"/>
            <a:ext cx="1954530" cy="205740"/>
          </a:xfrm>
          <a:prstGeom prst="rect">
            <a:avLst/>
          </a:prstGeom>
          <a:noFill/>
          <a:ln/>
        </p:spPr>
        <p:txBody>
          <a:bodyPr wrap="square" lIns="0" tIns="0" rIns="0" bIns="0" rtlCol="0" anchor="ctr"/>
          <a:lstStyle/>
          <a:p>
            <a:pPr algn="ctr"/>
            <a:r>
              <a:rPr lang="en-US" sz="1200" b="1" dirty="0">
                <a:solidFill>
                  <a:srgbClr val="2E6DA4"/>
                </a:solidFill>
                <a:latin typeface="Cambria Math" panose="02040503050406030204" pitchFamily="18" charset="0"/>
                <a:ea typeface="Cambria Math" panose="02040503050406030204" pitchFamily="18" charset="0"/>
                <a:cs typeface="Calibri" pitchFamily="34" charset="-120"/>
              </a:rPr>
              <a:t>XLM-R — Human</a:t>
            </a:r>
            <a:endParaRPr lang="en-US" sz="1200" dirty="0">
              <a:latin typeface="Cambria Math" panose="02040503050406030204" pitchFamily="18" charset="0"/>
              <a:ea typeface="Cambria Math" panose="02040503050406030204" pitchFamily="18" charset="0"/>
            </a:endParaRPr>
          </a:p>
        </p:txBody>
      </p:sp>
      <p:graphicFrame>
        <p:nvGraphicFramePr>
          <p:cNvPr id="5" name="Chart 0"/>
          <p:cNvGraphicFramePr/>
          <p:nvPr>
            <p:extLst>
              <p:ext uri="{D42A27DB-BD31-4B8C-83A1-F6EECF244321}">
                <p14:modId xmlns:p14="http://schemas.microsoft.com/office/powerpoint/2010/main" val="3176560838"/>
              </p:ext>
            </p:extLst>
          </p:nvPr>
        </p:nvGraphicFramePr>
        <p:xfrm>
          <a:off x="394335" y="1110996"/>
          <a:ext cx="1954530" cy="163220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2520315" y="891540"/>
            <a:ext cx="1954530" cy="205740"/>
          </a:xfrm>
          <a:prstGeom prst="rect">
            <a:avLst/>
          </a:prstGeom>
          <a:noFill/>
          <a:ln/>
        </p:spPr>
        <p:txBody>
          <a:bodyPr wrap="square" lIns="0" tIns="0" rIns="0" bIns="0" rtlCol="0" anchor="ctr"/>
          <a:lstStyle/>
          <a:p>
            <a:pPr algn="ctr"/>
            <a:r>
              <a:rPr lang="en-US" sz="1200" b="1" dirty="0">
                <a:solidFill>
                  <a:srgbClr val="C0392B"/>
                </a:solidFill>
                <a:latin typeface="Cambria Math" panose="02040503050406030204" pitchFamily="18" charset="0"/>
                <a:ea typeface="Cambria Math" panose="02040503050406030204" pitchFamily="18" charset="0"/>
                <a:cs typeface="Calibri" pitchFamily="34" charset="-120"/>
              </a:rPr>
              <a:t>XLM-R — AI</a:t>
            </a:r>
            <a:endParaRPr lang="en-US" sz="1200" dirty="0">
              <a:latin typeface="Cambria Math" panose="02040503050406030204" pitchFamily="18" charset="0"/>
              <a:ea typeface="Cambria Math" panose="02040503050406030204" pitchFamily="18" charset="0"/>
            </a:endParaRPr>
          </a:p>
        </p:txBody>
      </p:sp>
      <p:graphicFrame>
        <p:nvGraphicFramePr>
          <p:cNvPr id="7" name="Chart 1"/>
          <p:cNvGraphicFramePr/>
          <p:nvPr>
            <p:extLst>
              <p:ext uri="{D42A27DB-BD31-4B8C-83A1-F6EECF244321}">
                <p14:modId xmlns:p14="http://schemas.microsoft.com/office/powerpoint/2010/main" val="1841504854"/>
              </p:ext>
            </p:extLst>
          </p:nvPr>
        </p:nvGraphicFramePr>
        <p:xfrm>
          <a:off x="2520315" y="1110996"/>
          <a:ext cx="1954530" cy="1632204"/>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4646295" y="891540"/>
            <a:ext cx="1954530" cy="205740"/>
          </a:xfrm>
          <a:prstGeom prst="rect">
            <a:avLst/>
          </a:prstGeom>
          <a:noFill/>
          <a:ln/>
        </p:spPr>
        <p:txBody>
          <a:bodyPr wrap="square" lIns="0" tIns="0" rIns="0" bIns="0" rtlCol="0" anchor="ctr"/>
          <a:lstStyle/>
          <a:p>
            <a:pPr algn="ctr"/>
            <a:r>
              <a:rPr lang="en-US" sz="1200" b="1" dirty="0">
                <a:solidFill>
                  <a:srgbClr val="2E6DA4"/>
                </a:solidFill>
                <a:latin typeface="Cambria Math" panose="02040503050406030204" pitchFamily="18" charset="0"/>
                <a:ea typeface="Cambria Math" panose="02040503050406030204" pitchFamily="18" charset="0"/>
                <a:cs typeface="Calibri" pitchFamily="34" charset="-120"/>
              </a:rPr>
              <a:t>Hybrid/RoBERTa — Human</a:t>
            </a:r>
            <a:endParaRPr lang="en-US" sz="1200" dirty="0">
              <a:latin typeface="Cambria Math" panose="02040503050406030204" pitchFamily="18" charset="0"/>
              <a:ea typeface="Cambria Math" panose="02040503050406030204" pitchFamily="18" charset="0"/>
            </a:endParaRPr>
          </a:p>
        </p:txBody>
      </p:sp>
      <p:graphicFrame>
        <p:nvGraphicFramePr>
          <p:cNvPr id="9" name="Chart 2"/>
          <p:cNvGraphicFramePr/>
          <p:nvPr>
            <p:extLst>
              <p:ext uri="{D42A27DB-BD31-4B8C-83A1-F6EECF244321}">
                <p14:modId xmlns:p14="http://schemas.microsoft.com/office/powerpoint/2010/main" val="2382359588"/>
              </p:ext>
            </p:extLst>
          </p:nvPr>
        </p:nvGraphicFramePr>
        <p:xfrm>
          <a:off x="4646295" y="1110996"/>
          <a:ext cx="1954530" cy="1632204"/>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 5"/>
          <p:cNvSpPr/>
          <p:nvPr/>
        </p:nvSpPr>
        <p:spPr>
          <a:xfrm>
            <a:off x="6772275" y="891540"/>
            <a:ext cx="1954530" cy="205740"/>
          </a:xfrm>
          <a:prstGeom prst="rect">
            <a:avLst/>
          </a:prstGeom>
          <a:noFill/>
          <a:ln/>
        </p:spPr>
        <p:txBody>
          <a:bodyPr wrap="square" lIns="0" tIns="0" rIns="0" bIns="0" rtlCol="0" anchor="ctr"/>
          <a:lstStyle/>
          <a:p>
            <a:pPr algn="ctr"/>
            <a:r>
              <a:rPr lang="en-US" sz="1200" b="1" dirty="0">
                <a:solidFill>
                  <a:srgbClr val="C0392B"/>
                </a:solidFill>
                <a:latin typeface="Cambria Math" panose="02040503050406030204" pitchFamily="18" charset="0"/>
                <a:ea typeface="Cambria Math" panose="02040503050406030204" pitchFamily="18" charset="0"/>
                <a:cs typeface="Calibri" pitchFamily="34" charset="-120"/>
              </a:rPr>
              <a:t>Hybrid/RoBERTa — AI</a:t>
            </a:r>
            <a:endParaRPr lang="en-US" sz="1200" dirty="0">
              <a:latin typeface="Cambria Math" panose="02040503050406030204" pitchFamily="18" charset="0"/>
              <a:ea typeface="Cambria Math" panose="02040503050406030204" pitchFamily="18" charset="0"/>
            </a:endParaRPr>
          </a:p>
        </p:txBody>
      </p:sp>
      <p:graphicFrame>
        <p:nvGraphicFramePr>
          <p:cNvPr id="11" name="Chart 3"/>
          <p:cNvGraphicFramePr/>
          <p:nvPr>
            <p:extLst>
              <p:ext uri="{D42A27DB-BD31-4B8C-83A1-F6EECF244321}">
                <p14:modId xmlns:p14="http://schemas.microsoft.com/office/powerpoint/2010/main" val="2259603742"/>
              </p:ext>
            </p:extLst>
          </p:nvPr>
        </p:nvGraphicFramePr>
        <p:xfrm>
          <a:off x="6772275" y="1110996"/>
          <a:ext cx="1954530" cy="1632204"/>
        </p:xfrm>
        <a:graphic>
          <a:graphicData uri="http://schemas.openxmlformats.org/drawingml/2006/chart">
            <c:chart xmlns:c="http://schemas.openxmlformats.org/drawingml/2006/chart" xmlns:r="http://schemas.openxmlformats.org/officeDocument/2006/relationships" r:id="rId6"/>
          </a:graphicData>
        </a:graphic>
      </p:graphicFrame>
      <p:sp>
        <p:nvSpPr>
          <p:cNvPr id="12" name="Text 6"/>
          <p:cNvSpPr/>
          <p:nvPr/>
        </p:nvSpPr>
        <p:spPr>
          <a:xfrm>
            <a:off x="394335" y="2798064"/>
            <a:ext cx="8332470" cy="205740"/>
          </a:xfrm>
          <a:prstGeom prst="rect">
            <a:avLst/>
          </a:prstGeom>
          <a:noFill/>
          <a:ln/>
        </p:spPr>
        <p:txBody>
          <a:bodyPr wrap="square" lIns="0" tIns="0" rIns="0" bIns="0" rtlCol="0" anchor="ctr"/>
          <a:lstStyle/>
          <a:p>
            <a:r>
              <a:rPr lang="en-US" sz="1200" i="1" dirty="0">
                <a:solidFill>
                  <a:srgbClr val="5A5A5A"/>
                </a:solidFill>
                <a:latin typeface="Cambria Math" panose="02040503050406030204" pitchFamily="18" charset="0"/>
                <a:ea typeface="Cambria Math" panose="02040503050406030204" pitchFamily="18" charset="0"/>
                <a:cs typeface="Calibri" pitchFamily="34" charset="-120"/>
              </a:rPr>
              <a:t>Top 5 token được model chú ý nhiều nhất (200 mẫu test EN, notebook 05). Độ dài thanh chỉ minh họa thứ hạng tương đối, không phải số liệu chính xác.</a:t>
            </a:r>
            <a:endParaRPr lang="en-US" sz="1200" dirty="0">
              <a:latin typeface="Cambria Math" panose="02040503050406030204" pitchFamily="18" charset="0"/>
              <a:ea typeface="Cambria Math" panose="02040503050406030204" pitchFamily="18" charset="0"/>
            </a:endParaRPr>
          </a:p>
        </p:txBody>
      </p:sp>
      <p:sp>
        <p:nvSpPr>
          <p:cNvPr id="13" name="Shape 7"/>
          <p:cNvSpPr/>
          <p:nvPr/>
        </p:nvSpPr>
        <p:spPr>
          <a:xfrm>
            <a:off x="394335" y="3166782"/>
            <a:ext cx="4063365" cy="1337310"/>
          </a:xfrm>
          <a:prstGeom prst="rect">
            <a:avLst/>
          </a:prstGeom>
          <a:solidFill>
            <a:srgbClr val="FFF9EC"/>
          </a:solidFill>
          <a:ln w="15875">
            <a:solidFill>
              <a:srgbClr val="B8860B"/>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4" name="Text 8"/>
          <p:cNvSpPr/>
          <p:nvPr/>
        </p:nvSpPr>
        <p:spPr>
          <a:xfrm>
            <a:off x="531495" y="3235362"/>
            <a:ext cx="3789045" cy="1200150"/>
          </a:xfrm>
          <a:prstGeom prst="rect">
            <a:avLst/>
          </a:prstGeom>
          <a:noFill/>
          <a:ln/>
        </p:spPr>
        <p:txBody>
          <a:bodyPr wrap="square" lIns="0" tIns="0" rIns="0" bIns="0" rtlCol="0" anchor="t"/>
          <a:lstStyle/>
          <a:p>
            <a:pPr>
              <a:lnSpc>
                <a:spcPct val="120000"/>
              </a:lnSpc>
            </a:pPr>
            <a:r>
              <a:rPr lang="en-US" sz="1200" b="1" dirty="0">
                <a:solidFill>
                  <a:srgbClr val="B8860B"/>
                </a:solidFill>
                <a:latin typeface="Cambria Math" panose="02040503050406030204" pitchFamily="18" charset="0"/>
                <a:ea typeface="Cambria Math" panose="02040503050406030204" pitchFamily="18" charset="0"/>
                <a:cs typeface="Calibri" pitchFamily="34" charset="-120"/>
              </a:rPr>
              <a:t>① Quan sát: </a:t>
            </a:r>
            <a:endParaRPr lang="en-US" sz="1200" dirty="0">
              <a:latin typeface="Cambria Math" panose="02040503050406030204" pitchFamily="18" charset="0"/>
              <a:ea typeface="Cambria Math" panose="02040503050406030204" pitchFamily="18" charset="0"/>
            </a:endParaRPr>
          </a:p>
          <a:p>
            <a:pPr>
              <a:lnSpc>
                <a:spcPct val="120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Cả 2 model đều chú ý nhiều nhất vào dấu câu và những từ rất thông dụng (".", ",", "the"...) — giống nhau ở cả văn bản người viết và AI viết.</a:t>
            </a:r>
            <a:endParaRPr lang="en-US" sz="1200" dirty="0">
              <a:latin typeface="Cambria Math" panose="02040503050406030204" pitchFamily="18" charset="0"/>
              <a:ea typeface="Cambria Math" panose="02040503050406030204" pitchFamily="18" charset="0"/>
            </a:endParaRPr>
          </a:p>
        </p:txBody>
      </p:sp>
      <p:sp>
        <p:nvSpPr>
          <p:cNvPr id="15" name="Shape 9"/>
          <p:cNvSpPr/>
          <p:nvPr/>
        </p:nvSpPr>
        <p:spPr>
          <a:xfrm>
            <a:off x="4663440" y="3166782"/>
            <a:ext cx="4063365" cy="1337310"/>
          </a:xfrm>
          <a:prstGeom prst="rect">
            <a:avLst/>
          </a:prstGeom>
          <a:solidFill>
            <a:srgbClr val="EAF6EB"/>
          </a:solidFill>
          <a:ln w="15875">
            <a:solidFill>
              <a:srgbClr val="2E7D32"/>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6" name="Text 10"/>
          <p:cNvSpPr/>
          <p:nvPr/>
        </p:nvSpPr>
        <p:spPr>
          <a:xfrm>
            <a:off x="4800600" y="3235362"/>
            <a:ext cx="3789045" cy="1200150"/>
          </a:xfrm>
          <a:prstGeom prst="rect">
            <a:avLst/>
          </a:prstGeom>
          <a:noFill/>
          <a:ln/>
        </p:spPr>
        <p:txBody>
          <a:bodyPr wrap="square" lIns="0" tIns="0" rIns="0" bIns="0" rtlCol="0" anchor="t"/>
          <a:lstStyle/>
          <a:p>
            <a:pPr>
              <a:lnSpc>
                <a:spcPct val="120000"/>
              </a:lnSpc>
            </a:pPr>
            <a:r>
              <a:rPr lang="en-US" sz="1200" b="1" dirty="0">
                <a:solidFill>
                  <a:srgbClr val="2E7D32"/>
                </a:solidFill>
                <a:latin typeface="Cambria Math" panose="02040503050406030204" pitchFamily="18" charset="0"/>
                <a:ea typeface="Cambria Math" panose="02040503050406030204" pitchFamily="18" charset="0"/>
                <a:cs typeface="Calibri" pitchFamily="34" charset="-120"/>
              </a:rPr>
              <a:t>②  Suy ra: </a:t>
            </a:r>
            <a:endParaRPr lang="en-US" sz="1200" dirty="0">
              <a:latin typeface="Cambria Math" panose="02040503050406030204" pitchFamily="18" charset="0"/>
              <a:ea typeface="Cambria Math" panose="02040503050406030204" pitchFamily="18" charset="0"/>
            </a:endParaRPr>
          </a:p>
          <a:p>
            <a:pPr>
              <a:lnSpc>
                <a:spcPct val="120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Người và AI khác nhau không phải ở việc dùng từ gì, mà ở cách lặp lại những từ đó — AI có xu hướng lặp đều đặn hơn, còn người viết tự nhiên hơn, ít theo khuôn mẫu cố định.</a:t>
            </a:r>
            <a:endParaRPr lang="en-US" sz="1200" dirty="0">
              <a:latin typeface="Cambria Math" panose="02040503050406030204" pitchFamily="18" charset="0"/>
              <a:ea typeface="Cambria Math" panose="02040503050406030204" pitchFamily="18" charset="0"/>
            </a:endParaRPr>
          </a:p>
        </p:txBody>
      </p:sp>
      <p:grpSp>
        <p:nvGrpSpPr>
          <p:cNvPr id="20" name="Group 25">
            <a:extLst>
              <a:ext uri="{FF2B5EF4-FFF2-40B4-BE49-F238E27FC236}">
                <a16:creationId xmlns:a16="http://schemas.microsoft.com/office/drawing/2014/main" id="{E529B1CD-9D50-2857-B52C-9F682F8F9B8A}"/>
              </a:ext>
            </a:extLst>
          </p:cNvPr>
          <p:cNvGrpSpPr/>
          <p:nvPr/>
        </p:nvGrpSpPr>
        <p:grpSpPr>
          <a:xfrm>
            <a:off x="699516" y="272606"/>
            <a:ext cx="28575" cy="285368"/>
            <a:chOff x="0" y="0"/>
            <a:chExt cx="76200" cy="760981"/>
          </a:xfrm>
        </p:grpSpPr>
        <p:sp>
          <p:nvSpPr>
            <p:cNvPr id="21" name="Freeform 26">
              <a:extLst>
                <a:ext uri="{FF2B5EF4-FFF2-40B4-BE49-F238E27FC236}">
                  <a16:creationId xmlns:a16="http://schemas.microsoft.com/office/drawing/2014/main" id="{F6DCD753-52F2-31A2-6898-AB786C100E55}"/>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7"/>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22" name="TextBox 27">
            <a:extLst>
              <a:ext uri="{FF2B5EF4-FFF2-40B4-BE49-F238E27FC236}">
                <a16:creationId xmlns:a16="http://schemas.microsoft.com/office/drawing/2014/main" id="{C1181CA0-89E8-B8C5-E59A-3D96C7CA7323}"/>
              </a:ext>
            </a:extLst>
          </p:cNvPr>
          <p:cNvSpPr txBox="1"/>
          <p:nvPr/>
        </p:nvSpPr>
        <p:spPr>
          <a:xfrm>
            <a:off x="812643" y="283464"/>
            <a:ext cx="6294401" cy="300082"/>
          </a:xfrm>
          <a:prstGeom prst="rect">
            <a:avLst/>
          </a:prstGeom>
        </p:spPr>
        <p:txBody>
          <a:bodyPr wrap="square" lIns="0" tIns="0" rIns="0" bIns="0" rtlCol="0" anchor="t">
            <a:spAutoFit/>
          </a:bodyPr>
          <a:lstStyle/>
          <a:p>
            <a:pPr>
              <a:lnSpc>
                <a:spcPts val="2280"/>
              </a:lnSpc>
            </a:pPr>
            <a:r>
              <a:rPr lang="en-US" sz="2400" b="1" spc="18" dirty="0" err="1">
                <a:solidFill>
                  <a:srgbClr val="1A1A2E"/>
                </a:solidFill>
                <a:latin typeface="Calibri" pitchFamily="34" charset="0"/>
                <a:ea typeface="Calibri" pitchFamily="34" charset="-122"/>
                <a:cs typeface="Calibri" pitchFamily="34" charset="-120"/>
                <a:sym typeface="Arial Bold"/>
              </a:rPr>
              <a:t>Phân</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tích</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đặc</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trưng</a:t>
            </a:r>
            <a:r>
              <a:rPr lang="en-US" sz="2400" b="1" spc="18" dirty="0">
                <a:solidFill>
                  <a:srgbClr val="1A1A2E"/>
                </a:solidFill>
                <a:latin typeface="Calibri" pitchFamily="34" charset="0"/>
                <a:ea typeface="Calibri" pitchFamily="34" charset="-122"/>
                <a:cs typeface="Calibri" pitchFamily="34" charset="-120"/>
                <a:sym typeface="Arial Bold"/>
              </a:rPr>
              <a:t>: Attention</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23" name="TextBox 28">
            <a:extLst>
              <a:ext uri="{FF2B5EF4-FFF2-40B4-BE49-F238E27FC236}">
                <a16:creationId xmlns:a16="http://schemas.microsoft.com/office/drawing/2014/main" id="{A20BDF2F-F2A1-C853-0292-4BC49F9BEE0A}"/>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7.2</a:t>
            </a:r>
          </a:p>
        </p:txBody>
      </p:sp>
      <p:sp>
        <p:nvSpPr>
          <p:cNvPr id="24" name="TextBox 22">
            <a:extLst>
              <a:ext uri="{FF2B5EF4-FFF2-40B4-BE49-F238E27FC236}">
                <a16:creationId xmlns:a16="http://schemas.microsoft.com/office/drawing/2014/main" id="{CFC19517-E5D0-0957-75C3-69C0A38FBB44}"/>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25" name="Group 23">
            <a:extLst>
              <a:ext uri="{FF2B5EF4-FFF2-40B4-BE49-F238E27FC236}">
                <a16:creationId xmlns:a16="http://schemas.microsoft.com/office/drawing/2014/main" id="{B122C655-2081-63BE-648F-B0BC4A6313A8}"/>
              </a:ext>
            </a:extLst>
          </p:cNvPr>
          <p:cNvGrpSpPr/>
          <p:nvPr/>
        </p:nvGrpSpPr>
        <p:grpSpPr>
          <a:xfrm>
            <a:off x="0" y="4870323"/>
            <a:ext cx="9144000" cy="274320"/>
            <a:chOff x="0" y="0"/>
            <a:chExt cx="24384000" cy="731520"/>
          </a:xfrm>
        </p:grpSpPr>
        <p:sp>
          <p:nvSpPr>
            <p:cNvPr id="26" name="Freeform 24">
              <a:extLst>
                <a:ext uri="{FF2B5EF4-FFF2-40B4-BE49-F238E27FC236}">
                  <a16:creationId xmlns:a16="http://schemas.microsoft.com/office/drawing/2014/main" id="{CDA95037-BF43-9ED3-D8CD-82FEFE6C0866}"/>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27" name="TextBox 25">
            <a:extLst>
              <a:ext uri="{FF2B5EF4-FFF2-40B4-BE49-F238E27FC236}">
                <a16:creationId xmlns:a16="http://schemas.microsoft.com/office/drawing/2014/main" id="{7A82F253-2296-9F8D-BC2E-E0D32EC1D65B}"/>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28" name="TextBox 26">
            <a:extLst>
              <a:ext uri="{FF2B5EF4-FFF2-40B4-BE49-F238E27FC236}">
                <a16:creationId xmlns:a16="http://schemas.microsoft.com/office/drawing/2014/main" id="{EBB4E646-C782-87A7-7F3A-65FE2BA05C92}"/>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21/25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29285-7AEA-AE51-12EB-C58163BA0E22}"/>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F49CD28-CEE8-2E1F-E7DA-ABB992350179}"/>
              </a:ext>
            </a:extLst>
          </p:cNvPr>
          <p:cNvSpPr txBox="1"/>
          <p:nvPr/>
        </p:nvSpPr>
        <p:spPr>
          <a:xfrm>
            <a:off x="3737172" y="1137955"/>
            <a:ext cx="1623060" cy="1538883"/>
          </a:xfrm>
          <a:prstGeom prst="rect">
            <a:avLst/>
          </a:prstGeom>
        </p:spPr>
        <p:txBody>
          <a:bodyPr lIns="0" tIns="0" rIns="0" bIns="0" rtlCol="0" anchor="t">
            <a:spAutoFit/>
          </a:bodyPr>
          <a:lstStyle/>
          <a:p>
            <a:pPr>
              <a:lnSpc>
                <a:spcPts val="12000"/>
              </a:lnSpc>
            </a:pPr>
            <a:r>
              <a:rPr lang="en-US" sz="10000" b="1" dirty="0">
                <a:solidFill>
                  <a:srgbClr val="0070C0"/>
                </a:solidFill>
                <a:latin typeface="Arimo Bold"/>
                <a:ea typeface="Arimo Bold"/>
                <a:cs typeface="Arimo Bold"/>
                <a:sym typeface="Arimo Bold"/>
              </a:rPr>
              <a:t>08 </a:t>
            </a:r>
          </a:p>
        </p:txBody>
      </p:sp>
      <p:grpSp>
        <p:nvGrpSpPr>
          <p:cNvPr id="7" name="Group 7">
            <a:extLst>
              <a:ext uri="{FF2B5EF4-FFF2-40B4-BE49-F238E27FC236}">
                <a16:creationId xmlns:a16="http://schemas.microsoft.com/office/drawing/2014/main" id="{2AD783E1-43AA-0CD6-9664-6F65AE89B92D}"/>
              </a:ext>
            </a:extLst>
          </p:cNvPr>
          <p:cNvGrpSpPr/>
          <p:nvPr/>
        </p:nvGrpSpPr>
        <p:grpSpPr>
          <a:xfrm>
            <a:off x="3348804" y="2571750"/>
            <a:ext cx="2309100" cy="36000"/>
            <a:chOff x="0" y="0"/>
            <a:chExt cx="6157600" cy="96000"/>
          </a:xfrm>
        </p:grpSpPr>
        <p:sp>
          <p:nvSpPr>
            <p:cNvPr id="8" name="Freeform 8">
              <a:extLst>
                <a:ext uri="{FF2B5EF4-FFF2-40B4-BE49-F238E27FC236}">
                  <a16:creationId xmlns:a16="http://schemas.microsoft.com/office/drawing/2014/main" id="{AB1814DD-FA12-D473-B7A6-23CAB8B15FD7}"/>
                </a:ext>
              </a:extLst>
            </p:cNvPr>
            <p:cNvSpPr/>
            <p:nvPr/>
          </p:nvSpPr>
          <p:spPr>
            <a:xfrm>
              <a:off x="0" y="0"/>
              <a:ext cx="6157595" cy="96012"/>
            </a:xfrm>
            <a:custGeom>
              <a:avLst/>
              <a:gdLst/>
              <a:ahLst/>
              <a:cxnLst/>
              <a:rect l="l" t="t" r="r" b="b"/>
              <a:pathLst>
                <a:path w="6157595" h="96012">
                  <a:moveTo>
                    <a:pt x="0" y="0"/>
                  </a:moveTo>
                  <a:lnTo>
                    <a:pt x="6157595" y="0"/>
                  </a:lnTo>
                  <a:lnTo>
                    <a:pt x="6157595" y="96012"/>
                  </a:lnTo>
                  <a:lnTo>
                    <a:pt x="0" y="96012"/>
                  </a:lnTo>
                  <a:close/>
                </a:path>
              </a:pathLst>
            </a:custGeom>
            <a:solidFill>
              <a:srgbClr val="0066CC"/>
            </a:solidFill>
          </p:spPr>
          <p:txBody>
            <a:bodyPr/>
            <a:lstStyle/>
            <a:p>
              <a:endParaRPr lang="en-US" sz="900"/>
            </a:p>
          </p:txBody>
        </p:sp>
      </p:grpSp>
      <p:sp>
        <p:nvSpPr>
          <p:cNvPr id="9" name="TextBox 9">
            <a:extLst>
              <a:ext uri="{FF2B5EF4-FFF2-40B4-BE49-F238E27FC236}">
                <a16:creationId xmlns:a16="http://schemas.microsoft.com/office/drawing/2014/main" id="{199BD7E9-4530-1CBB-C35D-E4CD0785B5BD}"/>
              </a:ext>
            </a:extLst>
          </p:cNvPr>
          <p:cNvSpPr txBox="1"/>
          <p:nvPr/>
        </p:nvSpPr>
        <p:spPr>
          <a:xfrm>
            <a:off x="1152407" y="2750790"/>
            <a:ext cx="6523266" cy="638188"/>
          </a:xfrm>
          <a:prstGeom prst="rect">
            <a:avLst/>
          </a:prstGeom>
        </p:spPr>
        <p:txBody>
          <a:bodyPr wrap="square" lIns="0" tIns="0" rIns="0" bIns="0" rtlCol="0" anchor="t">
            <a:spAutoFit/>
          </a:bodyPr>
          <a:lstStyle/>
          <a:p>
            <a:pPr algn="ctr">
              <a:lnSpc>
                <a:spcPts val="5280"/>
              </a:lnSpc>
            </a:pPr>
            <a:r>
              <a:rPr lang="en-US" sz="4400" b="1" dirty="0" err="1">
                <a:solidFill>
                  <a:srgbClr val="404040"/>
                </a:solidFill>
                <a:latin typeface="Arial Bold"/>
                <a:ea typeface="Arial Bold"/>
                <a:cs typeface="Arial Bold"/>
                <a:sym typeface="Arial Bold"/>
              </a:rPr>
              <a:t>Kết</a:t>
            </a:r>
            <a:r>
              <a:rPr lang="en-US" sz="4400" b="1" dirty="0">
                <a:solidFill>
                  <a:srgbClr val="404040"/>
                </a:solidFill>
                <a:latin typeface="Arial Bold"/>
                <a:ea typeface="Arial Bold"/>
                <a:cs typeface="Arial Bold"/>
                <a:sym typeface="Arial Bold"/>
              </a:rPr>
              <a:t> </a:t>
            </a:r>
            <a:r>
              <a:rPr lang="en-US" sz="4400" b="1" dirty="0" err="1">
                <a:solidFill>
                  <a:srgbClr val="404040"/>
                </a:solidFill>
                <a:latin typeface="Arial Bold"/>
                <a:ea typeface="Arial Bold"/>
                <a:cs typeface="Arial Bold"/>
                <a:sym typeface="Arial Bold"/>
              </a:rPr>
              <a:t>luận</a:t>
            </a:r>
            <a:endParaRPr lang="en-US" sz="4400" b="1" dirty="0">
              <a:solidFill>
                <a:srgbClr val="404040"/>
              </a:solidFill>
              <a:latin typeface="Arial Bold"/>
              <a:ea typeface="Arial Bold"/>
              <a:cs typeface="Arial Bold"/>
              <a:sym typeface="Arial Bold"/>
            </a:endParaRPr>
          </a:p>
        </p:txBody>
      </p:sp>
      <p:sp>
        <p:nvSpPr>
          <p:cNvPr id="15" name="TextBox 22">
            <a:extLst>
              <a:ext uri="{FF2B5EF4-FFF2-40B4-BE49-F238E27FC236}">
                <a16:creationId xmlns:a16="http://schemas.microsoft.com/office/drawing/2014/main" id="{B3B84B26-3F59-D93A-8A44-6F944417C8D4}"/>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6" name="Group 23">
            <a:extLst>
              <a:ext uri="{FF2B5EF4-FFF2-40B4-BE49-F238E27FC236}">
                <a16:creationId xmlns:a16="http://schemas.microsoft.com/office/drawing/2014/main" id="{EEFF1A94-D648-1451-0151-C5A56E8E7244}"/>
              </a:ext>
            </a:extLst>
          </p:cNvPr>
          <p:cNvGrpSpPr/>
          <p:nvPr/>
        </p:nvGrpSpPr>
        <p:grpSpPr>
          <a:xfrm>
            <a:off x="0" y="4870323"/>
            <a:ext cx="9144000" cy="274320"/>
            <a:chOff x="0" y="0"/>
            <a:chExt cx="24384000" cy="731520"/>
          </a:xfrm>
        </p:grpSpPr>
        <p:sp>
          <p:nvSpPr>
            <p:cNvPr id="17" name="Freeform 24">
              <a:extLst>
                <a:ext uri="{FF2B5EF4-FFF2-40B4-BE49-F238E27FC236}">
                  <a16:creationId xmlns:a16="http://schemas.microsoft.com/office/drawing/2014/main" id="{7E2D5BF9-319C-E781-C542-D40D22683D30}"/>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8" name="TextBox 25">
            <a:extLst>
              <a:ext uri="{FF2B5EF4-FFF2-40B4-BE49-F238E27FC236}">
                <a16:creationId xmlns:a16="http://schemas.microsoft.com/office/drawing/2014/main" id="{5418E44A-A187-6FE0-76DE-CB3A926F030F}"/>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9" name="TextBox 26">
            <a:extLst>
              <a:ext uri="{FF2B5EF4-FFF2-40B4-BE49-F238E27FC236}">
                <a16:creationId xmlns:a16="http://schemas.microsoft.com/office/drawing/2014/main" id="{73CCAB23-AA3B-85E7-F7CC-09F7BCE24F96}"/>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22/25</a:t>
            </a:r>
          </a:p>
        </p:txBody>
      </p:sp>
      <p:grpSp>
        <p:nvGrpSpPr>
          <p:cNvPr id="22" name="Group 2">
            <a:extLst>
              <a:ext uri="{FF2B5EF4-FFF2-40B4-BE49-F238E27FC236}">
                <a16:creationId xmlns:a16="http://schemas.microsoft.com/office/drawing/2014/main" id="{30820D31-4856-5731-ABA5-70B2A1487C9D}"/>
              </a:ext>
            </a:extLst>
          </p:cNvPr>
          <p:cNvGrpSpPr/>
          <p:nvPr/>
        </p:nvGrpSpPr>
        <p:grpSpPr>
          <a:xfrm>
            <a:off x="7900508" y="116678"/>
            <a:ext cx="486733" cy="486733"/>
            <a:chOff x="0" y="0"/>
            <a:chExt cx="1297955" cy="1297955"/>
          </a:xfrm>
        </p:grpSpPr>
        <p:sp>
          <p:nvSpPr>
            <p:cNvPr id="23" name="Freeform 3">
              <a:extLst>
                <a:ext uri="{FF2B5EF4-FFF2-40B4-BE49-F238E27FC236}">
                  <a16:creationId xmlns:a16="http://schemas.microsoft.com/office/drawing/2014/main" id="{A1E175E6-AD9B-DDB7-C85B-7A3B9393FCE4}"/>
                </a:ext>
              </a:extLst>
            </p:cNvPr>
            <p:cNvSpPr/>
            <p:nvPr/>
          </p:nvSpPr>
          <p:spPr>
            <a:xfrm>
              <a:off x="0" y="0"/>
              <a:ext cx="1297940" cy="1297940"/>
            </a:xfrm>
            <a:custGeom>
              <a:avLst/>
              <a:gdLst/>
              <a:ahLst/>
              <a:cxnLst/>
              <a:rect l="l" t="t" r="r" b="b"/>
              <a:pathLst>
                <a:path w="1297940" h="1297940">
                  <a:moveTo>
                    <a:pt x="0" y="0"/>
                  </a:moveTo>
                  <a:lnTo>
                    <a:pt x="1297940" y="0"/>
                  </a:lnTo>
                  <a:lnTo>
                    <a:pt x="1297940" y="1297940"/>
                  </a:lnTo>
                  <a:lnTo>
                    <a:pt x="0" y="1297940"/>
                  </a:lnTo>
                  <a:lnTo>
                    <a:pt x="0" y="0"/>
                  </a:lnTo>
                  <a:close/>
                </a:path>
              </a:pathLst>
            </a:custGeom>
            <a:blipFill>
              <a:blip r:embed="rId3"/>
              <a:stretch>
                <a:fillRect r="-1" b="-1"/>
              </a:stretch>
            </a:blipFill>
          </p:spPr>
          <p:txBody>
            <a:bodyPr/>
            <a:lstStyle/>
            <a:p>
              <a:endParaRPr lang="en-US" sz="900"/>
            </a:p>
          </p:txBody>
        </p:sp>
      </p:grpSp>
      <p:grpSp>
        <p:nvGrpSpPr>
          <p:cNvPr id="24" name="Group 4">
            <a:extLst>
              <a:ext uri="{FF2B5EF4-FFF2-40B4-BE49-F238E27FC236}">
                <a16:creationId xmlns:a16="http://schemas.microsoft.com/office/drawing/2014/main" id="{418385ED-990F-2A53-8CE3-B2833E1A541C}"/>
              </a:ext>
            </a:extLst>
          </p:cNvPr>
          <p:cNvGrpSpPr>
            <a:grpSpLocks noChangeAspect="1"/>
          </p:cNvGrpSpPr>
          <p:nvPr/>
        </p:nvGrpSpPr>
        <p:grpSpPr>
          <a:xfrm>
            <a:off x="8528984" y="116678"/>
            <a:ext cx="486733" cy="488906"/>
            <a:chOff x="0" y="0"/>
            <a:chExt cx="1297955" cy="1303749"/>
          </a:xfrm>
        </p:grpSpPr>
        <p:sp>
          <p:nvSpPr>
            <p:cNvPr id="25" name="Freeform 5" descr="Viện Trí tuệ nhân tạo | Hanoi">
              <a:extLst>
                <a:ext uri="{FF2B5EF4-FFF2-40B4-BE49-F238E27FC236}">
                  <a16:creationId xmlns:a16="http://schemas.microsoft.com/office/drawing/2014/main" id="{CE5D8C42-18C5-FB2E-1B6A-C5E4D11C0E4E}"/>
                </a:ext>
              </a:extLst>
            </p:cNvPr>
            <p:cNvSpPr/>
            <p:nvPr/>
          </p:nvSpPr>
          <p:spPr>
            <a:xfrm>
              <a:off x="0" y="0"/>
              <a:ext cx="1297940" cy="1303782"/>
            </a:xfrm>
            <a:custGeom>
              <a:avLst/>
              <a:gdLst/>
              <a:ahLst/>
              <a:cxnLst/>
              <a:rect l="l" t="t" r="r" b="b"/>
              <a:pathLst>
                <a:path w="1297940" h="1303782">
                  <a:moveTo>
                    <a:pt x="0" y="0"/>
                  </a:moveTo>
                  <a:lnTo>
                    <a:pt x="1297940" y="0"/>
                  </a:lnTo>
                  <a:lnTo>
                    <a:pt x="1297940" y="1303782"/>
                  </a:lnTo>
                  <a:lnTo>
                    <a:pt x="0" y="1303782"/>
                  </a:lnTo>
                  <a:lnTo>
                    <a:pt x="0" y="0"/>
                  </a:lnTo>
                  <a:close/>
                </a:path>
              </a:pathLst>
            </a:custGeom>
            <a:blipFill>
              <a:blip r:embed="rId4"/>
              <a:stretch>
                <a:fillRect r="-1" b="2"/>
              </a:stretch>
            </a:blipFill>
          </p:spPr>
          <p:txBody>
            <a:bodyPr/>
            <a:lstStyle/>
            <a:p>
              <a:endParaRPr lang="en-US" sz="900"/>
            </a:p>
          </p:txBody>
        </p:sp>
      </p:grpSp>
    </p:spTree>
    <p:extLst>
      <p:ext uri="{BB962C8B-B14F-4D97-AF65-F5344CB8AC3E}">
        <p14:creationId xmlns:p14="http://schemas.microsoft.com/office/powerpoint/2010/main" val="1760991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7D9BC-53CC-3472-9F9A-2A298894ECB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5AEC210-AF43-ED76-E4EF-36DD8EEA3671}"/>
              </a:ext>
            </a:extLst>
          </p:cNvPr>
          <p:cNvSpPr/>
          <p:nvPr/>
        </p:nvSpPr>
        <p:spPr>
          <a:xfrm>
            <a:off x="342900" y="685800"/>
            <a:ext cx="8435340" cy="274320"/>
          </a:xfrm>
          <a:prstGeom prst="rect">
            <a:avLst/>
          </a:prstGeom>
          <a:noFill/>
          <a:ln/>
        </p:spPr>
        <p:txBody>
          <a:bodyPr wrap="square" lIns="0" tIns="0" rIns="0" bIns="0" rtlCol="0" anchor="ctr"/>
          <a:lstStyle/>
          <a:p>
            <a:r>
              <a:rPr lang="en-US" sz="1200" i="1" dirty="0">
                <a:solidFill>
                  <a:srgbClr val="5A5A5A"/>
                </a:solidFill>
                <a:latin typeface="Cambria Math" panose="02040503050406030204" pitchFamily="18" charset="0"/>
                <a:ea typeface="Cambria Math" panose="02040503050406030204" pitchFamily="18" charset="0"/>
                <a:cs typeface="Calibri" pitchFamily="34" charset="-120"/>
              </a:rPr>
              <a:t>Model đang dựa vào đâu để đưa ra quyết định?</a:t>
            </a:r>
            <a:endParaRPr lang="en-US" sz="1200" dirty="0">
              <a:latin typeface="Cambria Math" panose="02040503050406030204" pitchFamily="18" charset="0"/>
              <a:ea typeface="Cambria Math" panose="02040503050406030204" pitchFamily="18" charset="0"/>
            </a:endParaRPr>
          </a:p>
        </p:txBody>
      </p:sp>
      <p:sp>
        <p:nvSpPr>
          <p:cNvPr id="4" name="Text 2">
            <a:extLst>
              <a:ext uri="{FF2B5EF4-FFF2-40B4-BE49-F238E27FC236}">
                <a16:creationId xmlns:a16="http://schemas.microsoft.com/office/drawing/2014/main" id="{EC2CA917-F26A-7875-9F2F-198784226DC2}"/>
              </a:ext>
            </a:extLst>
          </p:cNvPr>
          <p:cNvSpPr/>
          <p:nvPr/>
        </p:nvSpPr>
        <p:spPr>
          <a:xfrm>
            <a:off x="394335" y="891540"/>
            <a:ext cx="1954530" cy="205740"/>
          </a:xfrm>
          <a:prstGeom prst="rect">
            <a:avLst/>
          </a:prstGeom>
          <a:noFill/>
          <a:ln/>
        </p:spPr>
        <p:txBody>
          <a:bodyPr wrap="square" lIns="0" tIns="0" rIns="0" bIns="0" rtlCol="0" anchor="ctr"/>
          <a:lstStyle/>
          <a:p>
            <a:pPr algn="ctr"/>
            <a:r>
              <a:rPr lang="en-US" sz="1200" b="1" dirty="0">
                <a:solidFill>
                  <a:srgbClr val="2E6DA4"/>
                </a:solidFill>
                <a:latin typeface="Cambria Math" panose="02040503050406030204" pitchFamily="18" charset="0"/>
                <a:ea typeface="Cambria Math" panose="02040503050406030204" pitchFamily="18" charset="0"/>
                <a:cs typeface="Calibri" pitchFamily="34" charset="-120"/>
              </a:rPr>
              <a:t>XLM-R — Human</a:t>
            </a:r>
            <a:endParaRPr lang="en-US" sz="1200" dirty="0">
              <a:latin typeface="Cambria Math" panose="02040503050406030204" pitchFamily="18" charset="0"/>
              <a:ea typeface="Cambria Math" panose="02040503050406030204" pitchFamily="18" charset="0"/>
            </a:endParaRPr>
          </a:p>
        </p:txBody>
      </p:sp>
      <p:graphicFrame>
        <p:nvGraphicFramePr>
          <p:cNvPr id="5" name="Chart 0">
            <a:extLst>
              <a:ext uri="{FF2B5EF4-FFF2-40B4-BE49-F238E27FC236}">
                <a16:creationId xmlns:a16="http://schemas.microsoft.com/office/drawing/2014/main" id="{B90969D3-38C0-FCA5-76E3-306B76A96E32}"/>
              </a:ext>
            </a:extLst>
          </p:cNvPr>
          <p:cNvGraphicFramePr/>
          <p:nvPr/>
        </p:nvGraphicFramePr>
        <p:xfrm>
          <a:off x="394335" y="1110996"/>
          <a:ext cx="1954530" cy="163220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a:extLst>
              <a:ext uri="{FF2B5EF4-FFF2-40B4-BE49-F238E27FC236}">
                <a16:creationId xmlns:a16="http://schemas.microsoft.com/office/drawing/2014/main" id="{F9DE879F-32DA-0FBF-9475-99DA5811E97E}"/>
              </a:ext>
            </a:extLst>
          </p:cNvPr>
          <p:cNvSpPr/>
          <p:nvPr/>
        </p:nvSpPr>
        <p:spPr>
          <a:xfrm>
            <a:off x="2520315" y="891540"/>
            <a:ext cx="1954530" cy="205740"/>
          </a:xfrm>
          <a:prstGeom prst="rect">
            <a:avLst/>
          </a:prstGeom>
          <a:noFill/>
          <a:ln/>
        </p:spPr>
        <p:txBody>
          <a:bodyPr wrap="square" lIns="0" tIns="0" rIns="0" bIns="0" rtlCol="0" anchor="ctr"/>
          <a:lstStyle/>
          <a:p>
            <a:pPr algn="ctr"/>
            <a:r>
              <a:rPr lang="en-US" sz="1200" b="1" dirty="0">
                <a:solidFill>
                  <a:srgbClr val="C0392B"/>
                </a:solidFill>
                <a:latin typeface="Cambria Math" panose="02040503050406030204" pitchFamily="18" charset="0"/>
                <a:ea typeface="Cambria Math" panose="02040503050406030204" pitchFamily="18" charset="0"/>
                <a:cs typeface="Calibri" pitchFamily="34" charset="-120"/>
              </a:rPr>
              <a:t>XLM-R — AI</a:t>
            </a:r>
            <a:endParaRPr lang="en-US" sz="1200" dirty="0">
              <a:latin typeface="Cambria Math" panose="02040503050406030204" pitchFamily="18" charset="0"/>
              <a:ea typeface="Cambria Math" panose="02040503050406030204" pitchFamily="18" charset="0"/>
            </a:endParaRPr>
          </a:p>
        </p:txBody>
      </p:sp>
      <p:graphicFrame>
        <p:nvGraphicFramePr>
          <p:cNvPr id="7" name="Chart 1">
            <a:extLst>
              <a:ext uri="{FF2B5EF4-FFF2-40B4-BE49-F238E27FC236}">
                <a16:creationId xmlns:a16="http://schemas.microsoft.com/office/drawing/2014/main" id="{40C1955B-2467-E9DF-028C-269B937AA22C}"/>
              </a:ext>
            </a:extLst>
          </p:cNvPr>
          <p:cNvGraphicFramePr/>
          <p:nvPr/>
        </p:nvGraphicFramePr>
        <p:xfrm>
          <a:off x="2520315" y="1110996"/>
          <a:ext cx="1954530" cy="1632204"/>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a:extLst>
              <a:ext uri="{FF2B5EF4-FFF2-40B4-BE49-F238E27FC236}">
                <a16:creationId xmlns:a16="http://schemas.microsoft.com/office/drawing/2014/main" id="{63911B33-7053-D5F6-82F2-A409D1603753}"/>
              </a:ext>
            </a:extLst>
          </p:cNvPr>
          <p:cNvSpPr/>
          <p:nvPr/>
        </p:nvSpPr>
        <p:spPr>
          <a:xfrm>
            <a:off x="4646295" y="891540"/>
            <a:ext cx="1954530" cy="205740"/>
          </a:xfrm>
          <a:prstGeom prst="rect">
            <a:avLst/>
          </a:prstGeom>
          <a:noFill/>
          <a:ln/>
        </p:spPr>
        <p:txBody>
          <a:bodyPr wrap="square" lIns="0" tIns="0" rIns="0" bIns="0" rtlCol="0" anchor="ctr"/>
          <a:lstStyle/>
          <a:p>
            <a:pPr algn="ctr"/>
            <a:r>
              <a:rPr lang="en-US" sz="1200" b="1" dirty="0">
                <a:solidFill>
                  <a:srgbClr val="2E6DA4"/>
                </a:solidFill>
                <a:latin typeface="Cambria Math" panose="02040503050406030204" pitchFamily="18" charset="0"/>
                <a:ea typeface="Cambria Math" panose="02040503050406030204" pitchFamily="18" charset="0"/>
                <a:cs typeface="Calibri" pitchFamily="34" charset="-120"/>
              </a:rPr>
              <a:t>Hybrid/RoBERTa — Human</a:t>
            </a:r>
            <a:endParaRPr lang="en-US" sz="1200" dirty="0">
              <a:latin typeface="Cambria Math" panose="02040503050406030204" pitchFamily="18" charset="0"/>
              <a:ea typeface="Cambria Math" panose="02040503050406030204" pitchFamily="18" charset="0"/>
            </a:endParaRPr>
          </a:p>
        </p:txBody>
      </p:sp>
      <p:graphicFrame>
        <p:nvGraphicFramePr>
          <p:cNvPr id="9" name="Chart 2">
            <a:extLst>
              <a:ext uri="{FF2B5EF4-FFF2-40B4-BE49-F238E27FC236}">
                <a16:creationId xmlns:a16="http://schemas.microsoft.com/office/drawing/2014/main" id="{E7EB0744-449C-1C65-8040-A6A2723FF4E7}"/>
              </a:ext>
            </a:extLst>
          </p:cNvPr>
          <p:cNvGraphicFramePr/>
          <p:nvPr/>
        </p:nvGraphicFramePr>
        <p:xfrm>
          <a:off x="4646295" y="1110996"/>
          <a:ext cx="1954530" cy="1632204"/>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 5">
            <a:extLst>
              <a:ext uri="{FF2B5EF4-FFF2-40B4-BE49-F238E27FC236}">
                <a16:creationId xmlns:a16="http://schemas.microsoft.com/office/drawing/2014/main" id="{91A1A34B-4944-C2C4-4F01-6FC778C703C0}"/>
              </a:ext>
            </a:extLst>
          </p:cNvPr>
          <p:cNvSpPr/>
          <p:nvPr/>
        </p:nvSpPr>
        <p:spPr>
          <a:xfrm>
            <a:off x="6772275" y="891540"/>
            <a:ext cx="1954530" cy="205740"/>
          </a:xfrm>
          <a:prstGeom prst="rect">
            <a:avLst/>
          </a:prstGeom>
          <a:noFill/>
          <a:ln/>
        </p:spPr>
        <p:txBody>
          <a:bodyPr wrap="square" lIns="0" tIns="0" rIns="0" bIns="0" rtlCol="0" anchor="ctr"/>
          <a:lstStyle/>
          <a:p>
            <a:pPr algn="ctr"/>
            <a:r>
              <a:rPr lang="en-US" sz="1200" b="1" dirty="0">
                <a:solidFill>
                  <a:srgbClr val="C0392B"/>
                </a:solidFill>
                <a:latin typeface="Cambria Math" panose="02040503050406030204" pitchFamily="18" charset="0"/>
                <a:ea typeface="Cambria Math" panose="02040503050406030204" pitchFamily="18" charset="0"/>
                <a:cs typeface="Calibri" pitchFamily="34" charset="-120"/>
              </a:rPr>
              <a:t>Hybrid/RoBERTa — AI</a:t>
            </a:r>
            <a:endParaRPr lang="en-US" sz="1200" dirty="0">
              <a:latin typeface="Cambria Math" panose="02040503050406030204" pitchFamily="18" charset="0"/>
              <a:ea typeface="Cambria Math" panose="02040503050406030204" pitchFamily="18" charset="0"/>
            </a:endParaRPr>
          </a:p>
        </p:txBody>
      </p:sp>
      <p:graphicFrame>
        <p:nvGraphicFramePr>
          <p:cNvPr id="11" name="Chart 3">
            <a:extLst>
              <a:ext uri="{FF2B5EF4-FFF2-40B4-BE49-F238E27FC236}">
                <a16:creationId xmlns:a16="http://schemas.microsoft.com/office/drawing/2014/main" id="{F96CC611-967C-994E-3020-6BD532D3073A}"/>
              </a:ext>
            </a:extLst>
          </p:cNvPr>
          <p:cNvGraphicFramePr/>
          <p:nvPr/>
        </p:nvGraphicFramePr>
        <p:xfrm>
          <a:off x="6772275" y="1110996"/>
          <a:ext cx="1954530" cy="1632204"/>
        </p:xfrm>
        <a:graphic>
          <a:graphicData uri="http://schemas.openxmlformats.org/drawingml/2006/chart">
            <c:chart xmlns:c="http://schemas.openxmlformats.org/drawingml/2006/chart" xmlns:r="http://schemas.openxmlformats.org/officeDocument/2006/relationships" r:id="rId6"/>
          </a:graphicData>
        </a:graphic>
      </p:graphicFrame>
      <p:sp>
        <p:nvSpPr>
          <p:cNvPr id="12" name="Text 6">
            <a:extLst>
              <a:ext uri="{FF2B5EF4-FFF2-40B4-BE49-F238E27FC236}">
                <a16:creationId xmlns:a16="http://schemas.microsoft.com/office/drawing/2014/main" id="{C9E5EAF3-467E-0856-1F79-C993D39E1930}"/>
              </a:ext>
            </a:extLst>
          </p:cNvPr>
          <p:cNvSpPr/>
          <p:nvPr/>
        </p:nvSpPr>
        <p:spPr>
          <a:xfrm>
            <a:off x="394335" y="2798064"/>
            <a:ext cx="8332470" cy="205740"/>
          </a:xfrm>
          <a:prstGeom prst="rect">
            <a:avLst/>
          </a:prstGeom>
          <a:noFill/>
          <a:ln/>
        </p:spPr>
        <p:txBody>
          <a:bodyPr wrap="square" lIns="0" tIns="0" rIns="0" bIns="0" rtlCol="0" anchor="ctr"/>
          <a:lstStyle/>
          <a:p>
            <a:r>
              <a:rPr lang="en-US" sz="1200" i="1" dirty="0">
                <a:solidFill>
                  <a:srgbClr val="5A5A5A"/>
                </a:solidFill>
                <a:latin typeface="Cambria Math" panose="02040503050406030204" pitchFamily="18" charset="0"/>
                <a:ea typeface="Cambria Math" panose="02040503050406030204" pitchFamily="18" charset="0"/>
                <a:cs typeface="Calibri" pitchFamily="34" charset="-120"/>
              </a:rPr>
              <a:t>Top 5 token được model chú ý nhiều nhất (200 mẫu test EN, notebook 05). Độ dài thanh chỉ minh họa thứ hạng tương đối, không phải số liệu chính xác.</a:t>
            </a:r>
            <a:endParaRPr lang="en-US" sz="1200" dirty="0">
              <a:latin typeface="Cambria Math" panose="02040503050406030204" pitchFamily="18" charset="0"/>
              <a:ea typeface="Cambria Math" panose="02040503050406030204" pitchFamily="18" charset="0"/>
            </a:endParaRPr>
          </a:p>
        </p:txBody>
      </p:sp>
      <p:sp>
        <p:nvSpPr>
          <p:cNvPr id="13" name="Shape 7">
            <a:extLst>
              <a:ext uri="{FF2B5EF4-FFF2-40B4-BE49-F238E27FC236}">
                <a16:creationId xmlns:a16="http://schemas.microsoft.com/office/drawing/2014/main" id="{E299B099-E238-77D9-D333-433D519F0251}"/>
              </a:ext>
            </a:extLst>
          </p:cNvPr>
          <p:cNvSpPr/>
          <p:nvPr/>
        </p:nvSpPr>
        <p:spPr>
          <a:xfrm>
            <a:off x="394335" y="3166782"/>
            <a:ext cx="4063365" cy="1337310"/>
          </a:xfrm>
          <a:prstGeom prst="rect">
            <a:avLst/>
          </a:prstGeom>
          <a:solidFill>
            <a:srgbClr val="FFF9EC"/>
          </a:solidFill>
          <a:ln w="15875">
            <a:solidFill>
              <a:srgbClr val="B8860B"/>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4" name="Text 8">
            <a:extLst>
              <a:ext uri="{FF2B5EF4-FFF2-40B4-BE49-F238E27FC236}">
                <a16:creationId xmlns:a16="http://schemas.microsoft.com/office/drawing/2014/main" id="{CDBA89A0-09F1-EC37-1FE0-9FAFC9DA914A}"/>
              </a:ext>
            </a:extLst>
          </p:cNvPr>
          <p:cNvSpPr/>
          <p:nvPr/>
        </p:nvSpPr>
        <p:spPr>
          <a:xfrm>
            <a:off x="531495" y="3235362"/>
            <a:ext cx="3789045" cy="1200150"/>
          </a:xfrm>
          <a:prstGeom prst="rect">
            <a:avLst/>
          </a:prstGeom>
          <a:noFill/>
          <a:ln/>
        </p:spPr>
        <p:txBody>
          <a:bodyPr wrap="square" lIns="0" tIns="0" rIns="0" bIns="0" rtlCol="0" anchor="t"/>
          <a:lstStyle/>
          <a:p>
            <a:pPr>
              <a:lnSpc>
                <a:spcPct val="120000"/>
              </a:lnSpc>
            </a:pPr>
            <a:r>
              <a:rPr lang="en-US" sz="1200" b="1" dirty="0">
                <a:solidFill>
                  <a:srgbClr val="B8860B"/>
                </a:solidFill>
                <a:latin typeface="Cambria Math" panose="02040503050406030204" pitchFamily="18" charset="0"/>
                <a:ea typeface="Cambria Math" panose="02040503050406030204" pitchFamily="18" charset="0"/>
                <a:cs typeface="Calibri" pitchFamily="34" charset="-120"/>
              </a:rPr>
              <a:t>① Quan sát: </a:t>
            </a:r>
            <a:endParaRPr lang="en-US" sz="1200" dirty="0">
              <a:latin typeface="Cambria Math" panose="02040503050406030204" pitchFamily="18" charset="0"/>
              <a:ea typeface="Cambria Math" panose="02040503050406030204" pitchFamily="18" charset="0"/>
            </a:endParaRPr>
          </a:p>
          <a:p>
            <a:pPr>
              <a:lnSpc>
                <a:spcPct val="120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Cả 2 model đều chú ý nhiều nhất vào dấu câu và những từ rất thông dụng (".", ",", "the"...) — giống nhau ở cả văn bản người viết và AI viết.</a:t>
            </a:r>
            <a:endParaRPr lang="en-US" sz="1200" dirty="0">
              <a:latin typeface="Cambria Math" panose="02040503050406030204" pitchFamily="18" charset="0"/>
              <a:ea typeface="Cambria Math" panose="02040503050406030204" pitchFamily="18" charset="0"/>
            </a:endParaRPr>
          </a:p>
        </p:txBody>
      </p:sp>
      <p:sp>
        <p:nvSpPr>
          <p:cNvPr id="15" name="Shape 9">
            <a:extLst>
              <a:ext uri="{FF2B5EF4-FFF2-40B4-BE49-F238E27FC236}">
                <a16:creationId xmlns:a16="http://schemas.microsoft.com/office/drawing/2014/main" id="{D6630B4B-40A7-3E09-99CF-363734C0BA34}"/>
              </a:ext>
            </a:extLst>
          </p:cNvPr>
          <p:cNvSpPr/>
          <p:nvPr/>
        </p:nvSpPr>
        <p:spPr>
          <a:xfrm>
            <a:off x="4663440" y="3166782"/>
            <a:ext cx="4063365" cy="1337310"/>
          </a:xfrm>
          <a:prstGeom prst="rect">
            <a:avLst/>
          </a:prstGeom>
          <a:solidFill>
            <a:srgbClr val="EAF6EB"/>
          </a:solidFill>
          <a:ln w="15875">
            <a:solidFill>
              <a:srgbClr val="2E7D32"/>
            </a:solidFill>
            <a:prstDash val="solid"/>
          </a:ln>
        </p:spPr>
        <p:txBody>
          <a:bodyPr/>
          <a:lstStyle/>
          <a:p>
            <a:endParaRPr lang="en-US" sz="1200">
              <a:latin typeface="Cambria Math" panose="02040503050406030204" pitchFamily="18" charset="0"/>
              <a:ea typeface="Cambria Math" panose="02040503050406030204" pitchFamily="18" charset="0"/>
            </a:endParaRPr>
          </a:p>
        </p:txBody>
      </p:sp>
      <p:sp>
        <p:nvSpPr>
          <p:cNvPr id="16" name="Text 10">
            <a:extLst>
              <a:ext uri="{FF2B5EF4-FFF2-40B4-BE49-F238E27FC236}">
                <a16:creationId xmlns:a16="http://schemas.microsoft.com/office/drawing/2014/main" id="{57A61454-BF68-8A59-79AA-3575D5370E52}"/>
              </a:ext>
            </a:extLst>
          </p:cNvPr>
          <p:cNvSpPr/>
          <p:nvPr/>
        </p:nvSpPr>
        <p:spPr>
          <a:xfrm>
            <a:off x="4800600" y="3235362"/>
            <a:ext cx="3789045" cy="1200150"/>
          </a:xfrm>
          <a:prstGeom prst="rect">
            <a:avLst/>
          </a:prstGeom>
          <a:noFill/>
          <a:ln/>
        </p:spPr>
        <p:txBody>
          <a:bodyPr wrap="square" lIns="0" tIns="0" rIns="0" bIns="0" rtlCol="0" anchor="t"/>
          <a:lstStyle/>
          <a:p>
            <a:pPr>
              <a:lnSpc>
                <a:spcPct val="120000"/>
              </a:lnSpc>
            </a:pPr>
            <a:r>
              <a:rPr lang="en-US" sz="1200" b="1" dirty="0">
                <a:solidFill>
                  <a:srgbClr val="2E7D32"/>
                </a:solidFill>
                <a:latin typeface="Cambria Math" panose="02040503050406030204" pitchFamily="18" charset="0"/>
                <a:ea typeface="Cambria Math" panose="02040503050406030204" pitchFamily="18" charset="0"/>
                <a:cs typeface="Calibri" pitchFamily="34" charset="-120"/>
              </a:rPr>
              <a:t>②  Suy ra: </a:t>
            </a:r>
            <a:endParaRPr lang="en-US" sz="1200" dirty="0">
              <a:latin typeface="Cambria Math" panose="02040503050406030204" pitchFamily="18" charset="0"/>
              <a:ea typeface="Cambria Math" panose="02040503050406030204" pitchFamily="18" charset="0"/>
            </a:endParaRPr>
          </a:p>
          <a:p>
            <a:pPr>
              <a:lnSpc>
                <a:spcPct val="120000"/>
              </a:lnSpc>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Người và AI khác nhau không phải ở việc dùng từ gì, mà ở cách lặp lại những từ đó — AI có xu hướng lặp đều đặn hơn, còn người viết tự nhiên hơn, ít theo khuôn mẫu cố định.</a:t>
            </a:r>
            <a:endParaRPr lang="en-US" sz="1200" dirty="0">
              <a:latin typeface="Cambria Math" panose="02040503050406030204" pitchFamily="18" charset="0"/>
              <a:ea typeface="Cambria Math" panose="02040503050406030204" pitchFamily="18" charset="0"/>
            </a:endParaRPr>
          </a:p>
        </p:txBody>
      </p:sp>
      <p:grpSp>
        <p:nvGrpSpPr>
          <p:cNvPr id="20" name="Group 25">
            <a:extLst>
              <a:ext uri="{FF2B5EF4-FFF2-40B4-BE49-F238E27FC236}">
                <a16:creationId xmlns:a16="http://schemas.microsoft.com/office/drawing/2014/main" id="{BC1A9995-5A54-E641-C61A-9F78D9AB0C40}"/>
              </a:ext>
            </a:extLst>
          </p:cNvPr>
          <p:cNvGrpSpPr/>
          <p:nvPr/>
        </p:nvGrpSpPr>
        <p:grpSpPr>
          <a:xfrm>
            <a:off x="699516" y="272606"/>
            <a:ext cx="28575" cy="285368"/>
            <a:chOff x="0" y="0"/>
            <a:chExt cx="76200" cy="760981"/>
          </a:xfrm>
        </p:grpSpPr>
        <p:sp>
          <p:nvSpPr>
            <p:cNvPr id="21" name="Freeform 26">
              <a:extLst>
                <a:ext uri="{FF2B5EF4-FFF2-40B4-BE49-F238E27FC236}">
                  <a16:creationId xmlns:a16="http://schemas.microsoft.com/office/drawing/2014/main" id="{E76B0B02-BB0E-DF41-4497-6E1E3B187930}"/>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7"/>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22" name="TextBox 27">
            <a:extLst>
              <a:ext uri="{FF2B5EF4-FFF2-40B4-BE49-F238E27FC236}">
                <a16:creationId xmlns:a16="http://schemas.microsoft.com/office/drawing/2014/main" id="{388E65A2-D616-ED38-EC25-C58DFCF84BF3}"/>
              </a:ext>
            </a:extLst>
          </p:cNvPr>
          <p:cNvSpPr txBox="1"/>
          <p:nvPr/>
        </p:nvSpPr>
        <p:spPr>
          <a:xfrm>
            <a:off x="812643" y="283464"/>
            <a:ext cx="6294401" cy="300082"/>
          </a:xfrm>
          <a:prstGeom prst="rect">
            <a:avLst/>
          </a:prstGeom>
        </p:spPr>
        <p:txBody>
          <a:bodyPr wrap="square" lIns="0" tIns="0" rIns="0" bIns="0" rtlCol="0" anchor="t">
            <a:spAutoFit/>
          </a:bodyPr>
          <a:lstStyle/>
          <a:p>
            <a:pPr>
              <a:lnSpc>
                <a:spcPts val="2280"/>
              </a:lnSpc>
            </a:pPr>
            <a:r>
              <a:rPr lang="en-US" sz="2400" b="1" spc="18" dirty="0" err="1">
                <a:solidFill>
                  <a:srgbClr val="1A1A2E"/>
                </a:solidFill>
                <a:latin typeface="Calibri" pitchFamily="34" charset="0"/>
                <a:ea typeface="Calibri" pitchFamily="34" charset="-122"/>
                <a:cs typeface="Calibri" pitchFamily="34" charset="-120"/>
                <a:sym typeface="Arial Bold"/>
              </a:rPr>
              <a:t>Kết</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luận</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23" name="TextBox 28">
            <a:extLst>
              <a:ext uri="{FF2B5EF4-FFF2-40B4-BE49-F238E27FC236}">
                <a16:creationId xmlns:a16="http://schemas.microsoft.com/office/drawing/2014/main" id="{7EAD5481-1D5E-6E02-AAF6-6C1B65513819}"/>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8.1</a:t>
            </a:r>
          </a:p>
        </p:txBody>
      </p:sp>
      <p:sp>
        <p:nvSpPr>
          <p:cNvPr id="24" name="TextBox 22">
            <a:extLst>
              <a:ext uri="{FF2B5EF4-FFF2-40B4-BE49-F238E27FC236}">
                <a16:creationId xmlns:a16="http://schemas.microsoft.com/office/drawing/2014/main" id="{1875E752-1A7F-7C18-D329-7DF076BDB8C5}"/>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25" name="Group 23">
            <a:extLst>
              <a:ext uri="{FF2B5EF4-FFF2-40B4-BE49-F238E27FC236}">
                <a16:creationId xmlns:a16="http://schemas.microsoft.com/office/drawing/2014/main" id="{1A45EB94-0FF9-175A-6EAC-2D71E7D13A52}"/>
              </a:ext>
            </a:extLst>
          </p:cNvPr>
          <p:cNvGrpSpPr/>
          <p:nvPr/>
        </p:nvGrpSpPr>
        <p:grpSpPr>
          <a:xfrm>
            <a:off x="0" y="4870323"/>
            <a:ext cx="9144000" cy="274320"/>
            <a:chOff x="0" y="0"/>
            <a:chExt cx="24384000" cy="731520"/>
          </a:xfrm>
        </p:grpSpPr>
        <p:sp>
          <p:nvSpPr>
            <p:cNvPr id="26" name="Freeform 24">
              <a:extLst>
                <a:ext uri="{FF2B5EF4-FFF2-40B4-BE49-F238E27FC236}">
                  <a16:creationId xmlns:a16="http://schemas.microsoft.com/office/drawing/2014/main" id="{75ED66DB-3518-7239-A55D-CA47AC406D28}"/>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27" name="TextBox 25">
            <a:extLst>
              <a:ext uri="{FF2B5EF4-FFF2-40B4-BE49-F238E27FC236}">
                <a16:creationId xmlns:a16="http://schemas.microsoft.com/office/drawing/2014/main" id="{7B051D44-3E6C-A381-34B9-0FA77FB1F906}"/>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28" name="TextBox 26">
            <a:extLst>
              <a:ext uri="{FF2B5EF4-FFF2-40B4-BE49-F238E27FC236}">
                <a16:creationId xmlns:a16="http://schemas.microsoft.com/office/drawing/2014/main" id="{1236E19F-8272-01D5-6128-985BBC802DCB}"/>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23/25</a:t>
            </a:r>
          </a:p>
        </p:txBody>
      </p:sp>
    </p:spTree>
    <p:extLst>
      <p:ext uri="{BB962C8B-B14F-4D97-AF65-F5344CB8AC3E}">
        <p14:creationId xmlns:p14="http://schemas.microsoft.com/office/powerpoint/2010/main" val="552645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42900" y="925830"/>
            <a:ext cx="8435340" cy="3291840"/>
          </a:xfrm>
          <a:prstGeom prst="rect">
            <a:avLst/>
          </a:prstGeom>
          <a:noFill/>
          <a:ln/>
        </p:spPr>
        <p:txBody>
          <a:bodyPr wrap="square" lIns="0" tIns="0" rIns="0" bIns="0" rtlCol="0" anchor="t"/>
          <a:lstStyle/>
          <a:p>
            <a:pPr marL="257175" indent="-257175">
              <a:lnSpc>
                <a:spcPct val="135000"/>
              </a:lnSpc>
              <a:spcAft>
                <a:spcPts val="1050"/>
              </a:spcAft>
              <a:buSzPct val="100000"/>
              <a:buFont typeface="Cambria Math" panose="02040503050406030204" pitchFamily="18" charset="0"/>
              <a:buChar char="―"/>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Đã xây dựng hoàn chỉnh pipeline phát hiện văn bản AI-generated, từ thu thập dữ liệu, tiền xử lý, augmentation, đến huấn luyện và đánh giá 2 kiến trúc: XLM-RoBERTa và Hybrid (RoBERTa + PhoBERT).</a:t>
            </a:r>
            <a:endParaRPr lang="en-US" sz="1200" dirty="0">
              <a:latin typeface="Cambria Math" panose="02040503050406030204" pitchFamily="18" charset="0"/>
              <a:ea typeface="Cambria Math" panose="02040503050406030204" pitchFamily="18" charset="0"/>
            </a:endParaRPr>
          </a:p>
          <a:p>
            <a:pPr marL="257175" indent="-257175">
              <a:lnSpc>
                <a:spcPct val="135000"/>
              </a:lnSpc>
              <a:spcAft>
                <a:spcPts val="1050"/>
              </a:spcAft>
              <a:buSzPct val="100000"/>
              <a:buFont typeface="Cambria Math" panose="02040503050406030204" pitchFamily="18" charset="0"/>
              <a:buChar char="―"/>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F1 (macro) tốt nhất trên test set đạt 0.79 (XLM-RoBERTa) </a:t>
            </a:r>
          </a:p>
          <a:p>
            <a:pPr marL="257175" indent="-257175">
              <a:lnSpc>
                <a:spcPct val="135000"/>
              </a:lnSpc>
              <a:spcAft>
                <a:spcPts val="1050"/>
              </a:spcAft>
              <a:buSzPct val="100000"/>
              <a:buFont typeface="Cambria Math" panose="02040503050406030204" pitchFamily="18" charset="0"/>
              <a:buChar char="―"/>
            </a:pPr>
            <a:r>
              <a:rPr lang="en-US" sz="1200" dirty="0" err="1">
                <a:solidFill>
                  <a:srgbClr val="1A1A1A"/>
                </a:solidFill>
                <a:latin typeface="Cambria Math" panose="02040503050406030204" pitchFamily="18" charset="0"/>
                <a:ea typeface="Cambria Math" panose="02040503050406030204" pitchFamily="18" charset="0"/>
                <a:cs typeface="Calibri" pitchFamily="34" charset="-120"/>
              </a:rPr>
              <a:t>Riêng</a:t>
            </a:r>
            <a:r>
              <a:rPr lang="en-US" sz="1200" dirty="0">
                <a:solidFill>
                  <a:srgbClr val="1A1A1A"/>
                </a:solidFill>
                <a:latin typeface="Cambria Math" panose="02040503050406030204" pitchFamily="18" charset="0"/>
                <a:ea typeface="Cambria Math" panose="02040503050406030204" pitchFamily="18" charset="0"/>
                <a:cs typeface="Calibri" pitchFamily="34" charset="-120"/>
              </a:rPr>
              <a:t> tiếng Việt, cả 2 model đạt F1 ≈ 0.99</a:t>
            </a:r>
            <a:endParaRPr lang="en-US" sz="1200" dirty="0">
              <a:latin typeface="Cambria Math" panose="02040503050406030204" pitchFamily="18" charset="0"/>
              <a:ea typeface="Cambria Math" panose="02040503050406030204" pitchFamily="18" charset="0"/>
            </a:endParaRPr>
          </a:p>
          <a:p>
            <a:pPr marL="257175" indent="-257175">
              <a:lnSpc>
                <a:spcPct val="135000"/>
              </a:lnSpc>
              <a:spcAft>
                <a:spcPts val="1050"/>
              </a:spcAft>
              <a:buSzPct val="100000"/>
              <a:buFont typeface="Cambria Math" panose="02040503050406030204" pitchFamily="18" charset="0"/>
              <a:buChar char="―"/>
            </a:pPr>
            <a:r>
              <a:rPr lang="en-US" sz="1200" dirty="0">
                <a:solidFill>
                  <a:srgbClr val="1A1A1A"/>
                </a:solidFill>
                <a:latin typeface="Cambria Math" panose="02040503050406030204" pitchFamily="18" charset="0"/>
                <a:ea typeface="Cambria Math" panose="02040503050406030204" pitchFamily="18" charset="0"/>
                <a:cs typeface="Calibri" pitchFamily="34" charset="-120"/>
              </a:rPr>
              <a:t>Model chuyên biệt theo ngôn ngữ (Hybrid) không vượt được model song ngữ đơn (XLM-RoBERTa) — chuyên biệt hóa chưa mang lại lợi ích như kỳ vọng.</a:t>
            </a:r>
            <a:endParaRPr lang="en-US" sz="1200" dirty="0">
              <a:latin typeface="Cambria Math" panose="02040503050406030204" pitchFamily="18" charset="0"/>
              <a:ea typeface="Cambria Math" panose="02040503050406030204" pitchFamily="18" charset="0"/>
            </a:endParaRPr>
          </a:p>
          <a:p>
            <a:pPr marL="257175" indent="-257175">
              <a:lnSpc>
                <a:spcPct val="135000"/>
              </a:lnSpc>
              <a:spcAft>
                <a:spcPts val="1050"/>
              </a:spcAft>
              <a:buSzPct val="100000"/>
              <a:buFont typeface="Cambria Math" panose="02040503050406030204" pitchFamily="18" charset="0"/>
              <a:buChar char="―"/>
            </a:pPr>
            <a:r>
              <a:rPr lang="en-US" sz="1200" dirty="0" err="1">
                <a:solidFill>
                  <a:srgbClr val="1A1A1A"/>
                </a:solidFill>
                <a:latin typeface="Cambria Math" panose="02040503050406030204" pitchFamily="18" charset="0"/>
                <a:ea typeface="Cambria Math" panose="02040503050406030204" pitchFamily="18" charset="0"/>
                <a:cs typeface="Calibri" pitchFamily="34" charset="-120"/>
              </a:rPr>
              <a:t>Phân</a:t>
            </a:r>
            <a:r>
              <a:rPr lang="en-US" sz="1200" dirty="0">
                <a:solidFill>
                  <a:srgbClr val="1A1A1A"/>
                </a:solidFill>
                <a:latin typeface="Cambria Math" panose="02040503050406030204" pitchFamily="18" charset="0"/>
                <a:ea typeface="Cambria Math" panose="02040503050406030204" pitchFamily="18" charset="0"/>
                <a:cs typeface="Calibri" pitchFamily="34" charset="-120"/>
              </a:rPr>
              <a:t> tích đặc trưng cho thấy AI có entropy cao hơn, câu dài hơn, lặp từ đều đặn hơn Human; nhưng cả 2 model đều dựa nhiều vào dấu câu và từ chức năng hơn là ý nghĩa nội dung khi ra quyết định.</a:t>
            </a:r>
            <a:endParaRPr lang="en-US" sz="1200" dirty="0">
              <a:latin typeface="Cambria Math" panose="02040503050406030204" pitchFamily="18" charset="0"/>
              <a:ea typeface="Cambria Math" panose="02040503050406030204" pitchFamily="18" charset="0"/>
            </a:endParaRPr>
          </a:p>
        </p:txBody>
      </p:sp>
      <p:grpSp>
        <p:nvGrpSpPr>
          <p:cNvPr id="7" name="Group 25">
            <a:extLst>
              <a:ext uri="{FF2B5EF4-FFF2-40B4-BE49-F238E27FC236}">
                <a16:creationId xmlns:a16="http://schemas.microsoft.com/office/drawing/2014/main" id="{3446AB4E-51C1-18F8-5C12-F65D83C4867F}"/>
              </a:ext>
            </a:extLst>
          </p:cNvPr>
          <p:cNvGrpSpPr/>
          <p:nvPr/>
        </p:nvGrpSpPr>
        <p:grpSpPr>
          <a:xfrm>
            <a:off x="699516" y="272606"/>
            <a:ext cx="28575" cy="285368"/>
            <a:chOff x="0" y="0"/>
            <a:chExt cx="76200" cy="760981"/>
          </a:xfrm>
        </p:grpSpPr>
        <p:sp>
          <p:nvSpPr>
            <p:cNvPr id="8" name="Freeform 26">
              <a:extLst>
                <a:ext uri="{FF2B5EF4-FFF2-40B4-BE49-F238E27FC236}">
                  <a16:creationId xmlns:a16="http://schemas.microsoft.com/office/drawing/2014/main" id="{23705484-CEA8-2409-6D7C-BA3F203E0C4F}"/>
                </a:ext>
              </a:extLst>
            </p:cNvPr>
            <p:cNvSpPr/>
            <p:nvPr/>
          </p:nvSpPr>
          <p:spPr>
            <a:xfrm>
              <a:off x="0" y="0"/>
              <a:ext cx="76200" cy="760984"/>
            </a:xfrm>
            <a:custGeom>
              <a:avLst/>
              <a:gdLst/>
              <a:ahLst/>
              <a:cxnLst/>
              <a:rect l="l" t="t" r="r" b="b"/>
              <a:pathLst>
                <a:path w="76200" h="760984">
                  <a:moveTo>
                    <a:pt x="0" y="0"/>
                  </a:moveTo>
                  <a:lnTo>
                    <a:pt x="76200" y="0"/>
                  </a:lnTo>
                  <a:lnTo>
                    <a:pt x="76200" y="760984"/>
                  </a:lnTo>
                  <a:lnTo>
                    <a:pt x="0" y="760984"/>
                  </a:lnTo>
                  <a:lnTo>
                    <a:pt x="0" y="0"/>
                  </a:lnTo>
                  <a:close/>
                </a:path>
              </a:pathLst>
            </a:custGeom>
            <a:blipFill>
              <a:blip r:embed="rId3"/>
              <a:stretch>
                <a:fillRect l="-5481" r="-5481"/>
              </a:stretch>
            </a:blipFill>
          </p:spPr>
          <p:txBody>
            <a:bodyPr/>
            <a:lstStyle/>
            <a:p>
              <a:endParaRPr lang="en-US" sz="900">
                <a:latin typeface="Arial" panose="020B0604020202020204" pitchFamily="34" charset="0"/>
                <a:cs typeface="Arial" panose="020B0604020202020204" pitchFamily="34" charset="0"/>
              </a:endParaRPr>
            </a:p>
          </p:txBody>
        </p:sp>
      </p:grpSp>
      <p:sp>
        <p:nvSpPr>
          <p:cNvPr id="9" name="TextBox 27">
            <a:extLst>
              <a:ext uri="{FF2B5EF4-FFF2-40B4-BE49-F238E27FC236}">
                <a16:creationId xmlns:a16="http://schemas.microsoft.com/office/drawing/2014/main" id="{7440713E-6608-5968-439F-1A1E072A05A4}"/>
              </a:ext>
            </a:extLst>
          </p:cNvPr>
          <p:cNvSpPr txBox="1"/>
          <p:nvPr/>
        </p:nvSpPr>
        <p:spPr>
          <a:xfrm>
            <a:off x="812643" y="283464"/>
            <a:ext cx="6294401" cy="300082"/>
          </a:xfrm>
          <a:prstGeom prst="rect">
            <a:avLst/>
          </a:prstGeom>
        </p:spPr>
        <p:txBody>
          <a:bodyPr wrap="square" lIns="0" tIns="0" rIns="0" bIns="0" rtlCol="0" anchor="t">
            <a:spAutoFit/>
          </a:bodyPr>
          <a:lstStyle/>
          <a:p>
            <a:pPr>
              <a:lnSpc>
                <a:spcPts val="2280"/>
              </a:lnSpc>
            </a:pPr>
            <a:r>
              <a:rPr lang="en-US" sz="2400" b="1" spc="18" dirty="0" err="1">
                <a:solidFill>
                  <a:srgbClr val="1A1A2E"/>
                </a:solidFill>
                <a:latin typeface="Calibri" pitchFamily="34" charset="0"/>
                <a:ea typeface="Calibri" pitchFamily="34" charset="-122"/>
                <a:cs typeface="Calibri" pitchFamily="34" charset="-120"/>
                <a:sym typeface="Arial Bold"/>
              </a:rPr>
              <a:t>Kết</a:t>
            </a:r>
            <a:r>
              <a:rPr lang="en-US" sz="2400" b="1" spc="18" dirty="0">
                <a:solidFill>
                  <a:srgbClr val="1A1A2E"/>
                </a:solidFill>
                <a:latin typeface="Calibri" pitchFamily="34" charset="0"/>
                <a:ea typeface="Calibri" pitchFamily="34" charset="-122"/>
                <a:cs typeface="Calibri" pitchFamily="34" charset="-120"/>
                <a:sym typeface="Arial Bold"/>
              </a:rPr>
              <a:t> </a:t>
            </a:r>
            <a:r>
              <a:rPr lang="en-US" sz="2400" b="1" spc="18" dirty="0" err="1">
                <a:solidFill>
                  <a:srgbClr val="1A1A2E"/>
                </a:solidFill>
                <a:latin typeface="Calibri" pitchFamily="34" charset="0"/>
                <a:ea typeface="Calibri" pitchFamily="34" charset="-122"/>
                <a:cs typeface="Calibri" pitchFamily="34" charset="-120"/>
                <a:sym typeface="Arial Bold"/>
              </a:rPr>
              <a:t>luận</a:t>
            </a:r>
            <a:endParaRPr lang="en-US" sz="2100" b="1" spc="18" dirty="0">
              <a:solidFill>
                <a:srgbClr val="000000"/>
              </a:solidFill>
              <a:latin typeface="Arial" panose="020B0604020202020204" pitchFamily="34" charset="0"/>
              <a:ea typeface="Arial Bold"/>
              <a:cs typeface="Arial" panose="020B0604020202020204" pitchFamily="34" charset="0"/>
              <a:sym typeface="Arial Bold"/>
            </a:endParaRPr>
          </a:p>
        </p:txBody>
      </p:sp>
      <p:sp>
        <p:nvSpPr>
          <p:cNvPr id="10" name="TextBox 28">
            <a:extLst>
              <a:ext uri="{FF2B5EF4-FFF2-40B4-BE49-F238E27FC236}">
                <a16:creationId xmlns:a16="http://schemas.microsoft.com/office/drawing/2014/main" id="{D8D39F2C-F5AD-6EE2-DEDF-EEB5B0C8187A}"/>
              </a:ext>
            </a:extLst>
          </p:cNvPr>
          <p:cNvSpPr txBox="1"/>
          <p:nvPr/>
        </p:nvSpPr>
        <p:spPr>
          <a:xfrm>
            <a:off x="318460" y="247763"/>
            <a:ext cx="409632" cy="320601"/>
          </a:xfrm>
          <a:prstGeom prst="rect">
            <a:avLst/>
          </a:prstGeom>
        </p:spPr>
        <p:txBody>
          <a:bodyPr wrap="square" lIns="0" tIns="0" rIns="0" bIns="0" rtlCol="0" anchor="t">
            <a:spAutoFit/>
          </a:bodyPr>
          <a:lstStyle/>
          <a:p>
            <a:pPr>
              <a:lnSpc>
                <a:spcPts val="2520"/>
              </a:lnSpc>
            </a:pPr>
            <a:r>
              <a:rPr lang="en-US" sz="2100" b="1" spc="20" dirty="0">
                <a:solidFill>
                  <a:srgbClr val="000000"/>
                </a:solidFill>
                <a:latin typeface="Arial" panose="020B0604020202020204" pitchFamily="34" charset="0"/>
                <a:ea typeface="Cambria Bold"/>
                <a:cs typeface="Arial" panose="020B0604020202020204" pitchFamily="34" charset="0"/>
                <a:sym typeface="Cambria Bold"/>
              </a:rPr>
              <a:t>8.1</a:t>
            </a:r>
          </a:p>
        </p:txBody>
      </p:sp>
      <p:sp>
        <p:nvSpPr>
          <p:cNvPr id="11" name="TextBox 22">
            <a:extLst>
              <a:ext uri="{FF2B5EF4-FFF2-40B4-BE49-F238E27FC236}">
                <a16:creationId xmlns:a16="http://schemas.microsoft.com/office/drawing/2014/main" id="{E59EE925-8B44-C32B-7CE6-1353131C0027}"/>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2" name="Group 23">
            <a:extLst>
              <a:ext uri="{FF2B5EF4-FFF2-40B4-BE49-F238E27FC236}">
                <a16:creationId xmlns:a16="http://schemas.microsoft.com/office/drawing/2014/main" id="{12EB51BF-5516-7757-4742-971F79E7C931}"/>
              </a:ext>
            </a:extLst>
          </p:cNvPr>
          <p:cNvGrpSpPr/>
          <p:nvPr/>
        </p:nvGrpSpPr>
        <p:grpSpPr>
          <a:xfrm>
            <a:off x="0" y="4870323"/>
            <a:ext cx="9144000" cy="274320"/>
            <a:chOff x="0" y="0"/>
            <a:chExt cx="24384000" cy="731520"/>
          </a:xfrm>
        </p:grpSpPr>
        <p:sp>
          <p:nvSpPr>
            <p:cNvPr id="13" name="Freeform 24">
              <a:extLst>
                <a:ext uri="{FF2B5EF4-FFF2-40B4-BE49-F238E27FC236}">
                  <a16:creationId xmlns:a16="http://schemas.microsoft.com/office/drawing/2014/main" id="{FD2D8708-36F2-2222-D9A3-214143F97E7A}"/>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4" name="TextBox 25">
            <a:extLst>
              <a:ext uri="{FF2B5EF4-FFF2-40B4-BE49-F238E27FC236}">
                <a16:creationId xmlns:a16="http://schemas.microsoft.com/office/drawing/2014/main" id="{22B0579B-756B-86DA-9104-29C172D56959}"/>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5" name="TextBox 26">
            <a:extLst>
              <a:ext uri="{FF2B5EF4-FFF2-40B4-BE49-F238E27FC236}">
                <a16:creationId xmlns:a16="http://schemas.microsoft.com/office/drawing/2014/main" id="{0CB24B79-E010-CDCD-00F8-94181CACD091}"/>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24/25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900508" y="116677"/>
            <a:ext cx="486734" cy="486734"/>
            <a:chOff x="0" y="0"/>
            <a:chExt cx="1297957" cy="1297957"/>
          </a:xfrm>
        </p:grpSpPr>
        <p:sp>
          <p:nvSpPr>
            <p:cNvPr id="3" name="Freeform 3"/>
            <p:cNvSpPr/>
            <p:nvPr/>
          </p:nvSpPr>
          <p:spPr>
            <a:xfrm>
              <a:off x="0" y="0"/>
              <a:ext cx="1297940" cy="1297940"/>
            </a:xfrm>
            <a:custGeom>
              <a:avLst/>
              <a:gdLst/>
              <a:ahLst/>
              <a:cxnLst/>
              <a:rect l="l" t="t" r="r" b="b"/>
              <a:pathLst>
                <a:path w="1297940" h="1297940">
                  <a:moveTo>
                    <a:pt x="0" y="0"/>
                  </a:moveTo>
                  <a:lnTo>
                    <a:pt x="1297940" y="0"/>
                  </a:lnTo>
                  <a:lnTo>
                    <a:pt x="1297940" y="1297940"/>
                  </a:lnTo>
                  <a:lnTo>
                    <a:pt x="0" y="1297940"/>
                  </a:lnTo>
                  <a:lnTo>
                    <a:pt x="0" y="0"/>
                  </a:lnTo>
                  <a:close/>
                </a:path>
              </a:pathLst>
            </a:custGeom>
            <a:blipFill>
              <a:blip r:embed="rId2"/>
              <a:stretch>
                <a:fillRect r="-1" b="-1"/>
              </a:stretch>
            </a:blipFill>
          </p:spPr>
          <p:txBody>
            <a:bodyPr/>
            <a:lstStyle/>
            <a:p>
              <a:endParaRPr lang="en-US" sz="900"/>
            </a:p>
          </p:txBody>
        </p:sp>
      </p:grpSp>
      <p:sp>
        <p:nvSpPr>
          <p:cNvPr id="4" name="Freeform 4"/>
          <p:cNvSpPr/>
          <p:nvPr/>
        </p:nvSpPr>
        <p:spPr>
          <a:xfrm>
            <a:off x="2681216" y="1028700"/>
            <a:ext cx="3734973" cy="3086100"/>
          </a:xfrm>
          <a:custGeom>
            <a:avLst/>
            <a:gdLst/>
            <a:ahLst/>
            <a:cxnLst/>
            <a:rect l="l" t="t" r="r" b="b"/>
            <a:pathLst>
              <a:path w="7469945" h="6172200">
                <a:moveTo>
                  <a:pt x="0" y="0"/>
                </a:moveTo>
                <a:lnTo>
                  <a:pt x="7469944" y="0"/>
                </a:lnTo>
                <a:lnTo>
                  <a:pt x="7469944" y="6172200"/>
                </a:lnTo>
                <a:lnTo>
                  <a:pt x="0" y="6172200"/>
                </a:lnTo>
                <a:lnTo>
                  <a:pt x="0" y="0"/>
                </a:lnTo>
                <a:close/>
              </a:path>
            </a:pathLst>
          </a:custGeom>
          <a:blipFill>
            <a:blip>
              <a:extLst>
                <a:ext uri="{96DAC541-7B7A-43D3-8B79-37D633B846F1}">
                  <asvg:svgBlip xmlns:asvg="http://schemas.microsoft.com/office/drawing/2016/SVG/main" r:embed="rId3"/>
                </a:ext>
              </a:extLst>
            </a:blip>
            <a:stretch>
              <a:fillRect l="-16" r="-16"/>
            </a:stretch>
          </a:blipFill>
        </p:spPr>
        <p:txBody>
          <a:bodyPr/>
          <a:lstStyle/>
          <a:p>
            <a:endParaRPr lang="en-US" sz="900"/>
          </a:p>
        </p:txBody>
      </p:sp>
      <p:grpSp>
        <p:nvGrpSpPr>
          <p:cNvPr id="5" name="Group 5"/>
          <p:cNvGrpSpPr>
            <a:grpSpLocks noChangeAspect="1"/>
          </p:cNvGrpSpPr>
          <p:nvPr/>
        </p:nvGrpSpPr>
        <p:grpSpPr>
          <a:xfrm>
            <a:off x="8528984" y="116678"/>
            <a:ext cx="486733" cy="488906"/>
            <a:chOff x="0" y="0"/>
            <a:chExt cx="1297955" cy="1303749"/>
          </a:xfrm>
        </p:grpSpPr>
        <p:sp>
          <p:nvSpPr>
            <p:cNvPr id="6" name="Freeform 6" descr="Viện Trí tuệ nhân tạo | Hanoi"/>
            <p:cNvSpPr/>
            <p:nvPr/>
          </p:nvSpPr>
          <p:spPr>
            <a:xfrm>
              <a:off x="0" y="0"/>
              <a:ext cx="1297940" cy="1303782"/>
            </a:xfrm>
            <a:custGeom>
              <a:avLst/>
              <a:gdLst/>
              <a:ahLst/>
              <a:cxnLst/>
              <a:rect l="l" t="t" r="r" b="b"/>
              <a:pathLst>
                <a:path w="1297940" h="1303782">
                  <a:moveTo>
                    <a:pt x="0" y="0"/>
                  </a:moveTo>
                  <a:lnTo>
                    <a:pt x="1297940" y="0"/>
                  </a:lnTo>
                  <a:lnTo>
                    <a:pt x="1297940" y="1303782"/>
                  </a:lnTo>
                  <a:lnTo>
                    <a:pt x="0" y="1303782"/>
                  </a:lnTo>
                  <a:lnTo>
                    <a:pt x="0" y="0"/>
                  </a:lnTo>
                  <a:close/>
                </a:path>
              </a:pathLst>
            </a:custGeom>
            <a:blipFill>
              <a:blip r:embed="rId4"/>
              <a:stretch>
                <a:fillRect r="-1" b="2"/>
              </a:stretch>
            </a:blipFill>
          </p:spPr>
          <p:txBody>
            <a:bodyPr/>
            <a:lstStyle/>
            <a:p>
              <a:endParaRPr lang="en-US" sz="900"/>
            </a:p>
          </p:txBody>
        </p:sp>
      </p:grpSp>
      <p:sp>
        <p:nvSpPr>
          <p:cNvPr id="12" name="TextBox 22">
            <a:extLst>
              <a:ext uri="{FF2B5EF4-FFF2-40B4-BE49-F238E27FC236}">
                <a16:creationId xmlns:a16="http://schemas.microsoft.com/office/drawing/2014/main" id="{03E4FEEF-B010-65B2-2491-47306E61845F}"/>
              </a:ext>
            </a:extLst>
          </p:cNvPr>
          <p:cNvSpPr txBox="1"/>
          <p:nvPr/>
        </p:nvSpPr>
        <p:spPr>
          <a:xfrm>
            <a:off x="135102" y="4944275"/>
            <a:ext cx="8827200" cy="141064"/>
          </a:xfrm>
          <a:prstGeom prst="rect">
            <a:avLst/>
          </a:prstGeom>
        </p:spPr>
        <p:txBody>
          <a:bodyPr lIns="0" tIns="0" rIns="0" bIns="0" rtlCol="0" anchor="t">
            <a:spAutoFit/>
          </a:bodyPr>
          <a:lstStyle/>
          <a:p>
            <a:pPr>
              <a:lnSpc>
                <a:spcPts val="1136"/>
              </a:lnSpc>
            </a:pPr>
            <a:r>
              <a:rPr lang="en-US" sz="997" b="1" spc="9">
                <a:solidFill>
                  <a:srgbClr val="FFFFFF"/>
                </a:solidFill>
                <a:latin typeface="TT Rounds Condensed Bold"/>
                <a:ea typeface="TT Rounds Condensed Bold"/>
                <a:cs typeface="TT Rounds Condensed Bold"/>
                <a:sym typeface="TT Rounds Condensed Bold"/>
              </a:rPr>
              <a:t>VNU UET - Institute for Artificial Intelligence	1</a:t>
            </a:r>
          </a:p>
        </p:txBody>
      </p:sp>
      <p:grpSp>
        <p:nvGrpSpPr>
          <p:cNvPr id="13" name="Group 23">
            <a:extLst>
              <a:ext uri="{FF2B5EF4-FFF2-40B4-BE49-F238E27FC236}">
                <a16:creationId xmlns:a16="http://schemas.microsoft.com/office/drawing/2014/main" id="{EEAA5AD8-A03C-5B10-934F-8E957DC0078B}"/>
              </a:ext>
            </a:extLst>
          </p:cNvPr>
          <p:cNvGrpSpPr/>
          <p:nvPr/>
        </p:nvGrpSpPr>
        <p:grpSpPr>
          <a:xfrm>
            <a:off x="0" y="4870323"/>
            <a:ext cx="9144000" cy="274320"/>
            <a:chOff x="0" y="0"/>
            <a:chExt cx="24384000" cy="731520"/>
          </a:xfrm>
        </p:grpSpPr>
        <p:sp>
          <p:nvSpPr>
            <p:cNvPr id="14" name="Freeform 24">
              <a:extLst>
                <a:ext uri="{FF2B5EF4-FFF2-40B4-BE49-F238E27FC236}">
                  <a16:creationId xmlns:a16="http://schemas.microsoft.com/office/drawing/2014/main" id="{B8D00DA2-AEEB-4F8C-CD3C-66F3D5421CAC}"/>
                </a:ext>
              </a:extLst>
            </p:cNvPr>
            <p:cNvSpPr/>
            <p:nvPr/>
          </p:nvSpPr>
          <p:spPr>
            <a:xfrm>
              <a:off x="0" y="0"/>
              <a:ext cx="24384000" cy="731520"/>
            </a:xfrm>
            <a:custGeom>
              <a:avLst/>
              <a:gdLst/>
              <a:ahLst/>
              <a:cxnLst/>
              <a:rect l="l" t="t" r="r" b="b"/>
              <a:pathLst>
                <a:path w="24384000" h="731520">
                  <a:moveTo>
                    <a:pt x="24384000" y="0"/>
                  </a:moveTo>
                  <a:lnTo>
                    <a:pt x="0" y="0"/>
                  </a:lnTo>
                  <a:lnTo>
                    <a:pt x="0" y="731520"/>
                  </a:lnTo>
                  <a:lnTo>
                    <a:pt x="24384000" y="731520"/>
                  </a:lnTo>
                  <a:lnTo>
                    <a:pt x="24384000" y="0"/>
                  </a:lnTo>
                  <a:close/>
                </a:path>
              </a:pathLst>
            </a:custGeom>
            <a:solidFill>
              <a:srgbClr val="263F6C"/>
            </a:solidFill>
          </p:spPr>
          <p:txBody>
            <a:bodyPr/>
            <a:lstStyle/>
            <a:p>
              <a:endParaRPr lang="en-US" sz="900"/>
            </a:p>
          </p:txBody>
        </p:sp>
      </p:grpSp>
      <p:sp>
        <p:nvSpPr>
          <p:cNvPr id="15" name="TextBox 25">
            <a:extLst>
              <a:ext uri="{FF2B5EF4-FFF2-40B4-BE49-F238E27FC236}">
                <a16:creationId xmlns:a16="http://schemas.microsoft.com/office/drawing/2014/main" id="{B3E9F4E1-E240-39BE-5713-032CA48E50D5}"/>
              </a:ext>
            </a:extLst>
          </p:cNvPr>
          <p:cNvSpPr txBox="1"/>
          <p:nvPr/>
        </p:nvSpPr>
        <p:spPr>
          <a:xfrm>
            <a:off x="18102" y="4925039"/>
            <a:ext cx="4055898" cy="179536"/>
          </a:xfrm>
          <a:prstGeom prst="rect">
            <a:avLst/>
          </a:prstGeom>
        </p:spPr>
        <p:txBody>
          <a:bodyPr lIns="0" tIns="0" rIns="0" bIns="0" rtlCol="0" anchor="t">
            <a:spAutoFit/>
          </a:bodyPr>
          <a:lstStyle/>
          <a:p>
            <a:pPr>
              <a:lnSpc>
                <a:spcPts val="1439"/>
              </a:lnSpc>
            </a:pPr>
            <a:r>
              <a:rPr lang="en-US" sz="1400" b="1" spc="11" dirty="0">
                <a:solidFill>
                  <a:srgbClr val="FFFFFF"/>
                </a:solidFill>
                <a:latin typeface="Cambria Bold"/>
                <a:ea typeface="Cambria Bold"/>
                <a:cs typeface="Cambria Bold"/>
                <a:sym typeface="Cambria Bold"/>
              </a:rPr>
              <a:t>   VNU UET </a:t>
            </a:r>
          </a:p>
        </p:txBody>
      </p:sp>
      <p:sp>
        <p:nvSpPr>
          <p:cNvPr id="16" name="TextBox 26">
            <a:extLst>
              <a:ext uri="{FF2B5EF4-FFF2-40B4-BE49-F238E27FC236}">
                <a16:creationId xmlns:a16="http://schemas.microsoft.com/office/drawing/2014/main" id="{1A7FB304-75F8-2F02-CE02-34A872BBDAB4}"/>
              </a:ext>
            </a:extLst>
          </p:cNvPr>
          <p:cNvSpPr txBox="1"/>
          <p:nvPr/>
        </p:nvSpPr>
        <p:spPr>
          <a:xfrm>
            <a:off x="8103474" y="4916519"/>
            <a:ext cx="1019446" cy="179536"/>
          </a:xfrm>
          <a:prstGeom prst="rect">
            <a:avLst/>
          </a:prstGeom>
        </p:spPr>
        <p:txBody>
          <a:bodyPr wrap="none" lIns="0" tIns="0" rIns="0" bIns="0" rtlCol="0" anchor="t">
            <a:spAutoFit/>
          </a:bodyPr>
          <a:lstStyle/>
          <a:p>
            <a:pPr>
              <a:lnSpc>
                <a:spcPts val="1439"/>
              </a:lnSpc>
              <a:spcBef>
                <a:spcPct val="0"/>
              </a:spcBef>
            </a:pPr>
            <a:r>
              <a:rPr lang="en-US" sz="1400" b="1" spc="11" dirty="0">
                <a:solidFill>
                  <a:srgbClr val="FFFFFF"/>
                </a:solidFill>
                <a:latin typeface="Cambria Bold"/>
                <a:ea typeface="Cambria Bold"/>
                <a:cs typeface="Cambria Bold"/>
                <a:sym typeface="Cambria Bold"/>
              </a:rPr>
              <a:t>            25/25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1695</TotalTime>
  <Words>2539</Words>
  <Application>Microsoft Office PowerPoint</Application>
  <PresentationFormat>Trình chiếu Trên màn hình (16:9)</PresentationFormat>
  <Paragraphs>405</Paragraphs>
  <Slides>25</Slides>
  <Notes>24</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25</vt:i4>
      </vt:variant>
    </vt:vector>
  </HeadingPairs>
  <TitlesOfParts>
    <vt:vector size="33" baseType="lpstr">
      <vt:lpstr>Arial</vt:lpstr>
      <vt:lpstr>Arial Bold</vt:lpstr>
      <vt:lpstr>Arimo Bold</vt:lpstr>
      <vt:lpstr>Calibri</vt:lpstr>
      <vt:lpstr>Cambria Bold</vt:lpstr>
      <vt:lpstr>Cambria Math</vt:lpstr>
      <vt:lpstr>TT Rounds Condensed Bold</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minh minh</cp:lastModifiedBy>
  <cp:revision>24</cp:revision>
  <dcterms:created xsi:type="dcterms:W3CDTF">2026-05-07T03:46:10Z</dcterms:created>
  <dcterms:modified xsi:type="dcterms:W3CDTF">2026-06-17T19:14:27Z</dcterms:modified>
</cp:coreProperties>
</file>